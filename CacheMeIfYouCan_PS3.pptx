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we turn messy client SOVs into clean, schema-conformant exposure data using four agents, with a human approving every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from the problem statement: 53% baseline mapping accuracy, hours per SOV, 17 target fields, and no standard procedure.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principle drives every design decision that follows: guardrails, state, human gate,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on the top row, down into human review, then right to left to the outputs. The dashed gold line is the re-reasoning loop; the dashed teal line is learning into vector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flags are illustrative. Detection is deterministic so recall is measurable; the LLM adds explanation and prioritisation.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 column is the re-reasoning loop required in demo stage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cattered spreadsheet cells resolving into an ordered gri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1270000"/>
            <a:ext cx="3149600" cy="314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ADROSONIC BUILD · ROUND 1 · PROBLEM STATEMENT 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12800" y="1902520"/>
            <a:ext cx="706374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SOV Intelligence System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385840"/>
            <a:ext cx="7063740" cy="985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collaborating AI agents that turn chaotic Statements of Values into schema-perfect, audit-ready exposure data, with a human approving every change.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12800" y="5222329"/>
            <a:ext cx="2307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12800" y="5473750"/>
            <a:ext cx="2307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12800" y="5831880"/>
            <a:ext cx="2307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Mesra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62313" y="5222329"/>
            <a:ext cx="22071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62313" y="5473750"/>
            <a:ext cx="220711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Dishan Sarkar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62313" y="5831880"/>
            <a:ext cx="22071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BTECH/10614/23 · CSE (AIML)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14740" y="5222329"/>
            <a:ext cx="1818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14740" y="5473750"/>
            <a:ext cx="181861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Akhand Awasthi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414740" y="5831880"/>
            <a:ext cx="1818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BTECH/10595/23 · ECE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client SOV is a new schema, cleaned by hand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5420"/>
            <a:ext cx="5494020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Statement of Values catalogues every insured asset: location, construction, occupancy and insured values. It feeds the exposure models that set maximum financial risk, pricing and underwriting strategy.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994620"/>
            <a:ext cx="54940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 send SOVs with different sheet layouts, headers on arbitrary rows, merged cells, abbreviations and malformed values. Exposure Management teams clean each one manually.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947120"/>
            <a:ext cx="5334000" cy="802580"/>
          </a:xfrm>
          <a:prstGeom prst="roundRect">
            <a:avLst>
              <a:gd name="adj" fmla="val 6330"/>
            </a:avLst>
          </a:prstGeom>
          <a:solidFill>
            <a:srgbClr val="F3E3BF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947120"/>
            <a:ext cx="5334000" cy="802580"/>
          </a:xfrm>
          <a:custGeom>
            <a:avLst/>
            <a:gdLst/>
            <a:ahLst/>
            <a:cxnLst/>
            <a:rect l="l" t="t" r="r" b="b"/>
            <a:pathLst>
              <a:path w="5334000" h="802580">
                <a:moveTo>
                  <a:pt x="50800" y="802580"/>
                </a:moveTo>
                <a:lnTo>
                  <a:pt x="50800" y="80258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802580"/>
                </a:lnTo>
                <a:close/>
              </a:path>
            </a:pathLst>
          </a:custGeom>
          <a:solidFill>
            <a:srgbClr val="8A5A0B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4099520"/>
            <a:ext cx="507542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 SOV data → wrong exposure → mispriced policies → underwriting losses.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56375" y="1778595"/>
            <a:ext cx="2330450" cy="1474391"/>
          </a:xfrm>
          <a:prstGeom prst="roundRect">
            <a:avLst>
              <a:gd name="adj" fmla="val 667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7350" y="1959570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737350" y="2645370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mapping accuracy of today's manual baseline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045575" y="1778595"/>
            <a:ext cx="2330450" cy="1474391"/>
          </a:xfrm>
          <a:prstGeom prst="roundRect">
            <a:avLst>
              <a:gd name="adj" fmla="val 667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26550" y="1959570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226550" y="2645370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analyst time spent cleansing a single SOV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56375" y="3411736"/>
            <a:ext cx="2330450" cy="1474391"/>
          </a:xfrm>
          <a:prstGeom prst="roundRect">
            <a:avLst>
              <a:gd name="adj" fmla="val 667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37350" y="3592711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737350" y="427851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typed fields the exposure models require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45575" y="3411736"/>
            <a:ext cx="2330450" cy="1474391"/>
          </a:xfrm>
          <a:prstGeom prst="roundRect">
            <a:avLst>
              <a:gd name="adj" fmla="val 667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26550" y="3592711"/>
            <a:ext cx="20275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226550" y="4278511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Standardised cleansing procedures in place today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WHY IT IS HARD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obstacles that simple parsing cannot solve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8595"/>
            <a:ext cx="1984970" cy="2200672"/>
          </a:xfrm>
          <a:prstGeom prst="roundRect">
            <a:avLst>
              <a:gd name="adj" fmla="val 4959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198497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391370"/>
            <a:ext cx="1623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chaos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2706291"/>
            <a:ext cx="162302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Varying sheet counts, header rows anywhere, merged cells and no shared naming convention.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959695" y="1778595"/>
            <a:ext cx="1985020" cy="2200672"/>
          </a:xfrm>
          <a:prstGeom prst="roundRect">
            <a:avLst>
              <a:gd name="adj" fmla="val 4958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9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166070" y="1984970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66070" y="2391370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gap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166070" y="2706291"/>
            <a:ext cx="16230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“Bldg Repl Cost New” means Building Value. “Fire Prot.” means Fire Sprinklers (Y/N).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103465" y="1778595"/>
            <a:ext cx="1985020" cy="2200672"/>
          </a:xfrm>
          <a:prstGeom prst="roundRect">
            <a:avLst>
              <a:gd name="adj" fmla="val 4958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13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309840" y="1984970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9840" y="2391370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reliability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309840" y="2706291"/>
            <a:ext cx="162307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can hallucinate mappings or invent values. Every AI suggestion must be verified.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247235" y="1778595"/>
            <a:ext cx="1985020" cy="2200672"/>
          </a:xfrm>
          <a:prstGeom prst="roundRect">
            <a:avLst>
              <a:gd name="adj" fmla="val 4958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17" name="Image 3" descr="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3610" y="1984970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3610" y="2391370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strictness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453610" y="2706291"/>
            <a:ext cx="1623070" cy="878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wrong name, type or missing field corrupts the downstream risk calculation.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9391005" y="1778595"/>
            <a:ext cx="1985020" cy="2200672"/>
          </a:xfrm>
          <a:prstGeom prst="roundRect">
            <a:avLst>
              <a:gd name="adj" fmla="val 4958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21" name="Image 4" descr="Light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597380" y="1984970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97380" y="2391370"/>
            <a:ext cx="16230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9597380" y="2706291"/>
            <a:ext cx="1623070" cy="109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rows across dozens of sheets, processed quickly and without memory failures.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812800" y="4236442"/>
            <a:ext cx="10566400" cy="904180"/>
          </a:xfrm>
          <a:prstGeom prst="roundRect">
            <a:avLst>
              <a:gd name="adj" fmla="val 11237"/>
            </a:avLst>
          </a:prstGeom>
          <a:solidFill>
            <a:srgbClr val="14213D"/>
          </a:solidFill>
          <a:ln/>
        </p:spPr>
      </p:sp>
      <p:sp>
        <p:nvSpPr>
          <p:cNvPr id="25" name="Text 18"/>
          <p:cNvSpPr/>
          <p:nvPr/>
        </p:nvSpPr>
        <p:spPr>
          <a:xfrm>
            <a:off x="1066800" y="4439642"/>
            <a:ext cx="1036015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is an engineered system: AI proposes, deterministic code verifies, and a human approves before anything changes.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9A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80778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DESIGN PRINCIPLE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898898"/>
            <a:ext cx="10883392" cy="2658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proposes.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verifies.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approve.</a:t>
            </a:r>
            <a:endParaRPr lang="en-US" sz="4800" dirty="0"/>
          </a:p>
          <a:p>
            <a:pPr algn="l" indent="0" marL="0">
              <a:lnSpc>
                <a:spcPts val="5184"/>
              </a:lnSpc>
              <a:buNone/>
            </a:pPr>
            <a:r>
              <a:rPr lang="en-US" sz="48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is audited.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4837162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writes a single cell. It reasons, explains, and selects from a whitelist of deterministic, tested transformations that run only after a person says yes.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SOLUTION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upload, four agents, one audit-ready 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7817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EFEDE6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77900" y="19405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7900" y="21919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SOV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77900" y="24433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.xlsx or .csv, multi-sheet, up to 5,000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62350" y="17817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FDFC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21100" y="19405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21100" y="21919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Sheet Discovery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21100" y="24433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Ranks sheets, finds headers, unmerges cells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5550" y="17817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FDFC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64300" y="19405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64300" y="21919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Mapping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64300" y="24433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 headers to the 17 target fields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48750" y="17817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FDFC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07500" y="19405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207500" y="21919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07500" y="24433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Flags anomalies, drafts explained fixes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8750" y="42582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F3E3BF"/>
          </a:solidFill>
          <a:ln w="12700">
            <a:solidFill>
              <a:srgbClr val="8A5A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7500" y="44170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GATE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07500" y="46684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07500" y="49198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Accept, reject with a note, or edit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5550" y="42582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FDFC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64300" y="44170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64300" y="46684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Transformation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64300" y="49198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approved changes only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562350" y="42582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D7ECE9"/>
          </a:solidFill>
          <a:ln w="12700">
            <a:solidFill>
              <a:srgbClr val="1D6F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100" y="44170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721100" y="46684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21100" y="49198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Cleaned_SOV.xlsx + Audit_Log.xlsx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19150" y="4258270"/>
            <a:ext cx="2324100" cy="1320800"/>
          </a:xfrm>
          <a:prstGeom prst="roundRect">
            <a:avLst>
              <a:gd name="adj" fmla="val 5288"/>
            </a:avLst>
          </a:prstGeom>
          <a:solidFill>
            <a:srgbClr val="EFEDE6"/>
          </a:solidFill>
          <a:ln w="12700">
            <a:solidFill>
              <a:srgbClr val="1D6F6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977900" y="4417020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5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77900" y="46684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 Memory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77900" y="4919861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mappings recalled next time</a:t>
            </a:r>
            <a:endParaRPr lang="en-US" sz="1200" dirty="0"/>
          </a:p>
        </p:txBody>
      </p:sp>
      <p:pic>
        <p:nvPicPr>
          <p:cNvPr id="3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98800" y="2391370"/>
            <a:ext cx="508000" cy="101600"/>
          </a:xfrm>
          <a:prstGeom prst="rect">
            <a:avLst/>
          </a:prstGeom>
        </p:spPr>
      </p:pic>
      <p:pic>
        <p:nvPicPr>
          <p:cNvPr id="37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42000" y="2391370"/>
            <a:ext cx="508000" cy="101600"/>
          </a:xfrm>
          <a:prstGeom prst="rect">
            <a:avLst/>
          </a:prstGeom>
        </p:spPr>
      </p:pic>
      <p:pic>
        <p:nvPicPr>
          <p:cNvPr id="38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85200" y="2391370"/>
            <a:ext cx="508000" cy="101600"/>
          </a:xfrm>
          <a:prstGeom prst="rect">
            <a:avLst/>
          </a:prstGeom>
        </p:spPr>
      </p:pic>
      <p:pic>
        <p:nvPicPr>
          <p:cNvPr id="39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652000" y="3058120"/>
            <a:ext cx="101600" cy="1244600"/>
          </a:xfrm>
          <a:prstGeom prst="rect">
            <a:avLst/>
          </a:prstGeom>
        </p:spPr>
      </p:pic>
      <p:pic>
        <p:nvPicPr>
          <p:cNvPr id="40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668000" y="3058120"/>
            <a:ext cx="101600" cy="1244600"/>
          </a:xfrm>
          <a:prstGeom prst="rect">
            <a:avLst/>
          </a:prstGeom>
        </p:spPr>
      </p:pic>
      <p:pic>
        <p:nvPicPr>
          <p:cNvPr id="41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85200" y="4867870"/>
            <a:ext cx="508000" cy="101600"/>
          </a:xfrm>
          <a:prstGeom prst="rect">
            <a:avLst/>
          </a:prstGeom>
        </p:spPr>
      </p:pic>
      <p:pic>
        <p:nvPicPr>
          <p:cNvPr id="42" name="Image 6" descr="connector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842000" y="4867870"/>
            <a:ext cx="508000" cy="101600"/>
          </a:xfrm>
          <a:prstGeom prst="rect">
            <a:avLst/>
          </a:prstGeom>
        </p:spPr>
      </p:pic>
      <p:pic>
        <p:nvPicPr>
          <p:cNvPr id="43" name="Image 7" descr="connector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098800" y="4867870"/>
            <a:ext cx="508000" cy="1016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127498" y="3299420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queue (nothing auto-applies)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5127498" y="3680420"/>
            <a:ext cx="44737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 with a note: Agent 3 re-reasons</a:t>
            </a:r>
            <a:endParaRPr lang="en-US" sz="1200" dirty="0"/>
          </a:p>
        </p:txBody>
      </p:sp>
      <p:sp>
        <p:nvSpPr>
          <p:cNvPr id="46" name="Text 3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47" name="Text 3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layers, each replaceable on its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1651000" cy="416520"/>
          </a:xfrm>
          <a:prstGeom prst="roundRect">
            <a:avLst>
              <a:gd name="adj" fmla="val 15245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939800" y="1877020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93975" y="1778595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98750" y="1857970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review console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10125" y="1778595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4900" y="1857970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agent workflow graph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26275" y="1778595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1050" y="1857970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/ after data preview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42425" y="1778595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47200" y="1857970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Download: SOV + audit log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2800" y="2280841"/>
            <a:ext cx="1651000" cy="416520"/>
          </a:xfrm>
          <a:prstGeom prst="roundRect">
            <a:avLst>
              <a:gd name="adj" fmla="val 15245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939800" y="238244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93975" y="2284016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8750" y="2363391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StateGraph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10125" y="2284016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4900" y="2363391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SOVState (Pydantic)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26275" y="2284016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1050" y="2363391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interrupt() human gate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242425" y="2284016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47200" y="2363391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checkpointer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2800" y="2786261"/>
            <a:ext cx="1651000" cy="591741"/>
          </a:xfrm>
          <a:prstGeom prst="roundRect">
            <a:avLst>
              <a:gd name="adj" fmla="val 10731"/>
            </a:avLst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939800" y="297547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593975" y="2789436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3E3BF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8750" y="2868811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Sheet Discovery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10125" y="2789436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3E3BF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4900" y="2868811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Schema Mapping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026275" y="2789436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3E3BF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1050" y="2868811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Data Quality &amp; Reasoning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242425" y="2789436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3E3BF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47200" y="2868811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· Controlled Transform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2800" y="3466902"/>
            <a:ext cx="1651000" cy="591741"/>
          </a:xfrm>
          <a:prstGeom prst="roundRect">
            <a:avLst>
              <a:gd name="adj" fmla="val 10731"/>
            </a:avLst>
          </a:prstGeom>
          <a:solidFill>
            <a:srgbClr val="14213D"/>
          </a:solidFill>
          <a:ln/>
        </p:spPr>
      </p:sp>
      <p:sp>
        <p:nvSpPr>
          <p:cNvPr id="35" name="Text 33"/>
          <p:cNvSpPr/>
          <p:nvPr/>
        </p:nvSpPr>
        <p:spPr>
          <a:xfrm>
            <a:off x="939800" y="365611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services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93975" y="3470077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98750" y="3549452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fuzzy matcher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810125" y="3470077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4900" y="3549452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bge-small embeddings (CPU)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026275" y="3470077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1050" y="3549452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gateway: Groq / Ollama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242425" y="3470077"/>
            <a:ext cx="2133600" cy="585391"/>
          </a:xfrm>
          <a:prstGeom prst="roundRect">
            <a:avLst>
              <a:gd name="adj" fmla="val 813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347200" y="3549452"/>
            <a:ext cx="198177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+ validation engine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2800" y="4147542"/>
            <a:ext cx="1651000" cy="416520"/>
          </a:xfrm>
          <a:prstGeom prst="roundRect">
            <a:avLst>
              <a:gd name="adj" fmla="val 15245"/>
            </a:avLst>
          </a:prstGeom>
          <a:solidFill>
            <a:srgbClr val="14213D"/>
          </a:solidFill>
          <a:ln/>
        </p:spPr>
      </p:sp>
      <p:sp>
        <p:nvSpPr>
          <p:cNvPr id="45" name="Text 43"/>
          <p:cNvSpPr/>
          <p:nvPr/>
        </p:nvSpPr>
        <p:spPr>
          <a:xfrm>
            <a:off x="939800" y="4249142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93975" y="4150717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98750" y="4230092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 + openpyxl I/O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810125" y="4150717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4900" y="4230092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vector memory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026275" y="4150717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31050" y="4230092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store (JSON / XLSX)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242425" y="4150717"/>
            <a:ext cx="2133600" cy="410170"/>
          </a:xfrm>
          <a:prstGeom prst="roundRect">
            <a:avLst>
              <a:gd name="adj" fmla="val 11611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47200" y="4230092"/>
            <a:ext cx="1981771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session files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2800" y="481806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Cross-cutting:</a:t>
            </a: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.env secrets · structured logging · pytest ground-truth harness · provider-agnostic LLM interface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AGENT 1: SHEET INTELLIGENCE &amp;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real data before touching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787400" y="1775420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6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0800" y="1775420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every sheet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20800" y="2014141"/>
            <a:ext cx="523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volume, column richness, null ratio, numeric density and merged-cell ranges, read with openpyxl.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618581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9" name="Text 7"/>
          <p:cNvSpPr/>
          <p:nvPr/>
        </p:nvSpPr>
        <p:spPr>
          <a:xfrm>
            <a:off x="787400" y="2618581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6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0800" y="2618581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 the header row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0800" y="2857302"/>
            <a:ext cx="523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the first 30 rows on text ratio, fill ratio, hits against a 17-field synonym vocabulary, and typed data below.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461742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/>
          <p:nvPr/>
        </p:nvSpPr>
        <p:spPr>
          <a:xfrm>
            <a:off x="787400" y="3461742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6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0800" y="3461742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the structure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0800" y="3700463"/>
            <a:ext cx="523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Unmerge and forward-fill merged headers, collapse multi-row headers, drop blank and total rows.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304903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787400" y="4304903"/>
            <a:ext cx="406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796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0800" y="4304903"/>
            <a:ext cx="523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 and explain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0800" y="4543623"/>
            <a:ext cx="52324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Primary, Secondary or Reject, with a weighted score and plain-English reasons.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07200" y="1775420"/>
            <a:ext cx="4572000" cy="3042444"/>
          </a:xfrm>
          <a:prstGeom prst="roundRect">
            <a:avLst>
              <a:gd name="adj" fmla="val 3339"/>
            </a:avLst>
          </a:prstGeom>
          <a:solidFill>
            <a:srgbClr val="14213D"/>
          </a:solidFill>
          <a:ln/>
        </p:spPr>
      </p:sp>
      <p:sp>
        <p:nvSpPr>
          <p:cNvPr id="21" name="Text 19"/>
          <p:cNvSpPr/>
          <p:nvPr/>
        </p:nvSpPr>
        <p:spPr>
          <a:xfrm>
            <a:off x="7010400" y="1978620"/>
            <a:ext cx="42905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output (illustrative)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10400" y="2268141"/>
            <a:ext cx="4290568" cy="2371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"sheet_name": "Location Schedule",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"classification": "Primary",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"header_row": 3,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"confidence": 0.94,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"reasoning": [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"11 of 14 headers match vocabulary",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"Typed numeric data below row 3",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"4% nulls, 1,250 contiguous rows"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]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07200" y="4970264"/>
            <a:ext cx="470916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 weights: header match 0.35 · data density 0.25 · type consistency 0.20 · row volume 0.20, tuned on the sample SOVs.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AGENT 2: SCHEMA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five-stage cascade: cheap and certain first, LLM last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542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header stops at the first stage that resolves it confidently, so the LLM only sees the genuinely ambiguous ones.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291011"/>
          <a:ext cx="10553700" cy="2430711"/>
        </p:xfrm>
        <a:graphic>
          <a:graphicData uri="http://schemas.openxmlformats.org/drawingml/2006/table">
            <a:tbl>
              <a:tblPr/>
              <a:tblGrid>
                <a:gridCol w="1688592"/>
                <a:gridCol w="4221480"/>
                <a:gridCol w="2955036"/>
                <a:gridCol w="1688592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·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 human-approved mappings from ChromaDB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“Bldg Repl Cost New” seen before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Human-verified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Exact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Normalised match: case, punctuation, spacing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“Street Address” → Address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Fuzzy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Abbreviation expansion + RapidFuzz ≥ 0.75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“Yr Blt” → Year Built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Fuzzy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Semantic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bge-small embeddings: header vs field definitions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“Fire Prot.” → Fire Sprinklers (Y/N)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Calibrated cosine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576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· LLM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Top-3 candidates + sample values → enum-constrained JSON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“Loc #” → Reference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Blended with evidence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AGENT 2: CONFIDENCE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weighs the header and the data itself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4826000" cy="1838722"/>
          </a:xfrm>
          <a:prstGeom prst="roundRect">
            <a:avLst>
              <a:gd name="adj" fmla="val 5526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78620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268141"/>
            <a:ext cx="45521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 = 0.45 × name_similarity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+ 0.35 × value_profile_fit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+ 0.20 × method_agreement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2984302"/>
            <a:ext cx="45521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hits from human-approved mappings get a boost, capped at 0.99. Initial weights, tuned on the three sample SOVs.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715742"/>
            <a:ext cx="4826000" cy="416520"/>
          </a:xfrm>
          <a:prstGeom prst="roundRect">
            <a:avLst>
              <a:gd name="adj" fmla="val 12196"/>
            </a:avLst>
          </a:prstGeom>
          <a:solidFill>
            <a:srgbClr val="FDFCF9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3715742"/>
            <a:ext cx="4826000" cy="416520"/>
          </a:xfrm>
          <a:custGeom>
            <a:avLst/>
            <a:gdLst/>
            <a:ahLst/>
            <a:cxnLst/>
            <a:rect l="l" t="t" r="r" b="b"/>
            <a:pathLst>
              <a:path w="4826000" h="416520">
                <a:moveTo>
                  <a:pt x="50800" y="416520"/>
                </a:moveTo>
                <a:lnTo>
                  <a:pt x="50800" y="416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416520"/>
                </a:lnTo>
                <a:close/>
              </a:path>
            </a:pathLst>
          </a:custGeom>
          <a:solidFill>
            <a:srgbClr val="1D6F6F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3817342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0.90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24100" y="3817342"/>
            <a:ext cx="16771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Eligible for “Approve All”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4233863"/>
            <a:ext cx="4826000" cy="416520"/>
          </a:xfrm>
          <a:prstGeom prst="roundRect">
            <a:avLst>
              <a:gd name="adj" fmla="val 12196"/>
            </a:avLst>
          </a:prstGeom>
          <a:solidFill>
            <a:srgbClr val="FDF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4233863"/>
            <a:ext cx="4826000" cy="416520"/>
          </a:xfrm>
          <a:custGeom>
            <a:avLst/>
            <a:gdLst/>
            <a:ahLst/>
            <a:cxnLst/>
            <a:rect l="l" t="t" r="r" b="b"/>
            <a:pathLst>
              <a:path w="4826000" h="416520">
                <a:moveTo>
                  <a:pt x="50800" y="416520"/>
                </a:moveTo>
                <a:lnTo>
                  <a:pt x="50800" y="416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416520"/>
                </a:lnTo>
                <a:close/>
              </a:path>
            </a:pathLst>
          </a:custGeom>
          <a:solidFill>
            <a:srgbClr val="8A5A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4335463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– 0.89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324100" y="4335463"/>
            <a:ext cx="158382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item by item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800" y="4751983"/>
            <a:ext cx="4826000" cy="416520"/>
          </a:xfrm>
          <a:prstGeom prst="roundRect">
            <a:avLst>
              <a:gd name="adj" fmla="val 12196"/>
            </a:avLst>
          </a:prstGeom>
          <a:solidFill>
            <a:srgbClr val="FDFC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800" y="4751983"/>
            <a:ext cx="4826000" cy="416520"/>
          </a:xfrm>
          <a:custGeom>
            <a:avLst/>
            <a:gdLst/>
            <a:ahLst/>
            <a:cxnLst/>
            <a:rect l="l" t="t" r="r" b="b"/>
            <a:pathLst>
              <a:path w="4826000" h="416520">
                <a:moveTo>
                  <a:pt x="50800" y="416520"/>
                </a:moveTo>
                <a:lnTo>
                  <a:pt x="50800" y="416520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416520"/>
                </a:lnTo>
                <a:close/>
              </a:path>
            </a:pathLst>
          </a:custGeom>
          <a:solidFill>
            <a:srgbClr val="A63D1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4853583"/>
            <a:ext cx="1257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0.50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24100" y="4853583"/>
            <a:ext cx="198080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human_review_required flag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57900" y="1788120"/>
          <a:ext cx="5321300" cy="2801541"/>
        </p:xfrm>
        <a:graphic>
          <a:graphicData uri="http://schemas.openxmlformats.org/drawingml/2006/table">
            <a:tbl>
              <a:tblPr/>
              <a:tblGrid>
                <a:gridCol w="3086354"/>
                <a:gridCol w="2234946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 in the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Integers 1800–2026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Built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Y / N / Y13 / Y(13R) codes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Sprinklers (Y/N)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5-digit codes, leading zeros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2-letter codes in the state 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57656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currency-like decimals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Building Value, Contents, BI, Other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integers, 1–100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Storeys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045200" y="4716661"/>
            <a:ext cx="54940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Hungarian assignment keeps mappings one-to-one: two columns can never both become Building Value.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AGENT 3: DATA QUALITY &amp; REASONING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find the issues. The LLM explains them.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8120"/>
          <a:ext cx="10553700" cy="2595811"/>
        </p:xfrm>
        <a:graphic>
          <a:graphicData uri="http://schemas.openxmlformats.org/drawingml/2006/table">
            <a:tbl>
              <a:tblPr/>
              <a:tblGrid>
                <a:gridCol w="1899666"/>
                <a:gridCol w="4221480"/>
                <a:gridCol w="2743962"/>
                <a:gridCol w="1688592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 flag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Non-null % for every mapped field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County 62% complete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type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 / integer per data dictionary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Storeys = “two”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Logical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TIV ≥ 0, Year Built ≤ now, Storeys ≥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Year Built = 2031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Currency symbols, mixed dates, state names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“$1,250,000”, “Calif.”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Allowed values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Sprinklers must be Y, N, Y13 or Y(13R)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“Yes”, “13R”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Duplicates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Repeated Reference IDs across rows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 104 appears twice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4637931"/>
            <a:ext cx="10566400" cy="782241"/>
          </a:xfrm>
          <a:prstGeom prst="roundRect">
            <a:avLst>
              <a:gd name="adj" fmla="val 12988"/>
            </a:avLst>
          </a:prstGeom>
          <a:solidFill>
            <a:srgbClr val="14213D"/>
          </a:solidFill>
          <a:ln/>
        </p:spPr>
      </p:sp>
      <p:pic>
        <p:nvPicPr>
          <p:cNvPr id="6" name="Image 0" descr="Lightbulb">    </p:cNvPr>
          <p:cNvPicPr>
            <a:picLocks noChangeAspect="1"/>
          </p:cNvPicPr>
          <p:nvPr/>
        </p:nvPicPr>
        <p:blipFill>
          <a:blip r:embed="rId1"/>
          <a:srcRect l="0" r="0" t="-103" b="-103"/>
          <a:stretch/>
        </p:blipFill>
        <p:spPr>
          <a:xfrm>
            <a:off x="1041400" y="4876651"/>
            <a:ext cx="240804" cy="30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34604" y="4815731"/>
            <a:ext cx="1000747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reasoning runs on grouped patterns, not on every row: one call explains “currency symbols in Building Value (212 rows)”, picks a whitelisted fix and states what it is unsure about.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THE RECOMMENDATION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suggestion is explained, and none apply on their own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2197695"/>
            <a:ext cx="6343650" cy="3335933"/>
          </a:xfrm>
          <a:prstGeom prst="roundRect">
            <a:avLst>
              <a:gd name="adj" fmla="val 2950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47750" y="2429470"/>
            <a:ext cx="1704578" cy="314920"/>
          </a:xfrm>
          <a:prstGeom prst="roundRect">
            <a:avLst>
              <a:gd name="adj" fmla="val 48393"/>
            </a:avLst>
          </a:prstGeom>
          <a:solidFill>
            <a:srgbClr val="D7ECE9"/>
          </a:solidFill>
          <a:ln/>
        </p:spPr>
      </p:sp>
      <p:sp>
        <p:nvSpPr>
          <p:cNvPr id="6" name="Text 4"/>
          <p:cNvSpPr/>
          <p:nvPr/>
        </p:nvSpPr>
        <p:spPr>
          <a:xfrm>
            <a:off x="1174750" y="2480270"/>
            <a:ext cx="150137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28528" y="2429470"/>
            <a:ext cx="1422747" cy="314920"/>
          </a:xfrm>
          <a:prstGeom prst="roundRect">
            <a:avLst>
              <a:gd name="adj" fmla="val 48393"/>
            </a:avLst>
          </a:prstGeom>
          <a:solidFill>
            <a:srgbClr val="F3E3BF"/>
          </a:solidFill>
          <a:ln/>
        </p:spPr>
      </p:sp>
      <p:sp>
        <p:nvSpPr>
          <p:cNvPr id="8" name="Text 6"/>
          <p:cNvSpPr/>
          <p:nvPr/>
        </p:nvSpPr>
        <p:spPr>
          <a:xfrm>
            <a:off x="2955528" y="2480270"/>
            <a:ext cx="12195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0.96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7475" y="2429470"/>
            <a:ext cx="1016298" cy="314920"/>
          </a:xfrm>
          <a:prstGeom prst="roundRect">
            <a:avLst>
              <a:gd name="adj" fmla="val 48393"/>
            </a:avLst>
          </a:prstGeom>
          <a:solidFill>
            <a:srgbClr val="EFEDE6"/>
          </a:solidFill>
          <a:ln/>
        </p:spPr>
      </p:sp>
      <p:sp>
        <p:nvSpPr>
          <p:cNvPr id="10" name="Text 8"/>
          <p:cNvSpPr/>
          <p:nvPr/>
        </p:nvSpPr>
        <p:spPr>
          <a:xfrm>
            <a:off x="4454475" y="2480270"/>
            <a:ext cx="8130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47750" y="2858691"/>
            <a:ext cx="60565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Value has currency symbols in 212 rows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0925" y="3189486"/>
            <a:ext cx="2578100" cy="671761"/>
          </a:xfrm>
          <a:prstGeom prst="roundRect">
            <a:avLst>
              <a:gd name="adj" fmla="val 10871"/>
            </a:avLst>
          </a:prstGeom>
          <a:solidFill>
            <a:srgbClr val="F7F6F2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6500" y="3281561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06500" y="3520281"/>
            <a:ext cx="2334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$1,250,000</a:t>
            </a:r>
            <a:endParaRPr lang="en-US" sz="1400" dirty="0"/>
          </a:p>
        </p:txBody>
      </p:sp>
      <p:pic>
        <p:nvPicPr>
          <p:cNvPr id="15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784600" y="3423741"/>
            <a:ext cx="406400" cy="203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4346575" y="3189486"/>
            <a:ext cx="2578100" cy="671761"/>
          </a:xfrm>
          <a:prstGeom prst="roundRect">
            <a:avLst>
              <a:gd name="adj" fmla="val 10871"/>
            </a:avLst>
          </a:prstGeom>
          <a:solidFill>
            <a:srgbClr val="D7ECE9"/>
          </a:solidFill>
          <a:ln w="6350">
            <a:solidFill>
              <a:srgbClr val="1D6F6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02150" y="3281561"/>
            <a:ext cx="23349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02150" y="3520281"/>
            <a:ext cx="23349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1250000.0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47750" y="3978721"/>
            <a:ext cx="605650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</a:t>
            </a: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data dictionary types Building Value as Float, and “$” and “,” block casting. </a:t>
            </a:r>
            <a:r>
              <a:rPr lang="en-US" sz="1200" b="1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Operation:</a:t>
            </a: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strip_currency → to_float.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47750" y="4519662"/>
            <a:ext cx="60565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Uncertain: 3 rows read “TBD”. These stay blank and are flagged, never guessed.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47750" y="4847282"/>
            <a:ext cx="863798" cy="365720"/>
          </a:xfrm>
          <a:prstGeom prst="roundRect">
            <a:avLst>
              <a:gd name="adj" fmla="val 13890"/>
            </a:avLst>
          </a:prstGeom>
          <a:solidFill>
            <a:srgbClr val="1D6F6F"/>
          </a:solidFill>
          <a:ln/>
        </p:spPr>
      </p:sp>
      <p:sp>
        <p:nvSpPr>
          <p:cNvPr id="22" name="Text 19"/>
          <p:cNvSpPr/>
          <p:nvPr/>
        </p:nvSpPr>
        <p:spPr>
          <a:xfrm>
            <a:off x="1225550" y="4923482"/>
            <a:ext cx="5589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019498" y="4853632"/>
            <a:ext cx="1511449" cy="353020"/>
          </a:xfrm>
          <a:prstGeom prst="roundRect">
            <a:avLst>
              <a:gd name="adj" fmla="val 12591"/>
            </a:avLst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190948" y="4923482"/>
            <a:ext cx="121934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with note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45247" y="4853632"/>
            <a:ext cx="630734" cy="353020"/>
          </a:xfrm>
          <a:prstGeom prst="roundRect">
            <a:avLst>
              <a:gd name="adj" fmla="val 12591"/>
            </a:avLst>
          </a:prstGeom>
          <a:noFill/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16697" y="4923482"/>
            <a:ext cx="338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569200" y="2194520"/>
            <a:ext cx="3924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action types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572375" y="2512616"/>
            <a:ext cx="3803650" cy="674291"/>
          </a:xfrm>
          <a:prstGeom prst="roundRect">
            <a:avLst>
              <a:gd name="adj" fmla="val 10830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27950" y="2617391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column_mapping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727950" y="2868811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Rename a raw header to a target field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7572375" y="3294856"/>
            <a:ext cx="3803650" cy="674291"/>
          </a:xfrm>
          <a:prstGeom prst="roundRect">
            <a:avLst>
              <a:gd name="adj" fmla="val 10830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727950" y="3399631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data_correction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7727950" y="3651052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 malformed value, e.g. “two” → 2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7572375" y="4077097"/>
            <a:ext cx="3803650" cy="674291"/>
          </a:xfrm>
          <a:prstGeom prst="roundRect">
            <a:avLst>
              <a:gd name="adj" fmla="val 10830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727950" y="4181872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standardisation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727950" y="4433292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Normalise currency, states, codes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7572375" y="4859338"/>
            <a:ext cx="3803650" cy="674291"/>
          </a:xfrm>
          <a:prstGeom prst="roundRect">
            <a:avLst>
              <a:gd name="adj" fmla="val 10830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27950" y="4964113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D6F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flag_for_review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7727950" y="5215533"/>
            <a:ext cx="35972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Unsafe to automate: a person decides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TRUST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guardrails against hallucination and silent edits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8595"/>
            <a:ext cx="3414167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19849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22350" y="2274491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never edits data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2350" y="2564011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only selects an operation from a tested whitelist (strip_currency, to_int, state_to_abbrev). Code applies it.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8892" y="1778595"/>
            <a:ext cx="3414167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95267" y="19849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5267" y="2274491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Constrained output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95267" y="2564011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Pydantic-validated JSON: a target must be one of the 17 fields or null. Invalid output is retried, then escalated.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61809" y="1778595"/>
            <a:ext cx="3414216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68184" y="198497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68184" y="2274491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cross-check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68184" y="2564011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mapping that conflicts with the column's value profile drops below 0.50 and goes to a person.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5975" y="3569097"/>
            <a:ext cx="3414167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2350" y="377547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2350" y="406499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invented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2350" y="4354513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Imputation is not an allowed operation. Missing values stay blank in the output, as C-02 requires.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388892" y="3569097"/>
            <a:ext cx="3414167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5267" y="377547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5267" y="406499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human gate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95267" y="4354513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interrupt() pauses before Agent 4. Export stays locked until every flagged item is decided.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61809" y="3569097"/>
            <a:ext cx="3414216" cy="1631752"/>
          </a:xfrm>
          <a:prstGeom prst="roundRect">
            <a:avLst>
              <a:gd name="adj" fmla="val 6032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68184" y="377547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68184" y="406499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audit trail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68184" y="4354513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Source, target, operation, before, after, confidence, approver and timestamp for every applied change.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AGENT STATE &amp; ORCHESTRATION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typed state object, validated at every hand-off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6096000" cy="2829123"/>
          </a:xfrm>
          <a:prstGeom prst="roundRect">
            <a:avLst>
              <a:gd name="adj" fmla="val 3591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78620"/>
            <a:ext cx="58602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state (Pydantic model)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16000" y="2268141"/>
            <a:ext cx="5860288" cy="2158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 SOVState(BaseModel):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file_meta: FileMeta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sheet_manifest: list[SheetScore]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header_row: int                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1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mappings: dict[str, Mapping]   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2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quality_report: QualityReport  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recommendations: list[Recommendation]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3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decisions: list[ReviewDecision]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Reviewer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audit_log: list[AuditEntry]    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Agent 4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stage: Stage                         </a:t>
            </a:r>
            <a:r>
              <a:rPr lang="en-US" sz="1200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# Orchestrator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4731544"/>
            <a:ext cx="627888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agent writes only its own keys; everything else is read-only to it. State is checkpointed, so a review session can pause and resume.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21550" y="1781770"/>
            <a:ext cx="4051300" cy="378420"/>
          </a:xfrm>
          <a:prstGeom prst="roundRect">
            <a:avLst>
              <a:gd name="adj" fmla="val 15102"/>
            </a:avLst>
          </a:prstGeom>
          <a:solidFill>
            <a:srgbClr val="FDFCF9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54900" y="1864320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discover_sheets</a:t>
            </a:r>
            <a:endParaRPr lang="en-US" sz="1200" dirty="0"/>
          </a:p>
        </p:txBody>
      </p:sp>
      <p:pic>
        <p:nvPicPr>
          <p:cNvPr id="10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71000" y="2230041"/>
            <a:ext cx="152400" cy="1778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321550" y="2477691"/>
            <a:ext cx="4051300" cy="378420"/>
          </a:xfrm>
          <a:prstGeom prst="roundRect">
            <a:avLst>
              <a:gd name="adj" fmla="val 15102"/>
            </a:avLst>
          </a:prstGeom>
          <a:solidFill>
            <a:srgbClr val="FDFCF9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54900" y="256024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map_schema</a:t>
            </a:r>
            <a:endParaRPr lang="en-US" sz="1200" dirty="0"/>
          </a:p>
        </p:txBody>
      </p:sp>
      <p:pic>
        <p:nvPicPr>
          <p:cNvPr id="13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71000" y="2925961"/>
            <a:ext cx="152400" cy="1778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321550" y="3173611"/>
            <a:ext cx="4051300" cy="378420"/>
          </a:xfrm>
          <a:prstGeom prst="roundRect">
            <a:avLst>
              <a:gd name="adj" fmla="val 15102"/>
            </a:avLst>
          </a:prstGeom>
          <a:solidFill>
            <a:srgbClr val="FDFCF9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54900" y="325616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assess_quality</a:t>
            </a:r>
            <a:endParaRPr lang="en-US" sz="1200" dirty="0"/>
          </a:p>
        </p:txBody>
      </p:sp>
      <p:pic>
        <p:nvPicPr>
          <p:cNvPr id="16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71000" y="3621881"/>
            <a:ext cx="152400" cy="1778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7321550" y="3869531"/>
            <a:ext cx="4051300" cy="378420"/>
          </a:xfrm>
          <a:prstGeom prst="roundRect">
            <a:avLst>
              <a:gd name="adj" fmla="val 15102"/>
            </a:avLst>
          </a:prstGeom>
          <a:solidFill>
            <a:srgbClr val="F3E3BF"/>
          </a:solidFill>
          <a:ln w="12700">
            <a:solidFill>
              <a:srgbClr val="8A5A0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454900" y="3952081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human_review · interrupt()</a:t>
            </a:r>
            <a:endParaRPr lang="en-US" sz="1200" dirty="0"/>
          </a:p>
        </p:txBody>
      </p:sp>
      <p:pic>
        <p:nvPicPr>
          <p:cNvPr id="19" name="Image 3" descr="arrow-down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271000" y="4317802"/>
            <a:ext cx="152400" cy="1778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321550" y="4565452"/>
            <a:ext cx="4051300" cy="378420"/>
          </a:xfrm>
          <a:prstGeom prst="roundRect">
            <a:avLst>
              <a:gd name="adj" fmla="val 15102"/>
            </a:avLst>
          </a:prstGeom>
          <a:solidFill>
            <a:srgbClr val="D7ECE9"/>
          </a:solidFill>
          <a:ln w="12700">
            <a:solidFill>
              <a:srgbClr val="1D6F6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7454900" y="4648002"/>
            <a:ext cx="38981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transform_export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315200" y="5013722"/>
            <a:ext cx="41859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Gates validate each node's keys before the next runs (NFR-7). A rejection routes back to assess_quality.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HUMAN-IN-THE-LOOP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review console a non-technical underwriter can use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5334000" cy="716211"/>
          </a:xfrm>
          <a:prstGeom prst="roundRect">
            <a:avLst>
              <a:gd name="adj" fmla="val 7093"/>
            </a:avLst>
          </a:prstGeom>
          <a:solidFill>
            <a:srgbClr val="FDFCF9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775420"/>
            <a:ext cx="5334000" cy="716211"/>
          </a:xfrm>
          <a:custGeom>
            <a:avLst/>
            <a:gdLst/>
            <a:ahLst/>
            <a:cxnLst/>
            <a:rect l="l" t="t" r="r" b="b"/>
            <a:pathLst>
              <a:path w="5334000" h="716211">
                <a:moveTo>
                  <a:pt x="50800" y="716211"/>
                </a:moveTo>
                <a:lnTo>
                  <a:pt x="50800" y="7162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716211"/>
                </a:lnTo>
                <a:close/>
              </a:path>
            </a:pathLst>
          </a:custGeom>
          <a:solidFill>
            <a:srgbClr val="1D6F6F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889720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0.90 · Approve All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16000" y="216401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High-confidence items cleared in one click, and still logged.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2618631"/>
            <a:ext cx="5334000" cy="716211"/>
          </a:xfrm>
          <a:prstGeom prst="roundRect">
            <a:avLst>
              <a:gd name="adj" fmla="val 7093"/>
            </a:avLst>
          </a:prstGeom>
          <a:solidFill>
            <a:srgbClr val="FDFCF9"/>
          </a:solidFill>
          <a:ln/>
        </p:spPr>
      </p:sp>
      <p:sp>
        <p:nvSpPr>
          <p:cNvPr id="9" name="Shape 7"/>
          <p:cNvSpPr/>
          <p:nvPr/>
        </p:nvSpPr>
        <p:spPr>
          <a:xfrm>
            <a:off x="812800" y="2618631"/>
            <a:ext cx="5334000" cy="716211"/>
          </a:xfrm>
          <a:custGeom>
            <a:avLst/>
            <a:gdLst/>
            <a:ahLst/>
            <a:cxnLst/>
            <a:rect l="l" t="t" r="r" b="b"/>
            <a:pathLst>
              <a:path w="5334000" h="716211">
                <a:moveTo>
                  <a:pt x="50800" y="716211"/>
                </a:moveTo>
                <a:lnTo>
                  <a:pt x="50800" y="7162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716211"/>
                </a:lnTo>
                <a:close/>
              </a:path>
            </a:pathLst>
          </a:custGeom>
          <a:solidFill>
            <a:srgbClr val="8A5A0B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273293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0.50 – 0.89 · Review each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6000" y="3007221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Rationale, evidence and before/after shown side by side.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461841"/>
            <a:ext cx="5334000" cy="716211"/>
          </a:xfrm>
          <a:prstGeom prst="roundRect">
            <a:avLst>
              <a:gd name="adj" fmla="val 7093"/>
            </a:avLst>
          </a:prstGeom>
          <a:solidFill>
            <a:srgbClr val="FDFCF9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3461841"/>
            <a:ext cx="5334000" cy="716211"/>
          </a:xfrm>
          <a:custGeom>
            <a:avLst/>
            <a:gdLst/>
            <a:ahLst/>
            <a:cxnLst/>
            <a:rect l="l" t="t" r="r" b="b"/>
            <a:pathLst>
              <a:path w="5334000" h="716211">
                <a:moveTo>
                  <a:pt x="50800" y="716211"/>
                </a:moveTo>
                <a:lnTo>
                  <a:pt x="50800" y="716211"/>
                </a:lnTo>
                <a:arcTo hR="50800" wR="50800" stAng="5400000" swAng="5400000"/>
                <a:lnTo>
                  <a:pt x="0" y="50800"/>
                </a:lnTo>
                <a:arcTo hR="50800" wR="50800" stAng="10800000" swAng="5400000"/>
                <a:lnTo>
                  <a:pt x="50800" y="0"/>
                </a:lnTo>
                <a:lnTo>
                  <a:pt x="50800" y="716211"/>
                </a:lnTo>
                <a:close/>
              </a:path>
            </a:pathLst>
          </a:custGeom>
          <a:solidFill>
            <a:srgbClr val="A63D1E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3576141"/>
            <a:ext cx="512775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0.50 · Must review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16000" y="3850432"/>
            <a:ext cx="5127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stays locked until every flagged item is decided.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305052"/>
            <a:ext cx="54940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in the console: mapping dropdown for edits, live agent workflow graph, and an SOV quality score at intake.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59550" y="1781770"/>
            <a:ext cx="4813300" cy="642541"/>
          </a:xfrm>
          <a:prstGeom prst="roundRect">
            <a:avLst>
              <a:gd name="adj" fmla="val 10871"/>
            </a:avLst>
          </a:prstGeom>
          <a:solidFill>
            <a:srgbClr val="F3E3BF"/>
          </a:solidFill>
          <a:ln w="12700">
            <a:solidFill>
              <a:srgbClr val="8A5A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18300" y="1889720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Reviewer rejects with a note, e.g. “Fire Prot. is a protection class here”</a:t>
            </a:r>
            <a:endParaRPr lang="en-US" sz="1200" dirty="0"/>
          </a:p>
        </p:txBody>
      </p:sp>
      <p:pic>
        <p:nvPicPr>
          <p:cNvPr id="19" name="Image 0" descr="arrow-dow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90000" y="2506861"/>
            <a:ext cx="152400" cy="2286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6559550" y="2818011"/>
            <a:ext cx="4813300" cy="642541"/>
          </a:xfrm>
          <a:prstGeom prst="roundRect">
            <a:avLst>
              <a:gd name="adj" fmla="val 10871"/>
            </a:avLst>
          </a:prstGeom>
          <a:solidFill>
            <a:srgbClr val="FDFCF9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718300" y="2925961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Agent 3 re-reasons with the note, the original evidence and value profile</a:t>
            </a:r>
            <a:endParaRPr lang="en-US" sz="1200" dirty="0"/>
          </a:p>
        </p:txBody>
      </p:sp>
      <p:pic>
        <p:nvPicPr>
          <p:cNvPr id="22" name="Image 1" descr="arrow-down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90000" y="3543102"/>
            <a:ext cx="152400" cy="2286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559550" y="3854252"/>
            <a:ext cx="4813300" cy="642541"/>
          </a:xfrm>
          <a:prstGeom prst="roundRect">
            <a:avLst>
              <a:gd name="adj" fmla="val 10871"/>
            </a:avLst>
          </a:prstGeom>
          <a:solidFill>
            <a:srgbClr val="FDFCF9"/>
          </a:solidFill>
          <a:ln w="12700">
            <a:solidFill>
              <a:srgbClr val="D8D3C6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718300" y="3962202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revised recommendation returns to the queue with a new rationale</a:t>
            </a:r>
            <a:endParaRPr lang="en-US" sz="1200" dirty="0"/>
          </a:p>
        </p:txBody>
      </p:sp>
      <p:pic>
        <p:nvPicPr>
          <p:cNvPr id="25" name="Image 2" descr="arrow-down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90000" y="4579342"/>
            <a:ext cx="152400" cy="2286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559550" y="4890492"/>
            <a:ext cx="4813300" cy="642541"/>
          </a:xfrm>
          <a:prstGeom prst="roundRect">
            <a:avLst>
              <a:gd name="adj" fmla="val 10871"/>
            </a:avLst>
          </a:prstGeom>
          <a:solidFill>
            <a:srgbClr val="D7ECE9"/>
          </a:solidFill>
          <a:ln w="12700">
            <a:solidFill>
              <a:srgbClr val="1D6F6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718300" y="4998442"/>
            <a:ext cx="463067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r>
              <a:rPr lang="en-US" sz="1200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Rejected again? Escalated as flag_for_review for a manual decision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· AGENT 4: CONTROLLED TRANSFORMATION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Schema-perfect output, with a receipt for every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775420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Cleaned_SOV.xlsx contract</a:t>
            </a:r>
            <a:endParaRPr lang="en-US" sz="1400" dirty="0"/>
          </a:p>
        </p:txBody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2108101"/>
            <a:ext cx="203200" cy="20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103041"/>
            <a:ext cx="32225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Cleaned_SOV.xlsx, sheet “Cleaned_SOV”</a:t>
            </a:r>
            <a:endParaRPr lang="en-US" sz="1200" dirty="0"/>
          </a:p>
        </p:txBody>
      </p:sp>
      <p:pic>
        <p:nvPicPr>
          <p:cNvPr id="7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435721"/>
            <a:ext cx="2032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7600" y="2430661"/>
            <a:ext cx="34898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Exactly 17 columns, dictionary order, exact names</a:t>
            </a:r>
            <a:endParaRPr lang="en-US" sz="1200" dirty="0"/>
          </a:p>
        </p:txBody>
      </p:sp>
      <p:pic>
        <p:nvPicPr>
          <p:cNvPr id="9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763341"/>
            <a:ext cx="203200" cy="20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17600" y="2758281"/>
            <a:ext cx="23643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in row 1, data from row 2</a:t>
            </a:r>
            <a:endParaRPr lang="en-US" sz="1200" dirty="0"/>
          </a:p>
        </p:txBody>
      </p:sp>
      <p:pic>
        <p:nvPicPr>
          <p:cNvPr id="11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090962"/>
            <a:ext cx="203200" cy="2032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17600" y="3085902"/>
            <a:ext cx="2608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merged cells, no colour formatting</a:t>
            </a:r>
            <a:endParaRPr lang="en-US" sz="1200" dirty="0"/>
          </a:p>
        </p:txBody>
      </p:sp>
      <p:pic>
        <p:nvPicPr>
          <p:cNvPr id="13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418582"/>
            <a:ext cx="203200" cy="203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17600" y="3413522"/>
            <a:ext cx="31322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cast to Float, Integer or String per field</a:t>
            </a:r>
            <a:endParaRPr lang="en-US" sz="1200" dirty="0"/>
          </a:p>
        </p:txBody>
      </p:sp>
      <p:pic>
        <p:nvPicPr>
          <p:cNvPr id="15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3746202"/>
            <a:ext cx="203200" cy="2032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117600" y="3741142"/>
            <a:ext cx="298364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values stay blank, never 0 or “N/A”</a:t>
            </a:r>
            <a:endParaRPr lang="en-US" sz="1200" dirty="0"/>
          </a:p>
        </p:txBody>
      </p:sp>
      <p:pic>
        <p:nvPicPr>
          <p:cNvPr id="17" name="Image 6" descr="CheckCircl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800" y="4073823"/>
            <a:ext cx="203200" cy="2032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117600" y="4068763"/>
            <a:ext cx="36037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Pandera schema check must pass before download</a:t>
            </a:r>
            <a:endParaRPr lang="en-US" sz="1200" dirty="0"/>
          </a:p>
        </p:txBody>
      </p:sp>
      <p:pic>
        <p:nvPicPr>
          <p:cNvPr id="19" name="Image 7" descr="CheckCircle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12800" y="4401443"/>
            <a:ext cx="203200" cy="2032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17600" y="4396383"/>
            <a:ext cx="34027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Audit_Log.xlsx and a processing summary report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6553200" y="1775420"/>
            <a:ext cx="4826000" cy="2834283"/>
          </a:xfrm>
          <a:prstGeom prst="roundRect">
            <a:avLst>
              <a:gd name="adj" fmla="val 3585"/>
            </a:avLst>
          </a:prstGeom>
          <a:solidFill>
            <a:srgbClr val="14213D"/>
          </a:solidFill>
          <a:ln/>
        </p:spPr>
      </p:sp>
      <p:sp>
        <p:nvSpPr>
          <p:cNvPr id="22" name="Text 12"/>
          <p:cNvSpPr/>
          <p:nvPr/>
        </p:nvSpPr>
        <p:spPr>
          <a:xfrm>
            <a:off x="6756400" y="1978620"/>
            <a:ext cx="45521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Audit_Log entry (illustrative)</a:t>
            </a:r>
            <a:endParaRPr lang="en-US" sz="1200" dirty="0"/>
          </a:p>
        </p:txBody>
      </p:sp>
      <p:sp>
        <p:nvSpPr>
          <p:cNvPr id="23" name="Text 13"/>
          <p:cNvSpPr/>
          <p:nvPr/>
        </p:nvSpPr>
        <p:spPr>
          <a:xfrm>
            <a:off x="6756400" y="2268141"/>
            <a:ext cx="4552188" cy="2158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"source_column": "Bldg Repl Cost",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"target_column": "Building Value",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"transformation": "strip_currency → to_float",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"before_value": "$1,250,000",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"after_value": 1250000.0,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"confidence": 0.96,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"approved_by": "reviewer.01",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"timestamp": "2026-10-03T14:22:08Z"</a:t>
            </a:r>
            <a:endParaRPr lang="en-US" sz="1200" dirty="0"/>
          </a:p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8EC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2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· TECH STACK</a:t>
            </a:r>
            <a:endParaRPr lang="en-US" sz="1196" dirty="0"/>
          </a:p>
        </p:txBody>
      </p:sp>
      <p:sp>
        <p:nvSpPr>
          <p:cNvPr id="3" name="Text 1"/>
          <p:cNvSpPr/>
          <p:nvPr/>
        </p:nvSpPr>
        <p:spPr>
          <a:xfrm>
            <a:off x="812800" y="1096070"/>
            <a:ext cx="10883392" cy="432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free-tier tools that run on a laptop</a:t>
            </a:r>
            <a:endParaRPr lang="en-US" sz="29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69517"/>
          <a:ext cx="10553700" cy="3611562"/>
        </p:xfrm>
        <a:graphic>
          <a:graphicData uri="http://schemas.openxmlformats.org/drawingml/2006/table">
            <a:tbl>
              <a:tblPr/>
              <a:tblGrid>
                <a:gridCol w="1899666"/>
                <a:gridCol w="4327017"/>
                <a:gridCol w="4327017"/>
              </a:tblGrid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Layer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Choice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 UI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+ live LangGraph workflow view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approval console within 24 hours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Orchestration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· interrupt() · SQLite checkpoints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Native human-in-the-loop pause/resume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Groq Llama 3.3 70B · Ollama local fallback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 structured output; on-prem option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Embeddings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sentence-transformers, bge-small-en-v1.5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CPU-friendly semantic header matching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Fuzzy match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RapidFuzz (token-set ratio)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Fast, proven string similarity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Excel I/O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pandas + openpyxl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Merged cells, multi-sheet, exact output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Validation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Pydantic v2 + Pandera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Typed agent contracts, DataFrame schema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memory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ChromaDB (embedded, persistent)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Learns from approved mappings locally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61156"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&amp; ops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pytest harness · python-dotenv · Git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01"/>
                        </a:lnSpc>
                        <a:buNone/>
                      </a:pPr>
                      <a:r>
                        <a:rPr lang="en-US" sz="1144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Measured accuracy; no hard-coded keys</a:t>
                      </a:r>
                      <a:endParaRPr lang="en-US" sz="1144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634286"/>
            <a:ext cx="10883392" cy="233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LLM calls go through one provider-agnostic interface: GPT-4o is a one-line configuration swap.</a:t>
            </a:r>
            <a:endParaRPr lang="en-US" sz="1196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· DATA 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sensitive commercial insurance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8595"/>
            <a:ext cx="3414167" cy="1672431"/>
          </a:xfrm>
          <a:prstGeom prst="roundRect">
            <a:avLst>
              <a:gd name="adj" fmla="val 5885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5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1984970"/>
            <a:ext cx="254000" cy="25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2350" y="23151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2350" y="2604691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headers, field definitions and up to 5 masked sample values reach the LLM, never full rows or addresses.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8892" y="1778595"/>
            <a:ext cx="3414167" cy="1672431"/>
          </a:xfrm>
          <a:prstGeom prst="roundRect">
            <a:avLst>
              <a:gd name="adj" fmla="val 5885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9" name="Image 1" descr="Hom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5267" y="1984970"/>
            <a:ext cx="254000" cy="254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5267" y="2315170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Local-first option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595267" y="2604691"/>
            <a:ext cx="3091459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mode keeps inference on-premise. Embeddings and fuzzy matching always run locally.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61809" y="1778595"/>
            <a:ext cx="3414216" cy="1672431"/>
          </a:xfrm>
          <a:prstGeom prst="roundRect">
            <a:avLst>
              <a:gd name="adj" fmla="val 5885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13" name="Image 2" descr="Key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68184" y="1984970"/>
            <a:ext cx="254000" cy="254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68184" y="2315170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hygiene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8168184" y="2604691"/>
            <a:ext cx="309151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come only from environment variables (.env, git-ignored). None are hard-coded.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15975" y="3609777"/>
            <a:ext cx="3414167" cy="1459111"/>
          </a:xfrm>
          <a:prstGeom prst="roundRect">
            <a:avLst>
              <a:gd name="adj" fmla="val 674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17" name="Image 3" descr="Clo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2350" y="3816152"/>
            <a:ext cx="254000" cy="2540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2350" y="414635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processing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022350" y="4435872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live in a per-session temp store and are purged after export.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388892" y="3609777"/>
            <a:ext cx="3414167" cy="1459111"/>
          </a:xfrm>
          <a:prstGeom prst="roundRect">
            <a:avLst>
              <a:gd name="adj" fmla="val 674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21" name="Image 4" descr="Lo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5267" y="3816152"/>
            <a:ext cx="254000" cy="2540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95267" y="4146352"/>
            <a:ext cx="309145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has no data access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595267" y="4435872"/>
            <a:ext cx="309145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LLM has no tools and no file access. It sees prompts; code owns the data.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961809" y="3609777"/>
            <a:ext cx="3414216" cy="1459111"/>
          </a:xfrm>
          <a:prstGeom prst="roundRect">
            <a:avLst>
              <a:gd name="adj" fmla="val 6746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pic>
        <p:nvPicPr>
          <p:cNvPr id="25" name="Image 5" descr="Verified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68184" y="3816152"/>
            <a:ext cx="254000" cy="2540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68184" y="4146352"/>
            <a:ext cx="30915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decisions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8168184" y="4435872"/>
            <a:ext cx="30915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suggestion and human decision is logged with reviewer and timestamp.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· HOW WE MEASURE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Engineered against the judging rubric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8120"/>
          <a:ext cx="10553700" cy="2966641"/>
        </p:xfrm>
        <a:graphic>
          <a:graphicData uri="http://schemas.openxmlformats.org/drawingml/2006/table">
            <a:tbl>
              <a:tblPr/>
              <a:tblGrid>
                <a:gridCol w="2532888"/>
                <a:gridCol w="1055370"/>
                <a:gridCol w="2743962"/>
                <a:gridCol w="4221480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Criterion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we hit 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 accuracy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74% (baseline 53%)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5-stage cascade + value profiling +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quality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90% anomaly recall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Deterministic rule engine, per-row flags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Transformation correctness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 95% rows match truth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Whitelisted ops + Pandera validation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clearly distinct agents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nodes, typed state, gates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rationale coverage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Rationale is a required schema field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 UX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Usable by non-experts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 bands, before/after preview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Innovation &amp; bonus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4 bonus items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Memory, live graph, re-reasoning, score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00876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one: we hand-label the 3 sample SOVs as ground truth, and an automated harness scores every commit against these targets.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·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changes for the insurer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775420"/>
            <a:ext cx="3420517" cy="1518841"/>
          </a:xfrm>
          <a:prstGeom prst="roundRect">
            <a:avLst>
              <a:gd name="adj" fmla="val 668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978620"/>
            <a:ext cx="31045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60 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016000" y="2664420"/>
            <a:ext cx="3104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pipeline plus a brief human review, instead of hours per SOV (PS target)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5717" y="1775420"/>
            <a:ext cx="3420566" cy="1518841"/>
          </a:xfrm>
          <a:prstGeom prst="roundRect">
            <a:avLst>
              <a:gd name="adj" fmla="val 6689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/>
          <p:nvPr/>
        </p:nvSpPr>
        <p:spPr>
          <a:xfrm>
            <a:off x="4588917" y="1978620"/>
            <a:ext cx="31045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74%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88917" y="2664420"/>
            <a:ext cx="310459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mapping accuracy target, up from a 53% manual baseline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958683" y="1775420"/>
            <a:ext cx="3420517" cy="1518841"/>
          </a:xfrm>
          <a:prstGeom prst="roundRect">
            <a:avLst>
              <a:gd name="adj" fmla="val 6689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161883" y="1978620"/>
            <a:ext cx="310454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161883" y="2664420"/>
            <a:ext cx="31045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applied transformations recorded in the audit log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12800" y="35482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3837781"/>
            <a:ext cx="3418484" cy="909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cleansing become minutes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exposure data, correctly priced policies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submissions without adding headcount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36517" y="3548261"/>
            <a:ext cx="34185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6517" y="3837781"/>
            <a:ext cx="3418535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multi-agent intake pattern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make LLM output safe to act on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approval improves the vector memory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60283" y="3548261"/>
            <a:ext cx="34184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D6F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60283" y="3837781"/>
            <a:ext cx="34184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move from data cleanup to judgment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results across analysts and teams</a:t>
            </a:r>
            <a:endParaRPr lang="en-US" sz="1200" dirty="0"/>
          </a:p>
          <a:p>
            <a:pPr algn="l" marL="182880" indent="-142494">
              <a:lnSpc>
                <a:spcPts val="1740"/>
              </a:lnSpc>
              <a:buSzPct val="100000"/>
              <a:buChar char="•"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Audit-ready trail builds trust in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· HOW WE STAND 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like an LLM, safe like a rules engine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8120"/>
          <a:ext cx="10553700" cy="2966641"/>
        </p:xfrm>
        <a:graphic>
          <a:graphicData uri="http://schemas.openxmlformats.org/drawingml/2006/table">
            <a:tbl>
              <a:tblPr/>
              <a:tblGrid>
                <a:gridCol w="2743962"/>
                <a:gridCol w="1794129"/>
                <a:gridCol w="1794129"/>
                <a:gridCol w="1794129"/>
                <a:gridCol w="2427351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cleansing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 / template ETL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Generic LLM chat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system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never-seen formats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Slowly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Breaks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every decision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Rarely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Always + uncertainty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invents data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guarantee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Enforced by design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approval before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Implicit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Enforced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audit trail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change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Gets better with use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 analyst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rule edits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Vector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Minutes per SOV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No,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Only if template fits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D6F6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FED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· EXECUTION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hours, two parallel tracks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8120"/>
          <a:ext cx="10553700" cy="2595811"/>
        </p:xfrm>
        <a:graphic>
          <a:graphicData uri="http://schemas.openxmlformats.org/drawingml/2006/table">
            <a:tbl>
              <a:tblPr/>
              <a:tblGrid>
                <a:gridCol w="1055370"/>
                <a:gridCol w="3377184"/>
                <a:gridCol w="3377184"/>
                <a:gridCol w="2743962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Dishan Sarkar · Lead (CSE-AIML)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Akhand Awasthi (ECE)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0–2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 skeleton + SOVState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Hand-label 3 SOVs as ground truth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Scoring harness live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2–7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2 cascade + embeddings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1 sheet + header detection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Mapping runs on all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7–12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3 LLM reasoning + guardrails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3 rules + quality report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Targets checked on harness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12–17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Re-reasoning loop + vector memory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review console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End-to-end HITL flow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17–21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4 transform + audit log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workflow graph + previews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Cleaned_SOV.xlsx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21–24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Tuning against the harness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 handling, README, demo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rehearsed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37931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minimum bar (4 agents, end to end on all 3 samples) comes first; bonus features are layered on only once it works.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· RISKS &amp; MITIGATIONS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could go wrong, and what we do about it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8120"/>
          <a:ext cx="10553700" cy="2224980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rate limits or outage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Cascade resolves easy headers first; Ollama fallback; cached responses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Unusual workbook breaks parsing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Defensive per-sheet parsing and readable errors, never a crash (NFR-4)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Confident but wrong mapping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Value-profile cross-check, &lt; 0.50 escalation, and the human gate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Scope creep in 24 hours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Core pipeline first; bonus features only after end-to-end works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37083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421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Sensitive data exposure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5C4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Masked samples only, local mode, keys in environment variables only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76200" marB="76200" anchor="t">
                    <a:lnL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C9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8A5A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· DEMO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02320"/>
            <a:ext cx="10883392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30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seven stages judges will see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5975" y="17785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1550" y="18579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946150" y="18579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28750" y="19037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&amp; sheet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48150" y="19037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Multi-sheet sample: Primary sheet and header row identified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5975" y="23246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1550" y="24040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1" name="Text 9"/>
          <p:cNvSpPr/>
          <p:nvPr/>
        </p:nvSpPr>
        <p:spPr>
          <a:xfrm>
            <a:off x="946150" y="24040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28750" y="24498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mapping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48150" y="24498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with confidences; semantic hit “Bldg Repl Cost” → Building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28707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1550" y="29501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16" name="Text 14"/>
          <p:cNvSpPr/>
          <p:nvPr/>
        </p:nvSpPr>
        <p:spPr>
          <a:xfrm>
            <a:off x="946150" y="29501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28750" y="29959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report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48150" y="29959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Per-field completeness and typed anomaly flags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975" y="34168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550" y="34962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1" name="Text 19"/>
          <p:cNvSpPr/>
          <p:nvPr/>
        </p:nvSpPr>
        <p:spPr>
          <a:xfrm>
            <a:off x="946150" y="34962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428750" y="35420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48150" y="35420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Mapping, correction and standardisation, each with rationale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9629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1550" y="40423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26" name="Text 24"/>
          <p:cNvSpPr/>
          <p:nvPr/>
        </p:nvSpPr>
        <p:spPr>
          <a:xfrm>
            <a:off x="946150" y="40423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428750" y="40881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approval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48150" y="40881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one, reject one with a note, watch Agent 3 re-reason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5975" y="45090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1550" y="45884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1" name="Text 29"/>
          <p:cNvSpPr/>
          <p:nvPr/>
        </p:nvSpPr>
        <p:spPr>
          <a:xfrm>
            <a:off x="946150" y="45884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428750" y="46342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 + audit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248150" y="46342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changes applied, audit entries shown alongside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15975" y="5055195"/>
            <a:ext cx="10560050" cy="463550"/>
          </a:xfrm>
          <a:prstGeom prst="roundRect">
            <a:avLst>
              <a:gd name="adj" fmla="val 15753"/>
            </a:avLst>
          </a:prstGeom>
          <a:solidFill>
            <a:srgbClr val="FDFCF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1550" y="513457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D9A441"/>
          </a:solidFill>
          <a:ln/>
        </p:spPr>
      </p:sp>
      <p:sp>
        <p:nvSpPr>
          <p:cNvPr id="36" name="Text 34"/>
          <p:cNvSpPr/>
          <p:nvPr/>
        </p:nvSpPr>
        <p:spPr>
          <a:xfrm>
            <a:off x="946150" y="5134570"/>
            <a:ext cx="35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428750" y="5180310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48150" y="5180310"/>
            <a:ext cx="71814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Cleaned_SOV.xlsx: 17 headers, correct types, no merged cells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 · PS3 · Agentic SOV Intelligence System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566400" y="6238280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A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062559"/>
            <a:ext cx="915670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Messy SOV in. Trusted exposure data out.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545880"/>
            <a:ext cx="9156700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SOV Intelligence System: AI proposes, code verifies, humans approve, and everything is audited.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5222329"/>
            <a:ext cx="2307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5473750"/>
            <a:ext cx="2307110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Me If You Can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5831880"/>
            <a:ext cx="23071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 Mesra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62313" y="5222329"/>
            <a:ext cx="22071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LEAD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62313" y="5473750"/>
            <a:ext cx="220711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Dishan Sarkar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62313" y="5831880"/>
            <a:ext cx="22071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BTECH/10614/23 · CSE (AIML)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14740" y="5222329"/>
            <a:ext cx="1818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14740" y="5473750"/>
            <a:ext cx="1818617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7F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Akhand Awasthi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14740" y="5831880"/>
            <a:ext cx="1818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BTECH/10595/23 · ECE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CacheMeIfYouCan_PS3</dc:title>
  <dc:subject>PptxGenJS Presentation</dc:subject>
  <dc:creator>PptxGenJS</dc:creator>
  <cp:lastModifiedBy>PptxGenJS</cp:lastModifiedBy>
  <cp:revision>1</cp:revision>
  <dcterms:created xsi:type="dcterms:W3CDTF">2026-09-27T10:20:55Z</dcterms:created>
  <dcterms:modified xsi:type="dcterms:W3CDTF">2026-09-27T10:20:55Z</dcterms:modified>
</cp:coreProperties>
</file>