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8669a28-b334-d53a-6a72-4dc28e5ce1f6}">
          <p14:sldIdLst>
            <p14:sldId id="256"/>
            <p14:sldId id="257"/>
            <p14:sldId id="258"/>
          </p14:sldIdLst>
        </p14:section>
        <p14:section name="Solution" id="{fc68ba5f-80dc-e110-9c8b-9cb4fc79953a}">
          <p14:sldIdLst>
            <p14:sldId id="259"/>
          </p14:sldIdLst>
        </p14:section>
        <p14:section name="Design (HLD / LLD)" id="{509e8d32-0506-bd90-a9ae-c836453c7b3e}">
          <p14:sldIdLst>
            <p14:sldId id="260"/>
            <p14:sldId id="261"/>
            <p14:sldId id="262"/>
            <p14:sldId id="263"/>
            <p14:sldId id="264"/>
            <p14:sldId id="265"/>
          </p14:sldIdLst>
        </p14:section>
        <p14:section name="Results" id="{0af4b317-fcc6-c4af-a282-deb11ebbb31e}">
          <p14:sldIdLst>
            <p14:sldId id="266"/>
            <p14:sldId id="267"/>
            <p14:sldId id="268"/>
            <p14:sldId id="269"/>
          </p14:sldIdLst>
        </p14:section>
        <p14:section name="Live demo" id="{8aace659-f469-299a-c8db-64cc739f4629}">
          <p14:sldIdLst>
            <p14:sldId id="270"/>
          </p14:sldIdLst>
        </p14:section>
        <p14:section name="Close" id="{5fb07f7e-6486-cb08-f822-dad0328ec7e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Scored metrics: target vs achieved (benchmark)</a:t>
            </a:r>
          </a:p>
        </c:rich>
      </c:tx>
      <c:layout/>
      <c:overlay val="0"/>
    </c:title>
    <c:autoTitleDeleted val="0"/>
    <c:plotArea>
      <c:layout/>
      <c:barChart>
        <c:barDir val="bar"/>
        <c:grouping val="clustered"/>
        <c:varyColors val="0"/>
        <c:ser>
          <c:idx val="0"/>
          <c:order val="0"/>
          <c:tx>
            <c:strRef>
              <c:f>Sheet1!$B$1</c:f>
              <c:strCache>
                <c:ptCount val="1"/>
                <c:pt idx="0">
                  <c:v>Target</c:v>
                </c:pt>
              </c:strCache>
            </c:strRef>
          </c:tx>
          <c:spPr>
            <a:solidFill>
              <a:srgbClr val="C9D3E0"/>
            </a:solidFill>
            <a:effectLst/>
          </c:spPr>
          <c:invertIfNegative val="0"/>
          <c:dLbls>
            <c:numFmt formatCode="0&quot;%&quot;" sourceLinked="0"/>
            <c:txPr>
              <a:bodyPr/>
              <a:lstStyle/>
              <a:p>
                <a:pPr>
                  <a:defRPr b="0" i="0" strike="noStrike" sz="1100" u="none">
                    <a:solidFill>
                      <a:srgbClr val="3D4757"/>
                    </a:solidFill>
                    <a:latin typeface="+mn-lt"/>
                  </a:defRPr>
                </a:pPr>
              </a:p>
            </c:txPr>
            <c:showLegendKey val="0"/>
            <c:showVal val="1"/>
            <c:showCatName val="0"/>
            <c:showSerName val="0"/>
            <c:showPercent val="0"/>
            <c:showBubbleSize val="0"/>
            <c:showLeaderLines val="0"/>
          </c:dLbls>
          <c:cat>
            <c:multiLvlStrRef>
              <c:f>Sheet1!$A$2:$A$5</c:f>
              <c:multiLvlStrCache>
                <c:ptCount val="4"/>
                <c:lvl>
                  <c:pt idx="0">
                    <c:v>Mapping accuracy (20%)</c:v>
                  </c:pt>
                  <c:pt idx="1">
                    <c:v>Anomaly recall (15%)</c:v>
                  </c:pt>
                  <c:pt idx="2">
                    <c:v>Transformation correctness (15%)</c:v>
                  </c:pt>
                  <c:pt idx="3">
                    <c:v>Explainability (15%)</c:v>
                  </c:pt>
                </c:lvl>
              </c:multiLvlStrCache>
            </c:multiLvlStrRef>
          </c:cat>
          <c:val>
            <c:numRef>
              <c:f>Sheet1!$B$2:$B$5</c:f>
              <c:numCache>
                <c:formatCode>General</c:formatCode>
                <c:ptCount val="4"/>
                <c:pt idx="0">
                  <c:v>74</c:v>
                </c:pt>
                <c:pt idx="1">
                  <c:v>90</c:v>
                </c:pt>
                <c:pt idx="2">
                  <c:v>95</c:v>
                </c:pt>
                <c:pt idx="3">
                  <c:v>100</c:v>
                </c:pt>
              </c:numCache>
            </c:numRef>
          </c:val>
        </c:ser>
        <c:ser>
          <c:idx val="1"/>
          <c:order val="1"/>
          <c:tx>
            <c:strRef>
              <c:f>Sheet1!$C$1</c:f>
              <c:strCache>
                <c:ptCount val="1"/>
                <c:pt idx="0">
                  <c:v>Achieved</c:v>
                </c:pt>
              </c:strCache>
            </c:strRef>
          </c:tx>
          <c:spPr>
            <a:solidFill>
              <a:srgbClr val="1D6F6F"/>
            </a:solidFill>
            <a:effectLst/>
          </c:spPr>
          <c:invertIfNegative val="0"/>
          <c:dLbls>
            <c:numFmt formatCode="0&quot;%&quot;" sourceLinked="0"/>
            <c:txPr>
              <a:bodyPr/>
              <a:lstStyle/>
              <a:p>
                <a:pPr>
                  <a:defRPr b="0" i="0" strike="noStrike" sz="1100" u="none">
                    <a:solidFill>
                      <a:srgbClr val="3D4757"/>
                    </a:solidFill>
                    <a:latin typeface="+mn-lt"/>
                  </a:defRPr>
                </a:pPr>
              </a:p>
            </c:txPr>
            <c:showLegendKey val="0"/>
            <c:showVal val="1"/>
            <c:showCatName val="0"/>
            <c:showSerName val="0"/>
            <c:showPercent val="0"/>
            <c:showBubbleSize val="0"/>
            <c:showLeaderLines val="0"/>
          </c:dLbls>
          <c:cat>
            <c:multiLvlStrRef>
              <c:f>Sheet1!$A$2:$A$5</c:f>
              <c:multiLvlStrCache>
                <c:ptCount val="4"/>
                <c:lvl>
                  <c:pt idx="0">
                    <c:v>Mapping accuracy (20%)</c:v>
                  </c:pt>
                  <c:pt idx="1">
                    <c:v>Anomaly recall (15%)</c:v>
                  </c:pt>
                  <c:pt idx="2">
                    <c:v>Transformation correctness (15%)</c:v>
                  </c:pt>
                  <c:pt idx="3">
                    <c:v>Explainability (15%)</c:v>
                  </c:pt>
                </c:lvl>
              </c:multiLvlStrCache>
            </c:multiLvlStrRef>
          </c:cat>
          <c:val>
            <c:numRef>
              <c:f>Sheet1!$C$2:$C$5</c:f>
              <c:numCache>
                <c:formatCode>General</c:formatCode>
                <c:ptCount val="4"/>
                <c:pt idx="0">
                  <c:v>100</c:v>
                </c:pt>
                <c:pt idx="1">
                  <c:v>100</c:v>
                </c:pt>
                <c:pt idx="2">
                  <c:v>100</c:v>
                </c:pt>
                <c:pt idx="3">
                  <c:v>100</c:v>
                </c:pt>
              </c:numCache>
            </c:numRef>
          </c:val>
        </c:ser>
        <c:dLbls>
          <c:numFmt formatCode="0&quot;%&quot;" sourceLinked="0"/>
          <c:txPr>
            <a:bodyPr/>
            <a:lstStyle/>
            <a:p>
              <a:pPr>
                <a:defRPr b="0" i="0" strike="noStrike" sz="1100" u="none">
                  <a:solidFill>
                    <a:srgbClr val="3D475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757"/>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7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messy client SOVs in, a clean 17-field file and an audit log out, four agents in between, and a human approves every change. This is the final round: everything shown is running code, verified on the four provided broker SOVs.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from the problem statement: 53% baseline mapping accuracy, hours per SOV, 17 target fields, no standard procedure. The right-hand list is what we found in the four real files: these are the traps the system has to handle without inventing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principle drives every design decision that follows. The three numbers on the right are measured, not projected: zero silent changes by construction, 55 of 55 hand-labelled columns on the provided files, 15 to 22 seconds per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left to right, down into human review, then right to left to the outputs. Gold dashed line: a rejection with feedback sends the item back to Agent 3, which re-reasons or escalates. Teal dashed line: approved mappings are remembered for the next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can be swapped without touching the others: the UI could become an API, ChromaDB could become pgvector, the LLM provider is one environment variable and can be switched off entirely. The four agents in the gold row are separate LangGraph nodes sharing one typed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fill-down rule matters: copying a footnote merged across the sheet once turned the text 'updates in 2018 to 2019' into a ZIP of 20182 and a Year Built of 2018. Now only vertical merges, like one Loc # spanning several building rows, are 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column stops at the first stage that resolves it confidently, so the LLM only sees the genuinely ambiguous ones. Two design choices made the difference on real data: the value-profile veto, and assigning targets in confidence order instead of left to right, which had let 'Account Name' steal Reference from 'Location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deterministic; the LLM adds explanation. Stage 5 of the demo shows the right-hand flow live: rejecting TOTAL → Number of Buildings with a note makes the agent look for another target; none fits, so it escalates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actual LangGraph. It runs Agents 1 to 3, pauses before human_review with the state checkpointed in SQLite, and the UI resumes it into transform_export. Rejection notes route through re_reason. Right: Agent 4 never evaluates anything dynamic; an operation outside the whitelist is refused and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cards are from the live app on SOV_Q8B3. Left: the sprinkler standardisation, Yes becomes Y, 95% confidence, with Approve, Reject and Change Target. Right: the TOTAL mapping after the reviewer rejected it with a note; the agent looked for another target, found none that fits the values, and escalated it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section 9, page 13. Each guarantee is structural, not a convention: for C-01, transformation code is simply not reachable until review is complete; for C-03, the output is rebuilt from the 17-field template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measurable criteria from page 14, measured with benchmark.py on the labelled samples. Right: the three judged criteria and what we offer for each. On the four real files we hand-labelled 55 columns; all are mapped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are measured from a cold start with the LLM off, including loading the embedding model; once warm a run takes about 5 to 10 seconds. The two validation flags are deliberate: the system reports what the source actually contains rather than inventing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benefits are the ones the brief lists on page 16; each line on the right is backed by something in the running system. The 7 of 30 figure is from SOV_Q8B3: 23 recommendations are high-confidence and can be approved in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on SOV_K4T9 covers stages 1 and 2 in about two minutes, including the semantic match. Part B on SOV_Q8B3 covers stages 1 and 3 to 7. Every value on this slide was recorded in a rehearsal; DEMO.md has the click path and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evaluators to note data handling. The short version: it can run entirely offline, it can run with no LLM at all, and when an LLM is used it never sees real figures or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name the limits than have evaluators find them. None of them affects the seven constraints; they are the roadmap from hackathon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 and the evidence. Point evaluators to DEMO.md to rerun everything they just saw,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FEDE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rtlCol="0"/>
          <a:lstStyle>
            <a:lvl1pPr indent="0" marL="0">
              <a:buNone/>
              <a:defRPr lang="en-US" sz="1200" b="1" spc="200" kern="0" dirty="0">
                <a:solidFill>
                  <a:srgbClr val="8A5A0B"/>
                </a:solidFill>
              </a:defRPr>
            </a:lvl1pPr>
          </a:lstStyle>
          <a:p>
            <a:pPr indent="0" marL="0">
              <a:buNone/>
            </a:pP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rtlCol="0"/>
          <a:lstStyle>
            <a:lvl1pPr algn="l" indent="0" marL="0">
              <a:buNone/>
              <a:defRPr lang="en-US" sz="3000" b="1" dirty="0">
                <a:solidFill>
                  <a:srgbClr val="14213D"/>
                </a:solidFill>
              </a:defRPr>
            </a:lvl1pPr>
          </a:lstStyle>
          <a:p>
            <a:pPr algn="l" indent="0" marL="0">
              <a:buNone/>
            </a:pPr>
            <a:endParaRPr lang="en-US" sz="30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5A6472"/>
                </a:solidFill>
              </a:rPr>
              <a:t>Cache Me If You Can · PS3 · Agentic SOV Intelligence System</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rtlCol="0"/>
          <a:lstStyle>
            <a:lvl1pPr indent="0" marL="0">
              <a:buNone/>
              <a:defRPr lang="en-US" sz="1200" b="1" spc="200" kern="0" dirty="0">
                <a:solidFill>
                  <a:srgbClr val="D9A441"/>
                </a:solidFill>
              </a:defRPr>
            </a:lvl1pPr>
          </a:lstStyle>
          <a:p>
            <a:pPr indent="0" marL="0">
              <a:buNone/>
            </a:pPr>
            <a:endParaRPr lang="en-US" sz="1200" dirty="0"/>
          </a:p>
        </p:txBody>
      </p:sp>
      <p:sp>
        <p:nvSpPr>
          <p:cNvPr id="3" name="Text 0"/>
          <p:cNvSpPr/>
          <p:nvPr>
            <p:ph idx="101" type="title" hasCustomPrompt="1"/>
          </p:nvPr>
        </p:nvSpPr>
        <p:spPr>
          <a:xfrm>
            <a:off x="548640" y="1371600"/>
            <a:ext cx="6949440" cy="192024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D9A441"/>
                </a:solidFill>
              </a:rPr>
              <a:t>ADROSONIC BUILD · FINAL PRESENTATION · PROBLEM STATEMENT 3</a:t>
            </a:r>
            <a:endParaRPr lang="en-US" sz="1200" dirty="0"/>
          </a:p>
        </p:txBody>
      </p:sp>
      <p:sp>
        <p:nvSpPr>
          <p:cNvPr id="3" name="Text 0"/>
          <p:cNvSpPr/>
          <p:nvPr>
            <p:ph idx="101" type="title" hasCustomPrompt="1"/>
          </p:nvPr>
        </p:nvSpPr>
        <p:spPr>
          <a:xfrm>
            <a:off x="548640" y="1371600"/>
            <a:ext cx="6949440" cy="1920240"/>
          </a:xfrm>
          <a:prstGeom prst="rect">
            <a:avLst/>
          </a:prstGeom>
          <a:noFill/>
          <a:ln/>
        </p:spPr>
        <p:txBody>
          <a:bodyPr wrap="square" lIns="0" tIns="0" rIns="0" bIns="0" rtlCol="0" anchor="t"/>
          <a:lstStyle/>
          <a:p>
            <a:pPr algn="l" indent="0" marL="0">
              <a:buNone/>
            </a:pPr>
            <a:r>
              <a:rPr lang="en-US" sz="4400" b="1" dirty="0">
                <a:solidFill>
                  <a:srgbClr val="FFFFFF"/>
                </a:solidFill>
              </a:rPr>
              <a:t>Agentic SOV Intelligence System</a:t>
            </a:r>
            <a:endParaRPr lang="en-US" sz="4400" dirty="0"/>
          </a:p>
        </p:txBody>
      </p:sp>
      <p:sp>
        <p:nvSpPr>
          <p:cNvPr id="4" name="Text 2"/>
          <p:cNvSpPr txBox="1"/>
          <p:nvPr/>
        </p:nvSpPr>
        <p:spPr>
          <a:xfrm>
            <a:off x="548640" y="3429000"/>
            <a:ext cx="6766560" cy="1005840"/>
          </a:xfrm>
          <a:prstGeom prst="rect">
            <a:avLst/>
          </a:prstGeom>
          <a:noFill/>
          <a:ln/>
        </p:spPr>
        <p:txBody>
          <a:bodyPr wrap="square" lIns="0" tIns="0" rIns="0" bIns="0" rtlCol="0" anchor="t"/>
          <a:lstStyle/>
          <a:p>
            <a:pPr indent="0" marL="0">
              <a:buNone/>
            </a:pPr>
            <a:r>
              <a:rPr lang="en-US" sz="1800" dirty="0">
                <a:solidFill>
                  <a:srgbClr val="C9D3E0"/>
                </a:solidFill>
              </a:rPr>
              <a:t>Four collaborating agents turn chaotic Statements of Values into a schema-perfect Cleaned_SOV.xlsx with a full audit log, and a human approves every change.</a:t>
            </a:r>
            <a:endParaRPr lang="en-US" sz="1800" dirty="0"/>
          </a:p>
        </p:txBody>
      </p:sp>
      <p:sp>
        <p:nvSpPr>
          <p:cNvPr id="5" name="Text 3"/>
          <p:cNvSpPr txBox="1"/>
          <p:nvPr/>
        </p:nvSpPr>
        <p:spPr>
          <a:xfrm>
            <a:off x="548640" y="5074920"/>
            <a:ext cx="2560320" cy="256032"/>
          </a:xfrm>
          <a:prstGeom prst="rect">
            <a:avLst/>
          </a:prstGeom>
          <a:noFill/>
          <a:ln/>
        </p:spPr>
        <p:txBody>
          <a:bodyPr wrap="square" lIns="0" tIns="0" rIns="0" bIns="0" rtlCol="0" anchor="t"/>
          <a:lstStyle/>
          <a:p>
            <a:pPr indent="0" marL="0">
              <a:buNone/>
            </a:pPr>
            <a:r>
              <a:rPr lang="en-US" sz="1100" b="1" spc="100" kern="0" dirty="0">
                <a:solidFill>
                  <a:srgbClr val="D9A441"/>
                </a:solidFill>
              </a:rPr>
              <a:t>TEAM</a:t>
            </a:r>
            <a:endParaRPr lang="en-US" sz="1100" dirty="0"/>
          </a:p>
        </p:txBody>
      </p:sp>
      <p:sp>
        <p:nvSpPr>
          <p:cNvPr id="6" name="Text 4"/>
          <p:cNvSpPr txBox="1"/>
          <p:nvPr/>
        </p:nvSpPr>
        <p:spPr>
          <a:xfrm>
            <a:off x="548640" y="5349240"/>
            <a:ext cx="2651760" cy="347472"/>
          </a:xfrm>
          <a:prstGeom prst="rect">
            <a:avLst/>
          </a:prstGeom>
          <a:noFill/>
          <a:ln/>
        </p:spPr>
        <p:txBody>
          <a:bodyPr wrap="square" lIns="0" tIns="0" rIns="0" bIns="0" rtlCol="0" anchor="t"/>
          <a:lstStyle/>
          <a:p>
            <a:pPr indent="0" marL="0">
              <a:buNone/>
            </a:pPr>
            <a:r>
              <a:rPr lang="en-US" sz="1700" b="1" dirty="0">
                <a:solidFill>
                  <a:srgbClr val="FFFFFF"/>
                </a:solidFill>
              </a:rPr>
              <a:t>Cache Me If You Can</a:t>
            </a:r>
            <a:endParaRPr lang="en-US" sz="1700" dirty="0"/>
          </a:p>
        </p:txBody>
      </p:sp>
      <p:sp>
        <p:nvSpPr>
          <p:cNvPr id="7" name="Text 5"/>
          <p:cNvSpPr txBox="1"/>
          <p:nvPr/>
        </p:nvSpPr>
        <p:spPr>
          <a:xfrm>
            <a:off x="548640" y="5715000"/>
            <a:ext cx="2651760" cy="274320"/>
          </a:xfrm>
          <a:prstGeom prst="rect">
            <a:avLst/>
          </a:prstGeom>
          <a:noFill/>
          <a:ln/>
        </p:spPr>
        <p:txBody>
          <a:bodyPr wrap="square" lIns="0" tIns="0" rIns="0" bIns="0" rtlCol="0" anchor="t"/>
          <a:lstStyle/>
          <a:p>
            <a:pPr indent="0" marL="0">
              <a:buNone/>
            </a:pPr>
            <a:r>
              <a:rPr lang="en-US" sz="1100" dirty="0">
                <a:solidFill>
                  <a:srgbClr val="C9D3E0"/>
                </a:solidFill>
              </a:rPr>
              <a:t>BIT Mesra</a:t>
            </a:r>
            <a:endParaRPr lang="en-US" sz="1100" dirty="0"/>
          </a:p>
        </p:txBody>
      </p:sp>
      <p:sp>
        <p:nvSpPr>
          <p:cNvPr id="8" name="Text 6"/>
          <p:cNvSpPr txBox="1"/>
          <p:nvPr/>
        </p:nvSpPr>
        <p:spPr>
          <a:xfrm>
            <a:off x="3291840" y="5074920"/>
            <a:ext cx="2560320" cy="256032"/>
          </a:xfrm>
          <a:prstGeom prst="rect">
            <a:avLst/>
          </a:prstGeom>
          <a:noFill/>
          <a:ln/>
        </p:spPr>
        <p:txBody>
          <a:bodyPr wrap="square" lIns="0" tIns="0" rIns="0" bIns="0" rtlCol="0" anchor="t"/>
          <a:lstStyle/>
          <a:p>
            <a:pPr indent="0" marL="0">
              <a:buNone/>
            </a:pPr>
            <a:r>
              <a:rPr lang="en-US" sz="1100" b="1" spc="100" kern="0" dirty="0">
                <a:solidFill>
                  <a:srgbClr val="D9A441"/>
                </a:solidFill>
              </a:rPr>
              <a:t>TEAM LEAD</a:t>
            </a:r>
            <a:endParaRPr lang="en-US" sz="1100" dirty="0"/>
          </a:p>
        </p:txBody>
      </p:sp>
      <p:sp>
        <p:nvSpPr>
          <p:cNvPr id="9" name="Text 7"/>
          <p:cNvSpPr txBox="1"/>
          <p:nvPr/>
        </p:nvSpPr>
        <p:spPr>
          <a:xfrm>
            <a:off x="3291840" y="5349240"/>
            <a:ext cx="2651760" cy="347472"/>
          </a:xfrm>
          <a:prstGeom prst="rect">
            <a:avLst/>
          </a:prstGeom>
          <a:noFill/>
          <a:ln/>
        </p:spPr>
        <p:txBody>
          <a:bodyPr wrap="square" lIns="0" tIns="0" rIns="0" bIns="0" rtlCol="0" anchor="t"/>
          <a:lstStyle/>
          <a:p>
            <a:pPr indent="0" marL="0">
              <a:buNone/>
            </a:pPr>
            <a:r>
              <a:rPr lang="en-US" sz="1700" b="1" dirty="0">
                <a:solidFill>
                  <a:srgbClr val="FFFFFF"/>
                </a:solidFill>
              </a:rPr>
              <a:t>Dishan Sarkar</a:t>
            </a:r>
            <a:endParaRPr lang="en-US" sz="1700" dirty="0"/>
          </a:p>
        </p:txBody>
      </p:sp>
      <p:sp>
        <p:nvSpPr>
          <p:cNvPr id="10" name="Text 8"/>
          <p:cNvSpPr txBox="1"/>
          <p:nvPr/>
        </p:nvSpPr>
        <p:spPr>
          <a:xfrm>
            <a:off x="3291840" y="5715000"/>
            <a:ext cx="2651760" cy="274320"/>
          </a:xfrm>
          <a:prstGeom prst="rect">
            <a:avLst/>
          </a:prstGeom>
          <a:noFill/>
          <a:ln/>
        </p:spPr>
        <p:txBody>
          <a:bodyPr wrap="square" lIns="0" tIns="0" rIns="0" bIns="0" rtlCol="0" anchor="t"/>
          <a:lstStyle/>
          <a:p>
            <a:pPr indent="0" marL="0">
              <a:buNone/>
            </a:pPr>
            <a:r>
              <a:rPr lang="en-US" sz="1100" dirty="0">
                <a:solidFill>
                  <a:srgbClr val="C9D3E0"/>
                </a:solidFill>
              </a:rPr>
              <a:t>BTECH/10614/23 · CSE (AIML)</a:t>
            </a:r>
            <a:endParaRPr lang="en-US" sz="1100" dirty="0"/>
          </a:p>
        </p:txBody>
      </p:sp>
      <p:sp>
        <p:nvSpPr>
          <p:cNvPr id="11" name="Text 9"/>
          <p:cNvSpPr txBox="1"/>
          <p:nvPr/>
        </p:nvSpPr>
        <p:spPr>
          <a:xfrm>
            <a:off x="6035040" y="5074920"/>
            <a:ext cx="2560320" cy="256032"/>
          </a:xfrm>
          <a:prstGeom prst="rect">
            <a:avLst/>
          </a:prstGeom>
          <a:noFill/>
          <a:ln/>
        </p:spPr>
        <p:txBody>
          <a:bodyPr wrap="square" lIns="0" tIns="0" rIns="0" bIns="0" rtlCol="0" anchor="t"/>
          <a:lstStyle/>
          <a:p>
            <a:pPr indent="0" marL="0">
              <a:buNone/>
            </a:pPr>
            <a:r>
              <a:rPr lang="en-US" sz="1100" b="1" spc="100" kern="0" dirty="0">
                <a:solidFill>
                  <a:srgbClr val="D9A441"/>
                </a:solidFill>
              </a:rPr>
              <a:t>MEMBER</a:t>
            </a:r>
            <a:endParaRPr lang="en-US" sz="1100" dirty="0"/>
          </a:p>
        </p:txBody>
      </p:sp>
      <p:sp>
        <p:nvSpPr>
          <p:cNvPr id="12" name="Text 10"/>
          <p:cNvSpPr txBox="1"/>
          <p:nvPr/>
        </p:nvSpPr>
        <p:spPr>
          <a:xfrm>
            <a:off x="6035040" y="5349240"/>
            <a:ext cx="2651760" cy="347472"/>
          </a:xfrm>
          <a:prstGeom prst="rect">
            <a:avLst/>
          </a:prstGeom>
          <a:noFill/>
          <a:ln/>
        </p:spPr>
        <p:txBody>
          <a:bodyPr wrap="square" lIns="0" tIns="0" rIns="0" bIns="0" rtlCol="0" anchor="t"/>
          <a:lstStyle/>
          <a:p>
            <a:pPr indent="0" marL="0">
              <a:buNone/>
            </a:pPr>
            <a:r>
              <a:rPr lang="en-US" sz="1700" b="1" dirty="0">
                <a:solidFill>
                  <a:srgbClr val="FFFFFF"/>
                </a:solidFill>
              </a:rPr>
              <a:t>Akhand Awasthi</a:t>
            </a:r>
            <a:endParaRPr lang="en-US" sz="1700" dirty="0"/>
          </a:p>
        </p:txBody>
      </p:sp>
      <p:sp>
        <p:nvSpPr>
          <p:cNvPr id="13" name="Text 11"/>
          <p:cNvSpPr txBox="1"/>
          <p:nvPr/>
        </p:nvSpPr>
        <p:spPr>
          <a:xfrm>
            <a:off x="6035040" y="5715000"/>
            <a:ext cx="2651760" cy="274320"/>
          </a:xfrm>
          <a:prstGeom prst="rect">
            <a:avLst/>
          </a:prstGeom>
          <a:noFill/>
          <a:ln/>
        </p:spPr>
        <p:txBody>
          <a:bodyPr wrap="square" lIns="0" tIns="0" rIns="0" bIns="0" rtlCol="0" anchor="t"/>
          <a:lstStyle/>
          <a:p>
            <a:pPr indent="0" marL="0">
              <a:buNone/>
            </a:pPr>
            <a:r>
              <a:rPr lang="en-US" sz="1100" dirty="0">
                <a:solidFill>
                  <a:srgbClr val="C9D3E0"/>
                </a:solidFill>
              </a:rPr>
              <a:t>BTECH/10595/23 · ECE</a:t>
            </a:r>
            <a:endParaRPr lang="en-US" sz="1100" dirty="0"/>
          </a:p>
        </p:txBody>
      </p:sp>
      <p:sp>
        <p:nvSpPr>
          <p:cNvPr id="14" name="motif-0-0"/>
          <p:cNvSpPr/>
          <p:nvPr/>
        </p:nvSpPr>
        <p:spPr>
          <a:xfrm rot="-480000">
            <a:off x="8311896" y="1362456"/>
            <a:ext cx="457200" cy="457200"/>
          </a:xfrm>
          <a:prstGeom prst="roundRect">
            <a:avLst>
              <a:gd name="adj" fmla="val 10000"/>
            </a:avLst>
          </a:prstGeom>
          <a:solidFill>
            <a:srgbClr val="3B5A8C"/>
          </a:solidFill>
          <a:ln w="12700">
            <a:solidFill>
              <a:srgbClr val="3B5A8C"/>
            </a:solidFill>
            <a:prstDash val="solid"/>
          </a:ln>
        </p:spPr>
      </p:sp>
      <p:sp>
        <p:nvSpPr>
          <p:cNvPr id="15" name="motif-0-1"/>
          <p:cNvSpPr/>
          <p:nvPr/>
        </p:nvSpPr>
        <p:spPr>
          <a:xfrm rot="360000">
            <a:off x="8961120" y="1362456"/>
            <a:ext cx="457200" cy="457200"/>
          </a:xfrm>
          <a:prstGeom prst="roundRect">
            <a:avLst>
              <a:gd name="adj" fmla="val 10000"/>
            </a:avLst>
          </a:prstGeom>
          <a:solidFill>
            <a:srgbClr val="2E4A7A"/>
          </a:solidFill>
          <a:ln w="12700">
            <a:solidFill>
              <a:srgbClr val="2E4A7A"/>
            </a:solidFill>
            <a:prstDash val="solid"/>
          </a:ln>
        </p:spPr>
      </p:sp>
      <p:sp>
        <p:nvSpPr>
          <p:cNvPr id="16" name="motif-0-2"/>
          <p:cNvSpPr/>
          <p:nvPr/>
        </p:nvSpPr>
        <p:spPr>
          <a:xfrm rot="-240000">
            <a:off x="9473184" y="1362456"/>
            <a:ext cx="457200" cy="457200"/>
          </a:xfrm>
          <a:prstGeom prst="roundRect">
            <a:avLst>
              <a:gd name="adj" fmla="val 10000"/>
            </a:avLst>
          </a:prstGeom>
          <a:solidFill>
            <a:srgbClr val="34507F"/>
          </a:solidFill>
          <a:ln w="12700">
            <a:solidFill>
              <a:srgbClr val="34507F"/>
            </a:solidFill>
            <a:prstDash val="solid"/>
          </a:ln>
        </p:spPr>
      </p:sp>
      <p:sp>
        <p:nvSpPr>
          <p:cNvPr id="17" name="motif-0-3"/>
          <p:cNvSpPr/>
          <p:nvPr/>
        </p:nvSpPr>
        <p:spPr>
          <a:xfrm>
            <a:off x="10067544" y="1417320"/>
            <a:ext cx="457200" cy="457200"/>
          </a:xfrm>
          <a:prstGeom prst="roundRect">
            <a:avLst>
              <a:gd name="adj" fmla="val 10000"/>
            </a:avLst>
          </a:prstGeom>
          <a:solidFill>
            <a:srgbClr val="D9A441"/>
          </a:solidFill>
          <a:ln w="12700">
            <a:solidFill>
              <a:srgbClr val="D9A441"/>
            </a:solidFill>
            <a:prstDash val="solid"/>
          </a:ln>
        </p:spPr>
      </p:sp>
      <p:sp>
        <p:nvSpPr>
          <p:cNvPr id="18" name="motif-0-4"/>
          <p:cNvSpPr/>
          <p:nvPr/>
        </p:nvSpPr>
        <p:spPr>
          <a:xfrm>
            <a:off x="10634472" y="1417320"/>
            <a:ext cx="457200" cy="457200"/>
          </a:xfrm>
          <a:prstGeom prst="roundRect">
            <a:avLst>
              <a:gd name="adj" fmla="val 10000"/>
            </a:avLst>
          </a:prstGeom>
          <a:solidFill>
            <a:srgbClr val="D9A441"/>
          </a:solidFill>
          <a:ln w="12700">
            <a:solidFill>
              <a:srgbClr val="D9A441"/>
            </a:solidFill>
            <a:prstDash val="solid"/>
          </a:ln>
        </p:spPr>
      </p:sp>
      <p:sp>
        <p:nvSpPr>
          <p:cNvPr id="19" name="motif-0-5"/>
          <p:cNvSpPr/>
          <p:nvPr/>
        </p:nvSpPr>
        <p:spPr>
          <a:xfrm>
            <a:off x="11201400" y="1417320"/>
            <a:ext cx="457200" cy="457200"/>
          </a:xfrm>
          <a:prstGeom prst="roundRect">
            <a:avLst>
              <a:gd name="adj" fmla="val 10000"/>
            </a:avLst>
          </a:prstGeom>
          <a:solidFill>
            <a:srgbClr val="D9A441"/>
          </a:solidFill>
          <a:ln w="12700">
            <a:solidFill>
              <a:srgbClr val="D9A441"/>
            </a:solidFill>
            <a:prstDash val="solid"/>
          </a:ln>
        </p:spPr>
      </p:sp>
      <p:sp>
        <p:nvSpPr>
          <p:cNvPr id="20" name="motif-1-0"/>
          <p:cNvSpPr/>
          <p:nvPr/>
        </p:nvSpPr>
        <p:spPr>
          <a:xfrm rot="600000">
            <a:off x="8366760" y="2011680"/>
            <a:ext cx="457200" cy="457200"/>
          </a:xfrm>
          <a:prstGeom prst="roundRect">
            <a:avLst>
              <a:gd name="adj" fmla="val 10000"/>
            </a:avLst>
          </a:prstGeom>
          <a:solidFill>
            <a:srgbClr val="2E4A7A"/>
          </a:solidFill>
          <a:ln w="12700">
            <a:solidFill>
              <a:srgbClr val="2E4A7A"/>
            </a:solidFill>
            <a:prstDash val="solid"/>
          </a:ln>
        </p:spPr>
      </p:sp>
      <p:sp>
        <p:nvSpPr>
          <p:cNvPr id="21" name="motif-1-1"/>
          <p:cNvSpPr/>
          <p:nvPr/>
        </p:nvSpPr>
        <p:spPr>
          <a:xfrm rot="-360000">
            <a:off x="8878824" y="2011680"/>
            <a:ext cx="457200" cy="457200"/>
          </a:xfrm>
          <a:prstGeom prst="roundRect">
            <a:avLst>
              <a:gd name="adj" fmla="val 10000"/>
            </a:avLst>
          </a:prstGeom>
          <a:solidFill>
            <a:srgbClr val="34507F"/>
          </a:solidFill>
          <a:ln w="12700">
            <a:solidFill>
              <a:srgbClr val="34507F"/>
            </a:solidFill>
            <a:prstDash val="solid"/>
          </a:ln>
        </p:spPr>
      </p:sp>
      <p:sp>
        <p:nvSpPr>
          <p:cNvPr id="22" name="motif-1-2"/>
          <p:cNvSpPr/>
          <p:nvPr/>
        </p:nvSpPr>
        <p:spPr>
          <a:xfrm rot="240000">
            <a:off x="9528048" y="2011680"/>
            <a:ext cx="457200" cy="457200"/>
          </a:xfrm>
          <a:prstGeom prst="roundRect">
            <a:avLst>
              <a:gd name="adj" fmla="val 10000"/>
            </a:avLst>
          </a:prstGeom>
          <a:solidFill>
            <a:srgbClr val="2B3F63"/>
          </a:solidFill>
          <a:ln w="12700">
            <a:solidFill>
              <a:srgbClr val="2B3F63"/>
            </a:solidFill>
            <a:prstDash val="solid"/>
          </a:ln>
        </p:spPr>
      </p:sp>
      <p:sp>
        <p:nvSpPr>
          <p:cNvPr id="23" name="motif-1-3"/>
          <p:cNvSpPr/>
          <p:nvPr/>
        </p:nvSpPr>
        <p:spPr>
          <a:xfrm>
            <a:off x="10067544" y="1984248"/>
            <a:ext cx="457200" cy="457200"/>
          </a:xfrm>
          <a:prstGeom prst="roundRect">
            <a:avLst>
              <a:gd name="adj" fmla="val 10000"/>
            </a:avLst>
          </a:prstGeom>
          <a:solidFill>
            <a:srgbClr val="6FB3AB"/>
          </a:solidFill>
          <a:ln w="12700">
            <a:solidFill>
              <a:srgbClr val="6FB3AB"/>
            </a:solidFill>
            <a:prstDash val="solid"/>
          </a:ln>
        </p:spPr>
      </p:sp>
      <p:sp>
        <p:nvSpPr>
          <p:cNvPr id="24" name="motif-1-4"/>
          <p:cNvSpPr/>
          <p:nvPr/>
        </p:nvSpPr>
        <p:spPr>
          <a:xfrm>
            <a:off x="10634472" y="1984248"/>
            <a:ext cx="457200" cy="457200"/>
          </a:xfrm>
          <a:prstGeom prst="roundRect">
            <a:avLst>
              <a:gd name="adj" fmla="val 10000"/>
            </a:avLst>
          </a:prstGeom>
          <a:solidFill>
            <a:srgbClr val="4E9A93"/>
          </a:solidFill>
          <a:ln w="12700">
            <a:solidFill>
              <a:srgbClr val="4E9A93"/>
            </a:solidFill>
            <a:prstDash val="solid"/>
          </a:ln>
        </p:spPr>
      </p:sp>
      <p:sp>
        <p:nvSpPr>
          <p:cNvPr id="25" name="motif-1-5"/>
          <p:cNvSpPr/>
          <p:nvPr/>
        </p:nvSpPr>
        <p:spPr>
          <a:xfrm>
            <a:off x="11201400" y="1984248"/>
            <a:ext cx="457200" cy="457200"/>
          </a:xfrm>
          <a:prstGeom prst="roundRect">
            <a:avLst>
              <a:gd name="adj" fmla="val 10000"/>
            </a:avLst>
          </a:prstGeom>
          <a:solidFill>
            <a:srgbClr val="D3D9E3"/>
          </a:solidFill>
          <a:ln w="12700">
            <a:solidFill>
              <a:srgbClr val="D3D9E3"/>
            </a:solidFill>
            <a:prstDash val="solid"/>
          </a:ln>
        </p:spPr>
      </p:sp>
      <p:sp>
        <p:nvSpPr>
          <p:cNvPr id="26" name="motif-2-0"/>
          <p:cNvSpPr/>
          <p:nvPr/>
        </p:nvSpPr>
        <p:spPr>
          <a:xfrm rot="480000">
            <a:off x="8421624" y="2523744"/>
            <a:ext cx="457200" cy="457200"/>
          </a:xfrm>
          <a:prstGeom prst="roundRect">
            <a:avLst>
              <a:gd name="adj" fmla="val 10000"/>
            </a:avLst>
          </a:prstGeom>
          <a:solidFill>
            <a:srgbClr val="34507F"/>
          </a:solidFill>
          <a:ln w="12700">
            <a:solidFill>
              <a:srgbClr val="34507F"/>
            </a:solidFill>
            <a:prstDash val="solid"/>
          </a:ln>
        </p:spPr>
      </p:sp>
      <p:sp>
        <p:nvSpPr>
          <p:cNvPr id="27" name="motif-2-1"/>
          <p:cNvSpPr/>
          <p:nvPr/>
        </p:nvSpPr>
        <p:spPr>
          <a:xfrm rot="-600000">
            <a:off x="8933688" y="2523744"/>
            <a:ext cx="457200" cy="457200"/>
          </a:xfrm>
          <a:prstGeom prst="roundRect">
            <a:avLst>
              <a:gd name="adj" fmla="val 10000"/>
            </a:avLst>
          </a:prstGeom>
          <a:solidFill>
            <a:srgbClr val="2B3F63"/>
          </a:solidFill>
          <a:ln w="12700">
            <a:solidFill>
              <a:srgbClr val="2B3F63"/>
            </a:solidFill>
            <a:prstDash val="solid"/>
          </a:ln>
        </p:spPr>
      </p:sp>
      <p:sp>
        <p:nvSpPr>
          <p:cNvPr id="28" name="motif-2-2"/>
          <p:cNvSpPr/>
          <p:nvPr/>
        </p:nvSpPr>
        <p:spPr>
          <a:xfrm rot="300000">
            <a:off x="9445752" y="2523744"/>
            <a:ext cx="457200" cy="457200"/>
          </a:xfrm>
          <a:prstGeom prst="roundRect">
            <a:avLst>
              <a:gd name="adj" fmla="val 10000"/>
            </a:avLst>
          </a:prstGeom>
          <a:solidFill>
            <a:srgbClr val="3B5A8C"/>
          </a:solidFill>
          <a:ln w="12700">
            <a:solidFill>
              <a:srgbClr val="3B5A8C"/>
            </a:solidFill>
            <a:prstDash val="solid"/>
          </a:ln>
        </p:spPr>
      </p:sp>
      <p:sp>
        <p:nvSpPr>
          <p:cNvPr id="29" name="motif-2-3"/>
          <p:cNvSpPr/>
          <p:nvPr/>
        </p:nvSpPr>
        <p:spPr>
          <a:xfrm>
            <a:off x="10067544" y="2551176"/>
            <a:ext cx="457200" cy="457200"/>
          </a:xfrm>
          <a:prstGeom prst="roundRect">
            <a:avLst>
              <a:gd name="adj" fmla="val 10000"/>
            </a:avLst>
          </a:prstGeom>
          <a:solidFill>
            <a:srgbClr val="6FB3AB"/>
          </a:solidFill>
          <a:ln w="12700">
            <a:solidFill>
              <a:srgbClr val="6FB3AB"/>
            </a:solidFill>
            <a:prstDash val="solid"/>
          </a:ln>
        </p:spPr>
      </p:sp>
      <p:sp>
        <p:nvSpPr>
          <p:cNvPr id="30" name="motif-2-4"/>
          <p:cNvSpPr/>
          <p:nvPr/>
        </p:nvSpPr>
        <p:spPr>
          <a:xfrm>
            <a:off x="10634472" y="2551176"/>
            <a:ext cx="457200" cy="457200"/>
          </a:xfrm>
          <a:prstGeom prst="roundRect">
            <a:avLst>
              <a:gd name="adj" fmla="val 10000"/>
            </a:avLst>
          </a:prstGeom>
          <a:solidFill>
            <a:srgbClr val="4E9A93"/>
          </a:solidFill>
          <a:ln w="12700">
            <a:solidFill>
              <a:srgbClr val="4E9A93"/>
            </a:solidFill>
            <a:prstDash val="solid"/>
          </a:ln>
        </p:spPr>
      </p:sp>
      <p:sp>
        <p:nvSpPr>
          <p:cNvPr id="31" name="motif-2-5"/>
          <p:cNvSpPr/>
          <p:nvPr/>
        </p:nvSpPr>
        <p:spPr>
          <a:xfrm>
            <a:off x="11201400" y="2551176"/>
            <a:ext cx="457200" cy="457200"/>
          </a:xfrm>
          <a:prstGeom prst="roundRect">
            <a:avLst>
              <a:gd name="adj" fmla="val 10000"/>
            </a:avLst>
          </a:prstGeom>
          <a:solidFill>
            <a:srgbClr val="D3D9E3"/>
          </a:solidFill>
          <a:ln w="12700">
            <a:solidFill>
              <a:srgbClr val="D3D9E3"/>
            </a:solidFill>
            <a:prstDash val="solid"/>
          </a:ln>
        </p:spPr>
      </p:sp>
      <p:sp>
        <p:nvSpPr>
          <p:cNvPr id="32" name="motif-3-0"/>
          <p:cNvSpPr/>
          <p:nvPr/>
        </p:nvSpPr>
        <p:spPr>
          <a:xfrm rot="-180000">
            <a:off x="8339328" y="3172968"/>
            <a:ext cx="457200" cy="457200"/>
          </a:xfrm>
          <a:prstGeom prst="roundRect">
            <a:avLst>
              <a:gd name="adj" fmla="val 10000"/>
            </a:avLst>
          </a:prstGeom>
          <a:solidFill>
            <a:srgbClr val="2B3F63"/>
          </a:solidFill>
          <a:ln w="12700">
            <a:solidFill>
              <a:srgbClr val="2B3F63"/>
            </a:solidFill>
            <a:prstDash val="solid"/>
          </a:ln>
        </p:spPr>
      </p:sp>
      <p:sp>
        <p:nvSpPr>
          <p:cNvPr id="33" name="motif-3-1"/>
          <p:cNvSpPr/>
          <p:nvPr/>
        </p:nvSpPr>
        <p:spPr>
          <a:xfrm rot="420000">
            <a:off x="8988552" y="3172968"/>
            <a:ext cx="457200" cy="457200"/>
          </a:xfrm>
          <a:prstGeom prst="roundRect">
            <a:avLst>
              <a:gd name="adj" fmla="val 10000"/>
            </a:avLst>
          </a:prstGeom>
          <a:solidFill>
            <a:srgbClr val="3B5A8C"/>
          </a:solidFill>
          <a:ln w="12700">
            <a:solidFill>
              <a:srgbClr val="3B5A8C"/>
            </a:solidFill>
            <a:prstDash val="solid"/>
          </a:ln>
        </p:spPr>
      </p:sp>
      <p:sp>
        <p:nvSpPr>
          <p:cNvPr id="34" name="motif-3-2"/>
          <p:cNvSpPr/>
          <p:nvPr/>
        </p:nvSpPr>
        <p:spPr>
          <a:xfrm rot="-420000">
            <a:off x="9500616" y="3172968"/>
            <a:ext cx="457200" cy="457200"/>
          </a:xfrm>
          <a:prstGeom prst="roundRect">
            <a:avLst>
              <a:gd name="adj" fmla="val 10000"/>
            </a:avLst>
          </a:prstGeom>
          <a:solidFill>
            <a:srgbClr val="2E4A7A"/>
          </a:solidFill>
          <a:ln w="12700">
            <a:solidFill>
              <a:srgbClr val="2E4A7A"/>
            </a:solidFill>
            <a:prstDash val="solid"/>
          </a:ln>
        </p:spPr>
      </p:sp>
      <p:sp>
        <p:nvSpPr>
          <p:cNvPr id="35" name="motif-3-3"/>
          <p:cNvSpPr/>
          <p:nvPr/>
        </p:nvSpPr>
        <p:spPr>
          <a:xfrm>
            <a:off x="10067544" y="3118104"/>
            <a:ext cx="457200" cy="457200"/>
          </a:xfrm>
          <a:prstGeom prst="roundRect">
            <a:avLst>
              <a:gd name="adj" fmla="val 10000"/>
            </a:avLst>
          </a:prstGeom>
          <a:solidFill>
            <a:srgbClr val="6FB3AB"/>
          </a:solidFill>
          <a:ln w="12700">
            <a:solidFill>
              <a:srgbClr val="6FB3AB"/>
            </a:solidFill>
            <a:prstDash val="solid"/>
          </a:ln>
        </p:spPr>
      </p:sp>
      <p:sp>
        <p:nvSpPr>
          <p:cNvPr id="36" name="motif-3-4"/>
          <p:cNvSpPr/>
          <p:nvPr/>
        </p:nvSpPr>
        <p:spPr>
          <a:xfrm>
            <a:off x="10634472" y="3118104"/>
            <a:ext cx="457200" cy="457200"/>
          </a:xfrm>
          <a:prstGeom prst="roundRect">
            <a:avLst>
              <a:gd name="adj" fmla="val 10000"/>
            </a:avLst>
          </a:prstGeom>
          <a:solidFill>
            <a:srgbClr val="4E9A93"/>
          </a:solidFill>
          <a:ln w="12700">
            <a:solidFill>
              <a:srgbClr val="4E9A93"/>
            </a:solidFill>
            <a:prstDash val="solid"/>
          </a:ln>
        </p:spPr>
      </p:sp>
      <p:sp>
        <p:nvSpPr>
          <p:cNvPr id="37" name="motif-3-5"/>
          <p:cNvSpPr/>
          <p:nvPr/>
        </p:nvSpPr>
        <p:spPr>
          <a:xfrm>
            <a:off x="11201400" y="3118104"/>
            <a:ext cx="457200" cy="457200"/>
          </a:xfrm>
          <a:prstGeom prst="roundRect">
            <a:avLst>
              <a:gd name="adj" fmla="val 10000"/>
            </a:avLst>
          </a:prstGeom>
          <a:solidFill>
            <a:srgbClr val="D3D9E3"/>
          </a:solidFill>
          <a:ln w="12700">
            <a:solidFill>
              <a:srgbClr val="D3D9E3"/>
            </a:solidFill>
            <a:prstDash val="solid"/>
          </a:ln>
        </p:spPr>
      </p:sp>
      <p:sp>
        <p:nvSpPr>
          <p:cNvPr id="38" name="motif-4-0"/>
          <p:cNvSpPr/>
          <p:nvPr/>
        </p:nvSpPr>
        <p:spPr>
          <a:xfrm rot="180000">
            <a:off x="8394192" y="3685032"/>
            <a:ext cx="457200" cy="457200"/>
          </a:xfrm>
          <a:prstGeom prst="roundRect">
            <a:avLst>
              <a:gd name="adj" fmla="val 10000"/>
            </a:avLst>
          </a:prstGeom>
          <a:solidFill>
            <a:srgbClr val="3B5A8C"/>
          </a:solidFill>
          <a:ln w="12700">
            <a:solidFill>
              <a:srgbClr val="3B5A8C"/>
            </a:solidFill>
            <a:prstDash val="solid"/>
          </a:ln>
        </p:spPr>
      </p:sp>
      <p:sp>
        <p:nvSpPr>
          <p:cNvPr id="39" name="motif-4-1"/>
          <p:cNvSpPr/>
          <p:nvPr/>
        </p:nvSpPr>
        <p:spPr>
          <a:xfrm rot="-540000">
            <a:off x="8906256" y="3685032"/>
            <a:ext cx="457200" cy="457200"/>
          </a:xfrm>
          <a:prstGeom prst="roundRect">
            <a:avLst>
              <a:gd name="adj" fmla="val 10000"/>
            </a:avLst>
          </a:prstGeom>
          <a:solidFill>
            <a:srgbClr val="2E4A7A"/>
          </a:solidFill>
          <a:ln w="12700">
            <a:solidFill>
              <a:srgbClr val="2E4A7A"/>
            </a:solidFill>
            <a:prstDash val="solid"/>
          </a:ln>
        </p:spPr>
      </p:sp>
      <p:sp>
        <p:nvSpPr>
          <p:cNvPr id="40" name="motif-4-2"/>
          <p:cNvSpPr/>
          <p:nvPr/>
        </p:nvSpPr>
        <p:spPr>
          <a:xfrm rot="360000">
            <a:off x="9555480" y="3685032"/>
            <a:ext cx="457200" cy="457200"/>
          </a:xfrm>
          <a:prstGeom prst="roundRect">
            <a:avLst>
              <a:gd name="adj" fmla="val 10000"/>
            </a:avLst>
          </a:prstGeom>
          <a:solidFill>
            <a:srgbClr val="34507F"/>
          </a:solidFill>
          <a:ln w="12700">
            <a:solidFill>
              <a:srgbClr val="34507F"/>
            </a:solidFill>
            <a:prstDash val="solid"/>
          </a:ln>
        </p:spPr>
      </p:sp>
      <p:sp>
        <p:nvSpPr>
          <p:cNvPr id="41" name="motif-4-3"/>
          <p:cNvSpPr/>
          <p:nvPr/>
        </p:nvSpPr>
        <p:spPr>
          <a:xfrm>
            <a:off x="10067544" y="3685032"/>
            <a:ext cx="457200" cy="457200"/>
          </a:xfrm>
          <a:prstGeom prst="roundRect">
            <a:avLst>
              <a:gd name="adj" fmla="val 10000"/>
            </a:avLst>
          </a:prstGeom>
          <a:solidFill>
            <a:srgbClr val="6FB3AB"/>
          </a:solidFill>
          <a:ln w="12700">
            <a:solidFill>
              <a:srgbClr val="6FB3AB"/>
            </a:solidFill>
            <a:prstDash val="solid"/>
          </a:ln>
        </p:spPr>
      </p:sp>
      <p:sp>
        <p:nvSpPr>
          <p:cNvPr id="42" name="motif-4-4"/>
          <p:cNvSpPr/>
          <p:nvPr/>
        </p:nvSpPr>
        <p:spPr>
          <a:xfrm>
            <a:off x="10634472" y="3685032"/>
            <a:ext cx="457200" cy="457200"/>
          </a:xfrm>
          <a:prstGeom prst="roundRect">
            <a:avLst>
              <a:gd name="adj" fmla="val 10000"/>
            </a:avLst>
          </a:prstGeom>
          <a:solidFill>
            <a:srgbClr val="4E9A93"/>
          </a:solidFill>
          <a:ln w="12700">
            <a:solidFill>
              <a:srgbClr val="4E9A93"/>
            </a:solidFill>
            <a:prstDash val="solid"/>
          </a:ln>
        </p:spPr>
      </p:sp>
      <p:sp>
        <p:nvSpPr>
          <p:cNvPr id="43" name="motif-4-5"/>
          <p:cNvSpPr/>
          <p:nvPr/>
        </p:nvSpPr>
        <p:spPr>
          <a:xfrm>
            <a:off x="11201400" y="3685032"/>
            <a:ext cx="457200" cy="457200"/>
          </a:xfrm>
          <a:prstGeom prst="roundRect">
            <a:avLst>
              <a:gd name="adj" fmla="val 10000"/>
            </a:avLst>
          </a:prstGeom>
          <a:solidFill>
            <a:srgbClr val="D3D9E3"/>
          </a:solidFill>
          <a:ln w="12700">
            <a:solidFill>
              <a:srgbClr val="D3D9E3"/>
            </a:solidFill>
            <a:prstDash val="solid"/>
          </a:ln>
        </p:spPr>
      </p:sp>
      <p:sp>
        <p:nvSpPr>
          <p:cNvPr id="44" name="motif-5-0"/>
          <p:cNvSpPr/>
          <p:nvPr/>
        </p:nvSpPr>
        <p:spPr>
          <a:xfrm rot="540000">
            <a:off x="8311896" y="4197096"/>
            <a:ext cx="457200" cy="457200"/>
          </a:xfrm>
          <a:prstGeom prst="roundRect">
            <a:avLst>
              <a:gd name="adj" fmla="val 10000"/>
            </a:avLst>
          </a:prstGeom>
          <a:solidFill>
            <a:srgbClr val="2E4A7A"/>
          </a:solidFill>
          <a:ln w="12700">
            <a:solidFill>
              <a:srgbClr val="2E4A7A"/>
            </a:solidFill>
            <a:prstDash val="solid"/>
          </a:ln>
        </p:spPr>
      </p:sp>
      <p:sp>
        <p:nvSpPr>
          <p:cNvPr id="45" name="motif-5-1"/>
          <p:cNvSpPr/>
          <p:nvPr/>
        </p:nvSpPr>
        <p:spPr>
          <a:xfrm rot="-300000">
            <a:off x="8961120" y="4197096"/>
            <a:ext cx="457200" cy="457200"/>
          </a:xfrm>
          <a:prstGeom prst="roundRect">
            <a:avLst>
              <a:gd name="adj" fmla="val 10000"/>
            </a:avLst>
          </a:prstGeom>
          <a:solidFill>
            <a:srgbClr val="34507F"/>
          </a:solidFill>
          <a:ln w="12700">
            <a:solidFill>
              <a:srgbClr val="34507F"/>
            </a:solidFill>
            <a:prstDash val="solid"/>
          </a:ln>
        </p:spPr>
      </p:sp>
      <p:sp>
        <p:nvSpPr>
          <p:cNvPr id="46" name="motif-5-2"/>
          <p:cNvSpPr/>
          <p:nvPr/>
        </p:nvSpPr>
        <p:spPr>
          <a:xfrm rot="240000">
            <a:off x="9473184" y="4197096"/>
            <a:ext cx="457200" cy="457200"/>
          </a:xfrm>
          <a:prstGeom prst="roundRect">
            <a:avLst>
              <a:gd name="adj" fmla="val 10000"/>
            </a:avLst>
          </a:prstGeom>
          <a:solidFill>
            <a:srgbClr val="2B3F63"/>
          </a:solidFill>
          <a:ln w="12700">
            <a:solidFill>
              <a:srgbClr val="2B3F63"/>
            </a:solidFill>
            <a:prstDash val="solid"/>
          </a:ln>
        </p:spPr>
      </p:sp>
      <p:sp>
        <p:nvSpPr>
          <p:cNvPr id="47" name="motif-5-3"/>
          <p:cNvSpPr/>
          <p:nvPr/>
        </p:nvSpPr>
        <p:spPr>
          <a:xfrm>
            <a:off x="10067544" y="4251960"/>
            <a:ext cx="457200" cy="457200"/>
          </a:xfrm>
          <a:prstGeom prst="roundRect">
            <a:avLst>
              <a:gd name="adj" fmla="val 10000"/>
            </a:avLst>
          </a:prstGeom>
          <a:solidFill>
            <a:srgbClr val="6FB3AB"/>
          </a:solidFill>
          <a:ln w="12700">
            <a:solidFill>
              <a:srgbClr val="6FB3AB"/>
            </a:solidFill>
            <a:prstDash val="solid"/>
          </a:ln>
        </p:spPr>
      </p:sp>
      <p:sp>
        <p:nvSpPr>
          <p:cNvPr id="48" name="motif-5-4"/>
          <p:cNvSpPr/>
          <p:nvPr/>
        </p:nvSpPr>
        <p:spPr>
          <a:xfrm>
            <a:off x="10634472" y="4251960"/>
            <a:ext cx="457200" cy="457200"/>
          </a:xfrm>
          <a:prstGeom prst="roundRect">
            <a:avLst>
              <a:gd name="adj" fmla="val 10000"/>
            </a:avLst>
          </a:prstGeom>
          <a:solidFill>
            <a:srgbClr val="4E9A93"/>
          </a:solidFill>
          <a:ln w="12700">
            <a:solidFill>
              <a:srgbClr val="4E9A93"/>
            </a:solidFill>
            <a:prstDash val="solid"/>
          </a:ln>
        </p:spPr>
      </p:sp>
      <p:sp>
        <p:nvSpPr>
          <p:cNvPr id="49" name="motif-5-5"/>
          <p:cNvSpPr/>
          <p:nvPr/>
        </p:nvSpPr>
        <p:spPr>
          <a:xfrm>
            <a:off x="11201400" y="4251960"/>
            <a:ext cx="457200" cy="457200"/>
          </a:xfrm>
          <a:prstGeom prst="roundRect">
            <a:avLst>
              <a:gd name="adj" fmla="val 10000"/>
            </a:avLst>
          </a:prstGeom>
          <a:solidFill>
            <a:srgbClr val="D3D9E3"/>
          </a:solidFill>
          <a:ln w="12700">
            <a:solidFill>
              <a:srgbClr val="D3D9E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01 · THE PROBLEM</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Every client SOV is a new schema, cleaned by hand</a:t>
            </a:r>
            <a:endParaRPr lang="en-US" sz="3000" dirty="0"/>
          </a:p>
        </p:txBody>
      </p:sp>
      <p:sp>
        <p:nvSpPr>
          <p:cNvPr id="4" name="stat-0"/>
          <p:cNvSpPr/>
          <p:nvPr/>
        </p:nvSpPr>
        <p:spPr>
          <a:xfrm>
            <a:off x="548640" y="1691640"/>
            <a:ext cx="3063240" cy="1645920"/>
          </a:xfrm>
          <a:prstGeom prst="roundRect">
            <a:avLst>
              <a:gd name="adj" fmla="val 4444"/>
            </a:avLst>
          </a:prstGeom>
          <a:solidFill>
            <a:srgbClr val="FDFCF9"/>
          </a:solidFill>
          <a:ln w="9525">
            <a:solidFill>
              <a:srgbClr val="D8D3C6"/>
            </a:solidFill>
            <a:prstDash val="solid"/>
          </a:ln>
        </p:spPr>
      </p:sp>
      <p:sp>
        <p:nvSpPr>
          <p:cNvPr id="5" name="Text 3"/>
          <p:cNvSpPr txBox="1"/>
          <p:nvPr/>
        </p:nvSpPr>
        <p:spPr>
          <a:xfrm>
            <a:off x="822960" y="1920240"/>
            <a:ext cx="2651760" cy="731520"/>
          </a:xfrm>
          <a:prstGeom prst="rect">
            <a:avLst/>
          </a:prstGeom>
          <a:noFill/>
          <a:ln/>
        </p:spPr>
        <p:txBody>
          <a:bodyPr wrap="square" lIns="0" tIns="0" rIns="0" bIns="0" rtlCol="0" anchor="t"/>
          <a:lstStyle/>
          <a:p>
            <a:pPr indent="0" marL="0">
              <a:buNone/>
            </a:pPr>
            <a:r>
              <a:rPr lang="en-US" sz="4000" b="1" dirty="0">
                <a:solidFill>
                  <a:srgbClr val="1D6F6F"/>
                </a:solidFill>
              </a:rPr>
              <a:t>53%</a:t>
            </a:r>
            <a:endParaRPr lang="en-US" sz="4000" dirty="0"/>
          </a:p>
        </p:txBody>
      </p:sp>
      <p:sp>
        <p:nvSpPr>
          <p:cNvPr id="6" name="Text 4"/>
          <p:cNvSpPr txBox="1"/>
          <p:nvPr/>
        </p:nvSpPr>
        <p:spPr>
          <a:xfrm>
            <a:off x="822960" y="2679192"/>
            <a:ext cx="2606040" cy="548640"/>
          </a:xfrm>
          <a:prstGeom prst="rect">
            <a:avLst/>
          </a:prstGeom>
          <a:noFill/>
          <a:ln/>
        </p:spPr>
        <p:txBody>
          <a:bodyPr wrap="square" lIns="0" tIns="0" rIns="0" bIns="0" rtlCol="0" anchor="t"/>
          <a:lstStyle/>
          <a:p>
            <a:pPr indent="0" marL="0">
              <a:buNone/>
            </a:pPr>
            <a:r>
              <a:rPr lang="en-US" sz="1300" dirty="0">
                <a:solidFill>
                  <a:srgbClr val="3D4757"/>
                </a:solidFill>
              </a:rPr>
              <a:t>header mapping accuracy of today's manual baseline</a:t>
            </a:r>
            <a:endParaRPr lang="en-US" sz="1300" dirty="0"/>
          </a:p>
        </p:txBody>
      </p:sp>
      <p:sp>
        <p:nvSpPr>
          <p:cNvPr id="7" name="stat-1"/>
          <p:cNvSpPr/>
          <p:nvPr/>
        </p:nvSpPr>
        <p:spPr>
          <a:xfrm>
            <a:off x="3794760" y="1691640"/>
            <a:ext cx="3063240" cy="1645920"/>
          </a:xfrm>
          <a:prstGeom prst="roundRect">
            <a:avLst>
              <a:gd name="adj" fmla="val 4444"/>
            </a:avLst>
          </a:prstGeom>
          <a:solidFill>
            <a:srgbClr val="FDFCF9"/>
          </a:solidFill>
          <a:ln w="9525">
            <a:solidFill>
              <a:srgbClr val="D8D3C6"/>
            </a:solidFill>
            <a:prstDash val="solid"/>
          </a:ln>
        </p:spPr>
      </p:sp>
      <p:sp>
        <p:nvSpPr>
          <p:cNvPr id="8" name="Text 6"/>
          <p:cNvSpPr txBox="1"/>
          <p:nvPr/>
        </p:nvSpPr>
        <p:spPr>
          <a:xfrm>
            <a:off x="4069080" y="1920240"/>
            <a:ext cx="2651760" cy="731520"/>
          </a:xfrm>
          <a:prstGeom prst="rect">
            <a:avLst/>
          </a:prstGeom>
          <a:noFill/>
          <a:ln/>
        </p:spPr>
        <p:txBody>
          <a:bodyPr wrap="square" lIns="0" tIns="0" rIns="0" bIns="0" rtlCol="0" anchor="t"/>
          <a:lstStyle/>
          <a:p>
            <a:pPr indent="0" marL="0">
              <a:buNone/>
            </a:pPr>
            <a:r>
              <a:rPr lang="en-US" sz="4000" b="1" dirty="0">
                <a:solidFill>
                  <a:srgbClr val="1D6F6F"/>
                </a:solidFill>
              </a:rPr>
              <a:t>Hours</a:t>
            </a:r>
            <a:endParaRPr lang="en-US" sz="4000" dirty="0"/>
          </a:p>
        </p:txBody>
      </p:sp>
      <p:sp>
        <p:nvSpPr>
          <p:cNvPr id="9" name="Text 7"/>
          <p:cNvSpPr txBox="1"/>
          <p:nvPr/>
        </p:nvSpPr>
        <p:spPr>
          <a:xfrm>
            <a:off x="4069080" y="2679192"/>
            <a:ext cx="2606040" cy="548640"/>
          </a:xfrm>
          <a:prstGeom prst="rect">
            <a:avLst/>
          </a:prstGeom>
          <a:noFill/>
          <a:ln/>
        </p:spPr>
        <p:txBody>
          <a:bodyPr wrap="square" lIns="0" tIns="0" rIns="0" bIns="0" rtlCol="0" anchor="t"/>
          <a:lstStyle/>
          <a:p>
            <a:pPr indent="0" marL="0">
              <a:buNone/>
            </a:pPr>
            <a:r>
              <a:rPr lang="en-US" sz="1300" dirty="0">
                <a:solidFill>
                  <a:srgbClr val="3D4757"/>
                </a:solidFill>
              </a:rPr>
              <a:t>of analyst time to cleanse a single SOV</a:t>
            </a:r>
            <a:endParaRPr lang="en-US" sz="1300" dirty="0"/>
          </a:p>
        </p:txBody>
      </p:sp>
      <p:sp>
        <p:nvSpPr>
          <p:cNvPr id="10" name="stat-2"/>
          <p:cNvSpPr/>
          <p:nvPr/>
        </p:nvSpPr>
        <p:spPr>
          <a:xfrm>
            <a:off x="548640" y="3520440"/>
            <a:ext cx="3063240" cy="1645920"/>
          </a:xfrm>
          <a:prstGeom prst="roundRect">
            <a:avLst>
              <a:gd name="adj" fmla="val 4444"/>
            </a:avLst>
          </a:prstGeom>
          <a:solidFill>
            <a:srgbClr val="FDFCF9"/>
          </a:solidFill>
          <a:ln w="9525">
            <a:solidFill>
              <a:srgbClr val="D8D3C6"/>
            </a:solidFill>
            <a:prstDash val="solid"/>
          </a:ln>
        </p:spPr>
      </p:sp>
      <p:sp>
        <p:nvSpPr>
          <p:cNvPr id="11" name="Text 9"/>
          <p:cNvSpPr txBox="1"/>
          <p:nvPr/>
        </p:nvSpPr>
        <p:spPr>
          <a:xfrm>
            <a:off x="822960" y="3749040"/>
            <a:ext cx="2651760" cy="731520"/>
          </a:xfrm>
          <a:prstGeom prst="rect">
            <a:avLst/>
          </a:prstGeom>
          <a:noFill/>
          <a:ln/>
        </p:spPr>
        <p:txBody>
          <a:bodyPr wrap="square" lIns="0" tIns="0" rIns="0" bIns="0" rtlCol="0" anchor="t"/>
          <a:lstStyle/>
          <a:p>
            <a:pPr indent="0" marL="0">
              <a:buNone/>
            </a:pPr>
            <a:r>
              <a:rPr lang="en-US" sz="4000" b="1" dirty="0">
                <a:solidFill>
                  <a:srgbClr val="1D6F6F"/>
                </a:solidFill>
              </a:rPr>
              <a:t>17</a:t>
            </a:r>
            <a:endParaRPr lang="en-US" sz="4000" dirty="0"/>
          </a:p>
        </p:txBody>
      </p:sp>
      <p:sp>
        <p:nvSpPr>
          <p:cNvPr id="12" name="Text 10"/>
          <p:cNvSpPr txBox="1"/>
          <p:nvPr/>
        </p:nvSpPr>
        <p:spPr>
          <a:xfrm>
            <a:off x="822960" y="4507992"/>
            <a:ext cx="2606040" cy="548640"/>
          </a:xfrm>
          <a:prstGeom prst="rect">
            <a:avLst/>
          </a:prstGeom>
          <a:noFill/>
          <a:ln/>
        </p:spPr>
        <p:txBody>
          <a:bodyPr wrap="square" lIns="0" tIns="0" rIns="0" bIns="0" rtlCol="0" anchor="t"/>
          <a:lstStyle/>
          <a:p>
            <a:pPr indent="0" marL="0">
              <a:buNone/>
            </a:pPr>
            <a:r>
              <a:rPr lang="en-US" sz="1300" dirty="0">
                <a:solidFill>
                  <a:srgbClr val="3D4757"/>
                </a:solidFill>
              </a:rPr>
              <a:t>strictly typed fields the exposure models require</a:t>
            </a:r>
            <a:endParaRPr lang="en-US" sz="1300" dirty="0"/>
          </a:p>
        </p:txBody>
      </p:sp>
      <p:sp>
        <p:nvSpPr>
          <p:cNvPr id="13" name="stat-3"/>
          <p:cNvSpPr/>
          <p:nvPr/>
        </p:nvSpPr>
        <p:spPr>
          <a:xfrm>
            <a:off x="3794760" y="3520440"/>
            <a:ext cx="3063240" cy="1645920"/>
          </a:xfrm>
          <a:prstGeom prst="roundRect">
            <a:avLst>
              <a:gd name="adj" fmla="val 4444"/>
            </a:avLst>
          </a:prstGeom>
          <a:solidFill>
            <a:srgbClr val="FDFCF9"/>
          </a:solidFill>
          <a:ln w="9525">
            <a:solidFill>
              <a:srgbClr val="D8D3C6"/>
            </a:solidFill>
            <a:prstDash val="solid"/>
          </a:ln>
        </p:spPr>
      </p:sp>
      <p:sp>
        <p:nvSpPr>
          <p:cNvPr id="14" name="Text 12"/>
          <p:cNvSpPr txBox="1"/>
          <p:nvPr/>
        </p:nvSpPr>
        <p:spPr>
          <a:xfrm>
            <a:off x="4069080" y="3749040"/>
            <a:ext cx="2651760" cy="731520"/>
          </a:xfrm>
          <a:prstGeom prst="rect">
            <a:avLst/>
          </a:prstGeom>
          <a:noFill/>
          <a:ln/>
        </p:spPr>
        <p:txBody>
          <a:bodyPr wrap="square" lIns="0" tIns="0" rIns="0" bIns="0" rtlCol="0" anchor="t"/>
          <a:lstStyle/>
          <a:p>
            <a:pPr indent="0" marL="0">
              <a:buNone/>
            </a:pPr>
            <a:r>
              <a:rPr lang="en-US" sz="4000" b="1" dirty="0">
                <a:solidFill>
                  <a:srgbClr val="1D6F6F"/>
                </a:solidFill>
              </a:rPr>
              <a:t>0</a:t>
            </a:r>
            <a:endParaRPr lang="en-US" sz="4000" dirty="0"/>
          </a:p>
        </p:txBody>
      </p:sp>
      <p:sp>
        <p:nvSpPr>
          <p:cNvPr id="15" name="Text 13"/>
          <p:cNvSpPr txBox="1"/>
          <p:nvPr/>
        </p:nvSpPr>
        <p:spPr>
          <a:xfrm>
            <a:off x="4069080" y="4507992"/>
            <a:ext cx="2606040" cy="548640"/>
          </a:xfrm>
          <a:prstGeom prst="rect">
            <a:avLst/>
          </a:prstGeom>
          <a:noFill/>
          <a:ln/>
        </p:spPr>
        <p:txBody>
          <a:bodyPr wrap="square" lIns="0" tIns="0" rIns="0" bIns="0" rtlCol="0" anchor="t"/>
          <a:lstStyle/>
          <a:p>
            <a:pPr indent="0" marL="0">
              <a:buNone/>
            </a:pPr>
            <a:r>
              <a:rPr lang="en-US" sz="1300" dirty="0">
                <a:solidFill>
                  <a:srgbClr val="3D4757"/>
                </a:solidFill>
              </a:rPr>
              <a:t>standard cleansing procedures in place today</a:t>
            </a:r>
            <a:endParaRPr lang="en-US" sz="1300" dirty="0"/>
          </a:p>
        </p:txBody>
      </p:sp>
      <p:sp>
        <p:nvSpPr>
          <p:cNvPr id="16" name="evidence"/>
          <p:cNvSpPr/>
          <p:nvPr/>
        </p:nvSpPr>
        <p:spPr>
          <a:xfrm>
            <a:off x="7269480" y="1691640"/>
            <a:ext cx="4370832" cy="3474720"/>
          </a:xfrm>
          <a:prstGeom prst="roundRect">
            <a:avLst>
              <a:gd name="adj" fmla="val 2105"/>
            </a:avLst>
          </a:prstGeom>
          <a:solidFill>
            <a:srgbClr val="FFFFFF"/>
          </a:solidFill>
          <a:ln w="9525">
            <a:solidFill>
              <a:srgbClr val="D8D3C6"/>
            </a:solidFill>
            <a:prstDash val="solid"/>
          </a:ln>
        </p:spPr>
      </p:sp>
      <p:sp>
        <p:nvSpPr>
          <p:cNvPr id="17" name="Text 15"/>
          <p:cNvSpPr txBox="1"/>
          <p:nvPr/>
        </p:nvSpPr>
        <p:spPr>
          <a:xfrm>
            <a:off x="7543800" y="1874520"/>
            <a:ext cx="3931920" cy="320040"/>
          </a:xfrm>
          <a:prstGeom prst="rect">
            <a:avLst/>
          </a:prstGeom>
          <a:noFill/>
          <a:ln/>
        </p:spPr>
        <p:txBody>
          <a:bodyPr wrap="square" lIns="0" tIns="0" rIns="0" bIns="0" rtlCol="0" anchor="t"/>
          <a:lstStyle/>
          <a:p>
            <a:pPr indent="0" marL="0">
              <a:buNone/>
            </a:pPr>
            <a:r>
              <a:rPr lang="en-US" sz="1400" b="1" dirty="0">
                <a:solidFill>
                  <a:srgbClr val="14213D"/>
                </a:solidFill>
              </a:rPr>
              <a:t>What the four provided SOVs actually contain</a:t>
            </a:r>
            <a:endParaRPr lang="en-US" sz="1400" dirty="0"/>
          </a:p>
        </p:txBody>
      </p:sp>
      <p:sp>
        <p:nvSpPr>
          <p:cNvPr id="18" name="Text 16"/>
          <p:cNvSpPr txBox="1"/>
          <p:nvPr/>
        </p:nvSpPr>
        <p:spPr>
          <a:xfrm>
            <a:off x="7543800" y="2286000"/>
            <a:ext cx="393192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757"/>
                </a:solidFill>
              </a:rPr>
              <a:t>Header on row 12 under a two-row banner</a:t>
            </a:r>
            <a:endParaRPr lang="en-US" sz="1300" dirty="0"/>
          </a:p>
          <a:p>
            <a:pPr marL="342900" indent="-342900">
              <a:spcAft>
                <a:spcPts val="600"/>
              </a:spcAft>
              <a:buSzPct val="100000"/>
              <a:buChar char="•"/>
            </a:pPr>
            <a:r>
              <a:rPr lang="en-US" sz="1300" dirty="0">
                <a:solidFill>
                  <a:srgbClr val="3D4757"/>
                </a:solidFill>
              </a:rPr>
              <a:t>Footnotes merged across 27 columns</a:t>
            </a:r>
            <a:endParaRPr lang="en-US" sz="1300" dirty="0"/>
          </a:p>
          <a:p>
            <a:pPr marL="342900" indent="-342900">
              <a:spcAft>
                <a:spcPts val="600"/>
              </a:spcAft>
              <a:buSzPct val="100000"/>
              <a:buChar char="•"/>
            </a:pPr>
            <a:r>
              <a:rPr lang="en-US" sz="1300" dirty="0">
                <a:solidFill>
                  <a:srgbClr val="3D4757"/>
                </a:solidFill>
              </a:rPr>
              <a:t>8 tabs, 3 hidden; locations split over 3 of them</a:t>
            </a:r>
            <a:endParaRPr lang="en-US" sz="1300" dirty="0"/>
          </a:p>
          <a:p>
            <a:pPr marL="342900" indent="-342900">
              <a:spcAft>
                <a:spcPts val="600"/>
              </a:spcAft>
              <a:buSzPct val="100000"/>
              <a:buChar char="•"/>
            </a:pPr>
            <a:r>
              <a:rPr lang="en-US" sz="1300" dirty="0">
                <a:solidFill>
                  <a:srgbClr val="3D4757"/>
                </a:solidFill>
              </a:rPr>
              <a:t>“1989 / 2012”, “1980’s” and 9999 as Year Built</a:t>
            </a:r>
            <a:endParaRPr lang="en-US" sz="1300" dirty="0"/>
          </a:p>
          <a:p>
            <a:pPr marL="342900" indent="-342900">
              <a:spcAft>
                <a:spcPts val="600"/>
              </a:spcAft>
              <a:buSzPct val="100000"/>
              <a:buChar char="•"/>
            </a:pPr>
            <a:r>
              <a:rPr lang="en-US" sz="1300" dirty="0">
                <a:solidFill>
                  <a:srgbClr val="3D4757"/>
                </a:solidFill>
              </a:rPr>
              <a:t>“Included in Bldg” inside a value column</a:t>
            </a:r>
            <a:endParaRPr lang="en-US" sz="1300" dirty="0"/>
          </a:p>
          <a:p>
            <a:pPr marL="342900" indent="-342900">
              <a:spcAft>
                <a:spcPts val="600"/>
              </a:spcAft>
              <a:buSzPct val="100000"/>
              <a:buChar char="•"/>
            </a:pPr>
            <a:r>
              <a:rPr lang="en-US" sz="1300" dirty="0">
                <a:solidFill>
                  <a:srgbClr val="3D4757"/>
                </a:solidFill>
              </a:rPr>
              <a:t>ZIP 00802 stored as 802; state “V.I.”</a:t>
            </a:r>
            <a:endParaRPr lang="en-US" sz="1300" dirty="0"/>
          </a:p>
        </p:txBody>
      </p:sp>
      <p:sp>
        <p:nvSpPr>
          <p:cNvPr id="19" name="Shape 17"/>
          <p:cNvSpPr/>
          <p:nvPr/>
        </p:nvSpPr>
        <p:spPr>
          <a:xfrm>
            <a:off x="548640" y="5532120"/>
            <a:ext cx="2331720" cy="502920"/>
          </a:xfrm>
          <a:prstGeom prst="roundRect">
            <a:avLst>
              <a:gd name="adj" fmla="val 10909"/>
            </a:avLst>
          </a:prstGeom>
          <a:solidFill>
            <a:srgbClr val="F4E6C6"/>
          </a:solidFill>
          <a:ln w="12700">
            <a:solidFill>
              <a:srgbClr val="F4E6C6"/>
            </a:solidFill>
            <a:prstDash val="solid"/>
          </a:ln>
        </p:spPr>
      </p:sp>
      <p:sp>
        <p:nvSpPr>
          <p:cNvPr id="20" name="Text 18"/>
          <p:cNvSpPr txBox="1"/>
          <p:nvPr/>
        </p:nvSpPr>
        <p:spPr>
          <a:xfrm>
            <a:off x="548640" y="5532120"/>
            <a:ext cx="2331720" cy="502920"/>
          </a:xfrm>
          <a:prstGeom prst="rect">
            <a:avLst/>
          </a:prstGeom>
          <a:noFill/>
          <a:ln/>
        </p:spPr>
        <p:txBody>
          <a:bodyPr wrap="square" lIns="0" tIns="0" rIns="0" bIns="0" rtlCol="0" anchor="ctr"/>
          <a:lstStyle/>
          <a:p>
            <a:pPr algn="ctr" indent="0" marL="0">
              <a:buNone/>
            </a:pPr>
            <a:r>
              <a:rPr lang="en-US" sz="1300" b="1" dirty="0">
                <a:solidFill>
                  <a:srgbClr val="8A5A0B"/>
                </a:solidFill>
              </a:rPr>
              <a:t>Messy SOV</a:t>
            </a:r>
            <a:endParaRPr lang="en-US" sz="1300" dirty="0"/>
          </a:p>
        </p:txBody>
      </p:sp>
      <p:sp>
        <p:nvSpPr>
          <p:cNvPr id="21" name="Shape 19"/>
          <p:cNvSpPr/>
          <p:nvPr/>
        </p:nvSpPr>
        <p:spPr>
          <a:xfrm>
            <a:off x="2926080" y="5783580"/>
            <a:ext cx="411480" cy="914"/>
          </a:xfrm>
          <a:prstGeom prst="line">
            <a:avLst/>
          </a:prstGeom>
          <a:noFill/>
          <a:ln w="19050">
            <a:solidFill>
              <a:srgbClr val="5A6472"/>
            </a:solidFill>
            <a:prstDash val="solid"/>
            <a:tailEnd type="triangle"/>
          </a:ln>
        </p:spPr>
      </p:sp>
      <p:sp>
        <p:nvSpPr>
          <p:cNvPr id="22" name="Shape 20"/>
          <p:cNvSpPr/>
          <p:nvPr/>
        </p:nvSpPr>
        <p:spPr>
          <a:xfrm>
            <a:off x="3383280" y="5532120"/>
            <a:ext cx="2331720" cy="502920"/>
          </a:xfrm>
          <a:prstGeom prst="roundRect">
            <a:avLst>
              <a:gd name="adj" fmla="val 10909"/>
            </a:avLst>
          </a:prstGeom>
          <a:solidFill>
            <a:srgbClr val="F4E6C6"/>
          </a:solidFill>
          <a:ln w="12700">
            <a:solidFill>
              <a:srgbClr val="F4E6C6"/>
            </a:solidFill>
            <a:prstDash val="solid"/>
          </a:ln>
        </p:spPr>
      </p:sp>
      <p:sp>
        <p:nvSpPr>
          <p:cNvPr id="23" name="Text 21"/>
          <p:cNvSpPr txBox="1"/>
          <p:nvPr/>
        </p:nvSpPr>
        <p:spPr>
          <a:xfrm>
            <a:off x="3383280" y="5532120"/>
            <a:ext cx="2331720" cy="502920"/>
          </a:xfrm>
          <a:prstGeom prst="rect">
            <a:avLst/>
          </a:prstGeom>
          <a:noFill/>
          <a:ln/>
        </p:spPr>
        <p:txBody>
          <a:bodyPr wrap="square" lIns="0" tIns="0" rIns="0" bIns="0" rtlCol="0" anchor="ctr"/>
          <a:lstStyle/>
          <a:p>
            <a:pPr algn="ctr" indent="0" marL="0">
              <a:buNone/>
            </a:pPr>
            <a:r>
              <a:rPr lang="en-US" sz="1300" b="1" dirty="0">
                <a:solidFill>
                  <a:srgbClr val="8A5A0B"/>
                </a:solidFill>
              </a:rPr>
              <a:t>Wrong exposure</a:t>
            </a:r>
            <a:endParaRPr lang="en-US" sz="1300" dirty="0"/>
          </a:p>
        </p:txBody>
      </p:sp>
      <p:sp>
        <p:nvSpPr>
          <p:cNvPr id="24" name="Shape 22"/>
          <p:cNvSpPr/>
          <p:nvPr/>
        </p:nvSpPr>
        <p:spPr>
          <a:xfrm>
            <a:off x="5760720" y="5783580"/>
            <a:ext cx="411480" cy="914"/>
          </a:xfrm>
          <a:prstGeom prst="line">
            <a:avLst/>
          </a:prstGeom>
          <a:noFill/>
          <a:ln w="19050">
            <a:solidFill>
              <a:srgbClr val="5A6472"/>
            </a:solidFill>
            <a:prstDash val="solid"/>
            <a:tailEnd type="triangle"/>
          </a:ln>
        </p:spPr>
      </p:sp>
      <p:sp>
        <p:nvSpPr>
          <p:cNvPr id="25" name="Shape 23"/>
          <p:cNvSpPr/>
          <p:nvPr/>
        </p:nvSpPr>
        <p:spPr>
          <a:xfrm>
            <a:off x="6217920" y="5532120"/>
            <a:ext cx="2331720" cy="502920"/>
          </a:xfrm>
          <a:prstGeom prst="roundRect">
            <a:avLst>
              <a:gd name="adj" fmla="val 10909"/>
            </a:avLst>
          </a:prstGeom>
          <a:solidFill>
            <a:srgbClr val="F4E6C6"/>
          </a:solidFill>
          <a:ln w="12700">
            <a:solidFill>
              <a:srgbClr val="F4E6C6"/>
            </a:solidFill>
            <a:prstDash val="solid"/>
          </a:ln>
        </p:spPr>
      </p:sp>
      <p:sp>
        <p:nvSpPr>
          <p:cNvPr id="26" name="Text 24"/>
          <p:cNvSpPr txBox="1"/>
          <p:nvPr/>
        </p:nvSpPr>
        <p:spPr>
          <a:xfrm>
            <a:off x="6217920" y="5532120"/>
            <a:ext cx="2331720" cy="502920"/>
          </a:xfrm>
          <a:prstGeom prst="rect">
            <a:avLst/>
          </a:prstGeom>
          <a:noFill/>
          <a:ln/>
        </p:spPr>
        <p:txBody>
          <a:bodyPr wrap="square" lIns="0" tIns="0" rIns="0" bIns="0" rtlCol="0" anchor="ctr"/>
          <a:lstStyle/>
          <a:p>
            <a:pPr algn="ctr" indent="0" marL="0">
              <a:buNone/>
            </a:pPr>
            <a:r>
              <a:rPr lang="en-US" sz="1300" b="1" dirty="0">
                <a:solidFill>
                  <a:srgbClr val="8A5A0B"/>
                </a:solidFill>
              </a:rPr>
              <a:t>Mispriced policies</a:t>
            </a:r>
            <a:endParaRPr lang="en-US" sz="1300" dirty="0"/>
          </a:p>
        </p:txBody>
      </p:sp>
      <p:sp>
        <p:nvSpPr>
          <p:cNvPr id="27" name="Shape 25"/>
          <p:cNvSpPr/>
          <p:nvPr/>
        </p:nvSpPr>
        <p:spPr>
          <a:xfrm>
            <a:off x="8595360" y="5783580"/>
            <a:ext cx="411480" cy="914"/>
          </a:xfrm>
          <a:prstGeom prst="line">
            <a:avLst/>
          </a:prstGeom>
          <a:noFill/>
          <a:ln w="19050">
            <a:solidFill>
              <a:srgbClr val="5A6472"/>
            </a:solidFill>
            <a:prstDash val="solid"/>
            <a:tailEnd type="triangle"/>
          </a:ln>
        </p:spPr>
      </p:sp>
      <p:sp>
        <p:nvSpPr>
          <p:cNvPr id="28" name="Shape 26"/>
          <p:cNvSpPr/>
          <p:nvPr/>
        </p:nvSpPr>
        <p:spPr>
          <a:xfrm>
            <a:off x="9052560" y="5532120"/>
            <a:ext cx="2331720" cy="502920"/>
          </a:xfrm>
          <a:prstGeom prst="roundRect">
            <a:avLst>
              <a:gd name="adj" fmla="val 10909"/>
            </a:avLst>
          </a:prstGeom>
          <a:solidFill>
            <a:srgbClr val="F3DCD7"/>
          </a:solidFill>
          <a:ln w="12700">
            <a:solidFill>
              <a:srgbClr val="F3DCD7"/>
            </a:solidFill>
            <a:prstDash val="solid"/>
          </a:ln>
        </p:spPr>
      </p:sp>
      <p:sp>
        <p:nvSpPr>
          <p:cNvPr id="29" name="Text 27"/>
          <p:cNvSpPr txBox="1"/>
          <p:nvPr/>
        </p:nvSpPr>
        <p:spPr>
          <a:xfrm>
            <a:off x="9052560" y="5532120"/>
            <a:ext cx="2331720" cy="502920"/>
          </a:xfrm>
          <a:prstGeom prst="rect">
            <a:avLst/>
          </a:prstGeom>
          <a:noFill/>
          <a:ln/>
        </p:spPr>
        <p:txBody>
          <a:bodyPr wrap="square" lIns="0" tIns="0" rIns="0" bIns="0" rtlCol="0" anchor="ctr"/>
          <a:lstStyle/>
          <a:p>
            <a:pPr algn="ctr" indent="0" marL="0">
              <a:buNone/>
            </a:pPr>
            <a:r>
              <a:rPr lang="en-US" sz="1300" b="1" dirty="0">
                <a:solidFill>
                  <a:srgbClr val="A33A2B"/>
                </a:solidFill>
              </a:rPr>
              <a:t>Underwriting losses</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D9A441"/>
                </a:solidFill>
              </a:rPr>
              <a:t>02 · OUR DESIGN PRINCIPLE</a:t>
            </a:r>
            <a:endParaRPr lang="en-US" sz="1200" dirty="0"/>
          </a:p>
        </p:txBody>
      </p:sp>
      <p:sp>
        <p:nvSpPr>
          <p:cNvPr id="3" name="Text 0"/>
          <p:cNvSpPr/>
          <p:nvPr>
            <p:ph idx="101" type="title" hasCustomPrompt="1"/>
          </p:nvPr>
        </p:nvSpPr>
        <p:spPr>
          <a:xfrm>
            <a:off x="548640" y="1371600"/>
            <a:ext cx="6949440" cy="1920240"/>
          </a:xfrm>
          <a:prstGeom prst="rect">
            <a:avLst/>
          </a:prstGeom>
          <a:noFill/>
          <a:ln/>
        </p:spPr>
        <p:txBody>
          <a:bodyPr wrap="square" lIns="0" tIns="0" rIns="0" bIns="0" rtlCol="0" anchor="t"/>
          <a:lstStyle/>
          <a:p>
            <a:pPr algn="l" indent="0" marL="0">
              <a:buNone/>
            </a:pPr>
            <a:r>
              <a:rPr lang="en-US" sz="4400" b="1" dirty="0">
                <a:solidFill>
                  <a:srgbClr val="FFFFFF"/>
                </a:solidFill>
              </a:rPr>
              <a:t>AI </a:t>
            </a:r>
            <a:pPr algn="l" indent="0" marL="0">
              <a:buNone/>
            </a:pPr>
            <a:r>
              <a:rPr lang="en-US" sz="4400" b="1" dirty="0">
                <a:solidFill>
                  <a:srgbClr val="D9A441"/>
                </a:solidFill>
              </a:rPr>
              <a:t>proposes.</a:t>
            </a:r>
            <a:endParaRPr lang="en-US" sz="4400" dirty="0"/>
          </a:p>
          <a:p>
            <a:pPr algn="l" indent="0" marL="0">
              <a:buNone/>
            </a:pPr>
            <a:r>
              <a:rPr lang="en-US" sz="4400" b="1" dirty="0">
                <a:solidFill>
                  <a:srgbClr val="FFFFFF"/>
                </a:solidFill>
              </a:rPr>
              <a:t>Code </a:t>
            </a:r>
            <a:pPr algn="l" indent="0" marL="0">
              <a:buNone/>
            </a:pPr>
            <a:r>
              <a:rPr lang="en-US" sz="4400" b="1" dirty="0">
                <a:solidFill>
                  <a:srgbClr val="D9A441"/>
                </a:solidFill>
              </a:rPr>
              <a:t>verifies.</a:t>
            </a:r>
            <a:endParaRPr lang="en-US" sz="4400" dirty="0"/>
          </a:p>
          <a:p>
            <a:pPr algn="l" indent="0" marL="0">
              <a:buNone/>
            </a:pPr>
            <a:r>
              <a:rPr lang="en-US" sz="4400" b="1" dirty="0">
                <a:solidFill>
                  <a:srgbClr val="FFFFFF"/>
                </a:solidFill>
              </a:rPr>
              <a:t>Humans </a:t>
            </a:r>
            <a:pPr algn="l" indent="0" marL="0">
              <a:buNone/>
            </a:pPr>
            <a:r>
              <a:rPr lang="en-US" sz="4400" b="1" dirty="0">
                <a:solidFill>
                  <a:srgbClr val="D9A441"/>
                </a:solidFill>
              </a:rPr>
              <a:t>approve.</a:t>
            </a:r>
            <a:endParaRPr lang="en-US" sz="4400" dirty="0"/>
          </a:p>
          <a:p>
            <a:pPr algn="l" indent="0" marL="0">
              <a:buNone/>
            </a:pPr>
            <a:r>
              <a:rPr lang="en-US" sz="4400" b="1" dirty="0">
                <a:solidFill>
                  <a:srgbClr val="FFFFFF"/>
                </a:solidFill>
              </a:rPr>
              <a:t>Everything is </a:t>
            </a:r>
            <a:pPr algn="l" indent="0" marL="0">
              <a:buNone/>
            </a:pPr>
            <a:r>
              <a:rPr lang="en-US" sz="4400" b="1" dirty="0">
                <a:solidFill>
                  <a:srgbClr val="D9A441"/>
                </a:solidFill>
              </a:rPr>
              <a:t>audited.</a:t>
            </a:r>
            <a:endParaRPr lang="en-US" sz="4400" dirty="0"/>
          </a:p>
        </p:txBody>
      </p:sp>
      <p:sp>
        <p:nvSpPr>
          <p:cNvPr id="4" name="Text 2"/>
          <p:cNvSpPr txBox="1"/>
          <p:nvPr/>
        </p:nvSpPr>
        <p:spPr>
          <a:xfrm>
            <a:off x="548640" y="4572000"/>
            <a:ext cx="6583680" cy="1097280"/>
          </a:xfrm>
          <a:prstGeom prst="rect">
            <a:avLst/>
          </a:prstGeom>
          <a:noFill/>
          <a:ln/>
        </p:spPr>
        <p:txBody>
          <a:bodyPr wrap="square" lIns="0" tIns="0" rIns="0" bIns="0" rtlCol="0" anchor="t"/>
          <a:lstStyle/>
          <a:p>
            <a:pPr indent="0" marL="0">
              <a:buNone/>
            </a:pPr>
            <a:r>
              <a:rPr lang="en-US" sz="1600" dirty="0">
                <a:solidFill>
                  <a:srgbClr val="C9D3E0"/>
                </a:solidFill>
              </a:rPr>
              <a:t>The LLM never writes a single cell. It explains and resolves genuinely ambiguous columns; deterministic, whitelisted code applies changes, and only after a person says yes.</a:t>
            </a:r>
            <a:endParaRPr lang="en-US" sz="1600" dirty="0"/>
          </a:p>
        </p:txBody>
      </p:sp>
      <p:sp>
        <p:nvSpPr>
          <p:cNvPr id="5" name="Shape 3"/>
          <p:cNvSpPr/>
          <p:nvPr/>
        </p:nvSpPr>
        <p:spPr>
          <a:xfrm>
            <a:off x="8092440" y="1371600"/>
            <a:ext cx="3566160" cy="1280160"/>
          </a:xfrm>
          <a:prstGeom prst="roundRect">
            <a:avLst>
              <a:gd name="adj" fmla="val 5714"/>
            </a:avLst>
          </a:prstGeom>
          <a:solidFill>
            <a:srgbClr val="1F3157"/>
          </a:solidFill>
          <a:ln w="12700">
            <a:solidFill>
              <a:srgbClr val="2E4A7A"/>
            </a:solidFill>
            <a:prstDash val="solid"/>
          </a:ln>
        </p:spPr>
      </p:sp>
      <p:sp>
        <p:nvSpPr>
          <p:cNvPr id="6" name="Text 4"/>
          <p:cNvSpPr txBox="1"/>
          <p:nvPr/>
        </p:nvSpPr>
        <p:spPr>
          <a:xfrm>
            <a:off x="8366760" y="1536192"/>
            <a:ext cx="3108960" cy="594360"/>
          </a:xfrm>
          <a:prstGeom prst="rect">
            <a:avLst/>
          </a:prstGeom>
          <a:noFill/>
          <a:ln/>
        </p:spPr>
        <p:txBody>
          <a:bodyPr wrap="square" lIns="0" tIns="0" rIns="0" bIns="0" rtlCol="0" anchor="t"/>
          <a:lstStyle/>
          <a:p>
            <a:pPr indent="0" marL="0">
              <a:buNone/>
            </a:pPr>
            <a:r>
              <a:rPr lang="en-US" sz="3200" b="1" dirty="0">
                <a:solidFill>
                  <a:srgbClr val="D9A441"/>
                </a:solidFill>
              </a:rPr>
              <a:t>0</a:t>
            </a:r>
            <a:endParaRPr lang="en-US" sz="3200" dirty="0"/>
          </a:p>
        </p:txBody>
      </p:sp>
      <p:sp>
        <p:nvSpPr>
          <p:cNvPr id="7" name="Text 5"/>
          <p:cNvSpPr txBox="1"/>
          <p:nvPr/>
        </p:nvSpPr>
        <p:spPr>
          <a:xfrm>
            <a:off x="8366760" y="2148840"/>
            <a:ext cx="3108960" cy="365760"/>
          </a:xfrm>
          <a:prstGeom prst="rect">
            <a:avLst/>
          </a:prstGeom>
          <a:noFill/>
          <a:ln/>
        </p:spPr>
        <p:txBody>
          <a:bodyPr wrap="square" lIns="0" tIns="0" rIns="0" bIns="0" rtlCol="0" anchor="t"/>
          <a:lstStyle/>
          <a:p>
            <a:pPr indent="0" marL="0">
              <a:buNone/>
            </a:pPr>
            <a:r>
              <a:rPr lang="en-US" sz="1300" dirty="0">
                <a:solidFill>
                  <a:srgbClr val="C9D3E0"/>
                </a:solidFill>
              </a:rPr>
              <a:t>changes applied without human approval</a:t>
            </a:r>
            <a:endParaRPr lang="en-US" sz="1300" dirty="0"/>
          </a:p>
        </p:txBody>
      </p:sp>
      <p:sp>
        <p:nvSpPr>
          <p:cNvPr id="8" name="Shape 6"/>
          <p:cNvSpPr/>
          <p:nvPr/>
        </p:nvSpPr>
        <p:spPr>
          <a:xfrm>
            <a:off x="8092440" y="2880360"/>
            <a:ext cx="3566160" cy="1280160"/>
          </a:xfrm>
          <a:prstGeom prst="roundRect">
            <a:avLst>
              <a:gd name="adj" fmla="val 5714"/>
            </a:avLst>
          </a:prstGeom>
          <a:solidFill>
            <a:srgbClr val="1F3157"/>
          </a:solidFill>
          <a:ln w="12700">
            <a:solidFill>
              <a:srgbClr val="2E4A7A"/>
            </a:solidFill>
            <a:prstDash val="solid"/>
          </a:ln>
        </p:spPr>
      </p:sp>
      <p:sp>
        <p:nvSpPr>
          <p:cNvPr id="9" name="Text 7"/>
          <p:cNvSpPr txBox="1"/>
          <p:nvPr/>
        </p:nvSpPr>
        <p:spPr>
          <a:xfrm>
            <a:off x="8366760" y="3044952"/>
            <a:ext cx="3108960" cy="594360"/>
          </a:xfrm>
          <a:prstGeom prst="rect">
            <a:avLst/>
          </a:prstGeom>
          <a:noFill/>
          <a:ln/>
        </p:spPr>
        <p:txBody>
          <a:bodyPr wrap="square" lIns="0" tIns="0" rIns="0" bIns="0" rtlCol="0" anchor="t"/>
          <a:lstStyle/>
          <a:p>
            <a:pPr indent="0" marL="0">
              <a:buNone/>
            </a:pPr>
            <a:r>
              <a:rPr lang="en-US" sz="3200" b="1" dirty="0">
                <a:solidFill>
                  <a:srgbClr val="D9A441"/>
                </a:solidFill>
              </a:rPr>
              <a:t>55 / 55</a:t>
            </a:r>
            <a:endParaRPr lang="en-US" sz="3200" dirty="0"/>
          </a:p>
        </p:txBody>
      </p:sp>
      <p:sp>
        <p:nvSpPr>
          <p:cNvPr id="10" name="Text 8"/>
          <p:cNvSpPr txBox="1"/>
          <p:nvPr/>
        </p:nvSpPr>
        <p:spPr>
          <a:xfrm>
            <a:off x="8366760" y="3657600"/>
            <a:ext cx="3108960" cy="365760"/>
          </a:xfrm>
          <a:prstGeom prst="rect">
            <a:avLst/>
          </a:prstGeom>
          <a:noFill/>
          <a:ln/>
        </p:spPr>
        <p:txBody>
          <a:bodyPr wrap="square" lIns="0" tIns="0" rIns="0" bIns="0" rtlCol="0" anchor="t"/>
          <a:lstStyle/>
          <a:p>
            <a:pPr indent="0" marL="0">
              <a:buNone/>
            </a:pPr>
            <a:r>
              <a:rPr lang="en-US" sz="1300" dirty="0">
                <a:solidFill>
                  <a:srgbClr val="C9D3E0"/>
                </a:solidFill>
              </a:rPr>
              <a:t>real broker columns mapped correctly</a:t>
            </a:r>
            <a:endParaRPr lang="en-US" sz="1300" dirty="0"/>
          </a:p>
        </p:txBody>
      </p:sp>
      <p:sp>
        <p:nvSpPr>
          <p:cNvPr id="11" name="Shape 9"/>
          <p:cNvSpPr/>
          <p:nvPr/>
        </p:nvSpPr>
        <p:spPr>
          <a:xfrm>
            <a:off x="8092440" y="4389120"/>
            <a:ext cx="3566160" cy="1280160"/>
          </a:xfrm>
          <a:prstGeom prst="roundRect">
            <a:avLst>
              <a:gd name="adj" fmla="val 5714"/>
            </a:avLst>
          </a:prstGeom>
          <a:solidFill>
            <a:srgbClr val="1F3157"/>
          </a:solidFill>
          <a:ln w="12700">
            <a:solidFill>
              <a:srgbClr val="2E4A7A"/>
            </a:solidFill>
            <a:prstDash val="solid"/>
          </a:ln>
        </p:spPr>
      </p:sp>
      <p:sp>
        <p:nvSpPr>
          <p:cNvPr id="12" name="Text 10"/>
          <p:cNvSpPr txBox="1"/>
          <p:nvPr/>
        </p:nvSpPr>
        <p:spPr>
          <a:xfrm>
            <a:off x="8366760" y="4553712"/>
            <a:ext cx="3108960" cy="594360"/>
          </a:xfrm>
          <a:prstGeom prst="rect">
            <a:avLst/>
          </a:prstGeom>
          <a:noFill/>
          <a:ln/>
        </p:spPr>
        <p:txBody>
          <a:bodyPr wrap="square" lIns="0" tIns="0" rIns="0" bIns="0" rtlCol="0" anchor="t"/>
          <a:lstStyle/>
          <a:p>
            <a:pPr indent="0" marL="0">
              <a:buNone/>
            </a:pPr>
            <a:r>
              <a:rPr lang="en-US" sz="3200" b="1" dirty="0">
                <a:solidFill>
                  <a:srgbClr val="D9A441"/>
                </a:solidFill>
              </a:rPr>
              <a:t>15–22 s</a:t>
            </a:r>
            <a:endParaRPr lang="en-US" sz="3200" dirty="0"/>
          </a:p>
        </p:txBody>
      </p:sp>
      <p:sp>
        <p:nvSpPr>
          <p:cNvPr id="13" name="Text 11"/>
          <p:cNvSpPr txBox="1"/>
          <p:nvPr/>
        </p:nvSpPr>
        <p:spPr>
          <a:xfrm>
            <a:off x="8366760" y="5166360"/>
            <a:ext cx="3108960" cy="365760"/>
          </a:xfrm>
          <a:prstGeom prst="rect">
            <a:avLst/>
          </a:prstGeom>
          <a:noFill/>
          <a:ln/>
        </p:spPr>
        <p:txBody>
          <a:bodyPr wrap="square" lIns="0" tIns="0" rIns="0" bIns="0" rtlCol="0" anchor="t"/>
          <a:lstStyle/>
          <a:p>
            <a:pPr indent="0" marL="0">
              <a:buNone/>
            </a:pPr>
            <a:r>
              <a:rPr lang="en-US" sz="1300" dirty="0">
                <a:solidFill>
                  <a:srgbClr val="C9D3E0"/>
                </a:solidFill>
              </a:rPr>
              <a:t>per real SOV, end to end, cold start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03 · SOLUTION OVERVIEW</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One upload, four agents, one audit-ready file</a:t>
            </a:r>
            <a:endParaRPr lang="en-US" sz="3000" dirty="0"/>
          </a:p>
        </p:txBody>
      </p:sp>
      <p:sp>
        <p:nvSpPr>
          <p:cNvPr id="4" name="flow-Upload SOV"/>
          <p:cNvSpPr/>
          <p:nvPr/>
        </p:nvSpPr>
        <p:spPr>
          <a:xfrm>
            <a:off x="548640" y="1691640"/>
            <a:ext cx="2468880" cy="1325880"/>
          </a:xfrm>
          <a:prstGeom prst="roundRect">
            <a:avLst>
              <a:gd name="adj" fmla="val 5517"/>
            </a:avLst>
          </a:prstGeom>
          <a:solidFill>
            <a:srgbClr val="FDFCF9"/>
          </a:solidFill>
          <a:ln w="9525">
            <a:solidFill>
              <a:srgbClr val="D8D3C6"/>
            </a:solidFill>
            <a:prstDash val="solid"/>
          </a:ln>
        </p:spPr>
      </p:sp>
      <p:sp>
        <p:nvSpPr>
          <p:cNvPr id="5" name="Text 3"/>
          <p:cNvSpPr txBox="1"/>
          <p:nvPr/>
        </p:nvSpPr>
        <p:spPr>
          <a:xfrm>
            <a:off x="731520" y="1828800"/>
            <a:ext cx="2103120" cy="228600"/>
          </a:xfrm>
          <a:prstGeom prst="rect">
            <a:avLst/>
          </a:prstGeom>
          <a:noFill/>
          <a:ln/>
        </p:spPr>
        <p:txBody>
          <a:bodyPr wrap="square" lIns="0" tIns="0" rIns="0" bIns="0" rtlCol="0" anchor="t"/>
          <a:lstStyle/>
          <a:p>
            <a:pPr indent="0" marL="0">
              <a:buNone/>
            </a:pPr>
            <a:r>
              <a:rPr lang="en-US" sz="1000" b="1" spc="100" kern="0" dirty="0">
                <a:solidFill>
                  <a:srgbClr val="8A5A0B"/>
                </a:solidFill>
              </a:rPr>
              <a:t>INPUT</a:t>
            </a:r>
            <a:endParaRPr lang="en-US" sz="1000" dirty="0"/>
          </a:p>
        </p:txBody>
      </p:sp>
      <p:sp>
        <p:nvSpPr>
          <p:cNvPr id="6" name="Text 4"/>
          <p:cNvSpPr txBox="1"/>
          <p:nvPr/>
        </p:nvSpPr>
        <p:spPr>
          <a:xfrm>
            <a:off x="731520" y="20756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Upload SOV</a:t>
            </a:r>
            <a:endParaRPr lang="en-US" sz="1500" dirty="0"/>
          </a:p>
        </p:txBody>
      </p:sp>
      <p:sp>
        <p:nvSpPr>
          <p:cNvPr id="7" name="Text 5"/>
          <p:cNvSpPr txBox="1"/>
          <p:nvPr/>
        </p:nvSpPr>
        <p:spPr>
          <a:xfrm>
            <a:off x="731520" y="2423160"/>
            <a:ext cx="2148840" cy="548640"/>
          </a:xfrm>
          <a:prstGeom prst="rect">
            <a:avLst/>
          </a:prstGeom>
          <a:noFill/>
          <a:ln/>
        </p:spPr>
        <p:txBody>
          <a:bodyPr wrap="square" lIns="0" tIns="0" rIns="0" bIns="0" rtlCol="0" anchor="t"/>
          <a:lstStyle/>
          <a:p>
            <a:pPr indent="0" marL="0">
              <a:buNone/>
            </a:pPr>
            <a:r>
              <a:rPr lang="en-US" sz="1100" dirty="0">
                <a:solidFill>
                  <a:srgbClr val="3D4757"/>
                </a:solidFill>
              </a:rPr>
              <a:t>.xlsx or .csv, multi-sheet, merged cells</a:t>
            </a:r>
            <a:endParaRPr lang="en-US" sz="1100" dirty="0"/>
          </a:p>
        </p:txBody>
      </p:sp>
      <p:sp>
        <p:nvSpPr>
          <p:cNvPr id="8" name="flow-Sheet Discovery"/>
          <p:cNvSpPr/>
          <p:nvPr/>
        </p:nvSpPr>
        <p:spPr>
          <a:xfrm>
            <a:off x="3423818" y="1691640"/>
            <a:ext cx="2468880" cy="1325880"/>
          </a:xfrm>
          <a:prstGeom prst="roundRect">
            <a:avLst>
              <a:gd name="adj" fmla="val 5517"/>
            </a:avLst>
          </a:prstGeom>
          <a:solidFill>
            <a:srgbClr val="FDFCF9"/>
          </a:solidFill>
          <a:ln w="9525">
            <a:solidFill>
              <a:srgbClr val="D8D3C6"/>
            </a:solidFill>
            <a:prstDash val="solid"/>
          </a:ln>
        </p:spPr>
      </p:sp>
      <p:sp>
        <p:nvSpPr>
          <p:cNvPr id="9" name="Text 7"/>
          <p:cNvSpPr txBox="1"/>
          <p:nvPr/>
        </p:nvSpPr>
        <p:spPr>
          <a:xfrm>
            <a:off x="3606698" y="1828800"/>
            <a:ext cx="2103120" cy="228600"/>
          </a:xfrm>
          <a:prstGeom prst="rect">
            <a:avLst/>
          </a:prstGeom>
          <a:noFill/>
          <a:ln/>
        </p:spPr>
        <p:txBody>
          <a:bodyPr wrap="square" lIns="0" tIns="0" rIns="0" bIns="0" rtlCol="0" anchor="t"/>
          <a:lstStyle/>
          <a:p>
            <a:pPr indent="0" marL="0">
              <a:buNone/>
            </a:pPr>
            <a:r>
              <a:rPr lang="en-US" sz="1000" b="1" spc="100" kern="0" dirty="0">
                <a:solidFill>
                  <a:srgbClr val="8A5A0B"/>
                </a:solidFill>
              </a:rPr>
              <a:t>AGENT 1</a:t>
            </a:r>
            <a:endParaRPr lang="en-US" sz="1000" dirty="0"/>
          </a:p>
        </p:txBody>
      </p:sp>
      <p:sp>
        <p:nvSpPr>
          <p:cNvPr id="10" name="Text 8"/>
          <p:cNvSpPr txBox="1"/>
          <p:nvPr/>
        </p:nvSpPr>
        <p:spPr>
          <a:xfrm>
            <a:off x="3606698" y="20756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Sheet Discovery</a:t>
            </a:r>
            <a:endParaRPr lang="en-US" sz="1500" dirty="0"/>
          </a:p>
        </p:txBody>
      </p:sp>
      <p:sp>
        <p:nvSpPr>
          <p:cNvPr id="11" name="Text 9"/>
          <p:cNvSpPr txBox="1"/>
          <p:nvPr/>
        </p:nvSpPr>
        <p:spPr>
          <a:xfrm>
            <a:off x="3606698" y="2423160"/>
            <a:ext cx="2148840" cy="548640"/>
          </a:xfrm>
          <a:prstGeom prst="rect">
            <a:avLst/>
          </a:prstGeom>
          <a:noFill/>
          <a:ln/>
        </p:spPr>
        <p:txBody>
          <a:bodyPr wrap="square" lIns="0" tIns="0" rIns="0" bIns="0" rtlCol="0" anchor="t"/>
          <a:lstStyle/>
          <a:p>
            <a:pPr indent="0" marL="0">
              <a:buNone/>
            </a:pPr>
            <a:r>
              <a:rPr lang="en-US" sz="1100" dirty="0">
                <a:solidFill>
                  <a:srgbClr val="3D4757"/>
                </a:solidFill>
              </a:rPr>
              <a:t>Ranks tabs, finds header row, merges data tabs</a:t>
            </a:r>
            <a:endParaRPr lang="en-US" sz="1100" dirty="0"/>
          </a:p>
        </p:txBody>
      </p:sp>
      <p:sp>
        <p:nvSpPr>
          <p:cNvPr id="12" name="flow-Schema Mapping"/>
          <p:cNvSpPr/>
          <p:nvPr/>
        </p:nvSpPr>
        <p:spPr>
          <a:xfrm>
            <a:off x="6298997" y="1691640"/>
            <a:ext cx="2468880" cy="1325880"/>
          </a:xfrm>
          <a:prstGeom prst="roundRect">
            <a:avLst>
              <a:gd name="adj" fmla="val 5517"/>
            </a:avLst>
          </a:prstGeom>
          <a:solidFill>
            <a:srgbClr val="FDFCF9"/>
          </a:solidFill>
          <a:ln w="9525">
            <a:solidFill>
              <a:srgbClr val="D8D3C6"/>
            </a:solidFill>
            <a:prstDash val="solid"/>
          </a:ln>
        </p:spPr>
      </p:sp>
      <p:sp>
        <p:nvSpPr>
          <p:cNvPr id="13" name="Text 11"/>
          <p:cNvSpPr txBox="1"/>
          <p:nvPr/>
        </p:nvSpPr>
        <p:spPr>
          <a:xfrm>
            <a:off x="6481877" y="1828800"/>
            <a:ext cx="2103120" cy="228600"/>
          </a:xfrm>
          <a:prstGeom prst="rect">
            <a:avLst/>
          </a:prstGeom>
          <a:noFill/>
          <a:ln/>
        </p:spPr>
        <p:txBody>
          <a:bodyPr wrap="square" lIns="0" tIns="0" rIns="0" bIns="0" rtlCol="0" anchor="t"/>
          <a:lstStyle/>
          <a:p>
            <a:pPr indent="0" marL="0">
              <a:buNone/>
            </a:pPr>
            <a:r>
              <a:rPr lang="en-US" sz="1000" b="1" spc="100" kern="0" dirty="0">
                <a:solidFill>
                  <a:srgbClr val="8A5A0B"/>
                </a:solidFill>
              </a:rPr>
              <a:t>AGENT 2</a:t>
            </a:r>
            <a:endParaRPr lang="en-US" sz="1000" dirty="0"/>
          </a:p>
        </p:txBody>
      </p:sp>
      <p:sp>
        <p:nvSpPr>
          <p:cNvPr id="14" name="Text 12"/>
          <p:cNvSpPr txBox="1"/>
          <p:nvPr/>
        </p:nvSpPr>
        <p:spPr>
          <a:xfrm>
            <a:off x="6481877" y="20756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Schema Mapping</a:t>
            </a:r>
            <a:endParaRPr lang="en-US" sz="1500" dirty="0"/>
          </a:p>
        </p:txBody>
      </p:sp>
      <p:sp>
        <p:nvSpPr>
          <p:cNvPr id="15" name="Text 13"/>
          <p:cNvSpPr txBox="1"/>
          <p:nvPr/>
        </p:nvSpPr>
        <p:spPr>
          <a:xfrm>
            <a:off x="6481877" y="2423160"/>
            <a:ext cx="2148840" cy="548640"/>
          </a:xfrm>
          <a:prstGeom prst="rect">
            <a:avLst/>
          </a:prstGeom>
          <a:noFill/>
          <a:ln/>
        </p:spPr>
        <p:txBody>
          <a:bodyPr wrap="square" lIns="0" tIns="0" rIns="0" bIns="0" rtlCol="0" anchor="t"/>
          <a:lstStyle/>
          <a:p>
            <a:pPr indent="0" marL="0">
              <a:buNone/>
            </a:pPr>
            <a:r>
              <a:rPr lang="en-US" sz="1100" dirty="0">
                <a:solidFill>
                  <a:srgbClr val="3D4757"/>
                </a:solidFill>
              </a:rPr>
              <a:t>Maps headers to 17 fields, checks the values</a:t>
            </a:r>
            <a:endParaRPr lang="en-US" sz="1100" dirty="0"/>
          </a:p>
        </p:txBody>
      </p:sp>
      <p:sp>
        <p:nvSpPr>
          <p:cNvPr id="16" name="flow-Quality &amp; Reasoning"/>
          <p:cNvSpPr/>
          <p:nvPr/>
        </p:nvSpPr>
        <p:spPr>
          <a:xfrm>
            <a:off x="9174175" y="1691640"/>
            <a:ext cx="2468880" cy="1325880"/>
          </a:xfrm>
          <a:prstGeom prst="roundRect">
            <a:avLst>
              <a:gd name="adj" fmla="val 5517"/>
            </a:avLst>
          </a:prstGeom>
          <a:solidFill>
            <a:srgbClr val="FDFCF9"/>
          </a:solidFill>
          <a:ln w="9525">
            <a:solidFill>
              <a:srgbClr val="D8D3C6"/>
            </a:solidFill>
            <a:prstDash val="solid"/>
          </a:ln>
        </p:spPr>
      </p:sp>
      <p:sp>
        <p:nvSpPr>
          <p:cNvPr id="17" name="Text 15"/>
          <p:cNvSpPr txBox="1"/>
          <p:nvPr/>
        </p:nvSpPr>
        <p:spPr>
          <a:xfrm>
            <a:off x="9357055" y="1828800"/>
            <a:ext cx="2103120" cy="228600"/>
          </a:xfrm>
          <a:prstGeom prst="rect">
            <a:avLst/>
          </a:prstGeom>
          <a:noFill/>
          <a:ln/>
        </p:spPr>
        <p:txBody>
          <a:bodyPr wrap="square" lIns="0" tIns="0" rIns="0" bIns="0" rtlCol="0" anchor="t"/>
          <a:lstStyle/>
          <a:p>
            <a:pPr indent="0" marL="0">
              <a:buNone/>
            </a:pPr>
            <a:r>
              <a:rPr lang="en-US" sz="1000" b="1" spc="100" kern="0" dirty="0">
                <a:solidFill>
                  <a:srgbClr val="8A5A0B"/>
                </a:solidFill>
              </a:rPr>
              <a:t>AGENT 3</a:t>
            </a:r>
            <a:endParaRPr lang="en-US" sz="1000" dirty="0"/>
          </a:p>
        </p:txBody>
      </p:sp>
      <p:sp>
        <p:nvSpPr>
          <p:cNvPr id="18" name="Text 16"/>
          <p:cNvSpPr txBox="1"/>
          <p:nvPr/>
        </p:nvSpPr>
        <p:spPr>
          <a:xfrm>
            <a:off x="9357055" y="20756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Quality &amp; Reasoning</a:t>
            </a:r>
            <a:endParaRPr lang="en-US" sz="1500" dirty="0"/>
          </a:p>
        </p:txBody>
      </p:sp>
      <p:sp>
        <p:nvSpPr>
          <p:cNvPr id="19" name="Text 17"/>
          <p:cNvSpPr txBox="1"/>
          <p:nvPr/>
        </p:nvSpPr>
        <p:spPr>
          <a:xfrm>
            <a:off x="9357055" y="2423160"/>
            <a:ext cx="2148840" cy="548640"/>
          </a:xfrm>
          <a:prstGeom prst="rect">
            <a:avLst/>
          </a:prstGeom>
          <a:noFill/>
          <a:ln/>
        </p:spPr>
        <p:txBody>
          <a:bodyPr wrap="square" lIns="0" tIns="0" rIns="0" bIns="0" rtlCol="0" anchor="t"/>
          <a:lstStyle/>
          <a:p>
            <a:pPr indent="0" marL="0">
              <a:buNone/>
            </a:pPr>
            <a:r>
              <a:rPr lang="en-US" sz="1100" dirty="0">
                <a:solidFill>
                  <a:srgbClr val="3D4757"/>
                </a:solidFill>
              </a:rPr>
              <a:t>Finds anomalies, drafts explained fixes</a:t>
            </a:r>
            <a:endParaRPr lang="en-US" sz="1100" dirty="0"/>
          </a:p>
        </p:txBody>
      </p:sp>
      <p:sp>
        <p:nvSpPr>
          <p:cNvPr id="20" name="flow-Human Review"/>
          <p:cNvSpPr/>
          <p:nvPr/>
        </p:nvSpPr>
        <p:spPr>
          <a:xfrm>
            <a:off x="9174175" y="4206240"/>
            <a:ext cx="2468880" cy="1325880"/>
          </a:xfrm>
          <a:prstGeom prst="roundRect">
            <a:avLst>
              <a:gd name="adj" fmla="val 5517"/>
            </a:avLst>
          </a:prstGeom>
          <a:solidFill>
            <a:srgbClr val="F4E6C6"/>
          </a:solidFill>
          <a:ln w="9525">
            <a:solidFill>
              <a:srgbClr val="D8D3C6"/>
            </a:solidFill>
            <a:prstDash val="solid"/>
          </a:ln>
        </p:spPr>
      </p:sp>
      <p:sp>
        <p:nvSpPr>
          <p:cNvPr id="21" name="Text 19"/>
          <p:cNvSpPr txBox="1"/>
          <p:nvPr/>
        </p:nvSpPr>
        <p:spPr>
          <a:xfrm>
            <a:off x="9357055" y="4343400"/>
            <a:ext cx="2103120" cy="228600"/>
          </a:xfrm>
          <a:prstGeom prst="rect">
            <a:avLst/>
          </a:prstGeom>
          <a:noFill/>
          <a:ln/>
        </p:spPr>
        <p:txBody>
          <a:bodyPr wrap="square" lIns="0" tIns="0" rIns="0" bIns="0" rtlCol="0" anchor="t"/>
          <a:lstStyle/>
          <a:p>
            <a:pPr indent="0" marL="0">
              <a:buNone/>
            </a:pPr>
            <a:r>
              <a:rPr lang="en-US" sz="1000" b="1" spc="100" kern="0" dirty="0">
                <a:solidFill>
                  <a:srgbClr val="8A5A0B"/>
                </a:solidFill>
              </a:rPr>
              <a:t>HUMAN GATE</a:t>
            </a:r>
            <a:endParaRPr lang="en-US" sz="1000" dirty="0"/>
          </a:p>
        </p:txBody>
      </p:sp>
      <p:sp>
        <p:nvSpPr>
          <p:cNvPr id="22" name="Text 20"/>
          <p:cNvSpPr txBox="1"/>
          <p:nvPr/>
        </p:nvSpPr>
        <p:spPr>
          <a:xfrm>
            <a:off x="9357055" y="45902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Human Review</a:t>
            </a:r>
            <a:endParaRPr lang="en-US" sz="1500" dirty="0"/>
          </a:p>
        </p:txBody>
      </p:sp>
      <p:sp>
        <p:nvSpPr>
          <p:cNvPr id="23" name="Text 21"/>
          <p:cNvSpPr txBox="1"/>
          <p:nvPr/>
        </p:nvSpPr>
        <p:spPr>
          <a:xfrm>
            <a:off x="9357055" y="4937760"/>
            <a:ext cx="2148840" cy="548640"/>
          </a:xfrm>
          <a:prstGeom prst="rect">
            <a:avLst/>
          </a:prstGeom>
          <a:noFill/>
          <a:ln/>
        </p:spPr>
        <p:txBody>
          <a:bodyPr wrap="square" lIns="0" tIns="0" rIns="0" bIns="0" rtlCol="0" anchor="t"/>
          <a:lstStyle/>
          <a:p>
            <a:pPr indent="0" marL="0">
              <a:buNone/>
            </a:pPr>
            <a:r>
              <a:rPr lang="en-US" sz="1100" dirty="0">
                <a:solidFill>
                  <a:srgbClr val="3D4757"/>
                </a:solidFill>
              </a:rPr>
              <a:t>Approve, reject with a note, or assign</a:t>
            </a:r>
            <a:endParaRPr lang="en-US" sz="1100" dirty="0"/>
          </a:p>
        </p:txBody>
      </p:sp>
      <p:sp>
        <p:nvSpPr>
          <p:cNvPr id="24" name="flow-Transformation"/>
          <p:cNvSpPr/>
          <p:nvPr/>
        </p:nvSpPr>
        <p:spPr>
          <a:xfrm>
            <a:off x="6298997" y="4206240"/>
            <a:ext cx="2468880" cy="1325880"/>
          </a:xfrm>
          <a:prstGeom prst="roundRect">
            <a:avLst>
              <a:gd name="adj" fmla="val 5517"/>
            </a:avLst>
          </a:prstGeom>
          <a:solidFill>
            <a:srgbClr val="FDFCF9"/>
          </a:solidFill>
          <a:ln w="9525">
            <a:solidFill>
              <a:srgbClr val="D8D3C6"/>
            </a:solidFill>
            <a:prstDash val="solid"/>
          </a:ln>
        </p:spPr>
      </p:sp>
      <p:sp>
        <p:nvSpPr>
          <p:cNvPr id="25" name="Text 23"/>
          <p:cNvSpPr txBox="1"/>
          <p:nvPr/>
        </p:nvSpPr>
        <p:spPr>
          <a:xfrm>
            <a:off x="6481877" y="4343400"/>
            <a:ext cx="2103120" cy="228600"/>
          </a:xfrm>
          <a:prstGeom prst="rect">
            <a:avLst/>
          </a:prstGeom>
          <a:noFill/>
          <a:ln/>
        </p:spPr>
        <p:txBody>
          <a:bodyPr wrap="square" lIns="0" tIns="0" rIns="0" bIns="0" rtlCol="0" anchor="t"/>
          <a:lstStyle/>
          <a:p>
            <a:pPr indent="0" marL="0">
              <a:buNone/>
            </a:pPr>
            <a:r>
              <a:rPr lang="en-US" sz="1000" b="1" spc="100" kern="0" dirty="0">
                <a:solidFill>
                  <a:srgbClr val="8A5A0B"/>
                </a:solidFill>
              </a:rPr>
              <a:t>AGENT 4</a:t>
            </a:r>
            <a:endParaRPr lang="en-US" sz="1000" dirty="0"/>
          </a:p>
        </p:txBody>
      </p:sp>
      <p:sp>
        <p:nvSpPr>
          <p:cNvPr id="26" name="Text 24"/>
          <p:cNvSpPr txBox="1"/>
          <p:nvPr/>
        </p:nvSpPr>
        <p:spPr>
          <a:xfrm>
            <a:off x="6481877" y="45902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Transformation</a:t>
            </a:r>
            <a:endParaRPr lang="en-US" sz="1500" dirty="0"/>
          </a:p>
        </p:txBody>
      </p:sp>
      <p:sp>
        <p:nvSpPr>
          <p:cNvPr id="27" name="Text 25"/>
          <p:cNvSpPr txBox="1"/>
          <p:nvPr/>
        </p:nvSpPr>
        <p:spPr>
          <a:xfrm>
            <a:off x="6481877" y="4937760"/>
            <a:ext cx="2148840" cy="548640"/>
          </a:xfrm>
          <a:prstGeom prst="rect">
            <a:avLst/>
          </a:prstGeom>
          <a:noFill/>
          <a:ln/>
        </p:spPr>
        <p:txBody>
          <a:bodyPr wrap="square" lIns="0" tIns="0" rIns="0" bIns="0" rtlCol="0" anchor="t"/>
          <a:lstStyle/>
          <a:p>
            <a:pPr indent="0" marL="0">
              <a:buNone/>
            </a:pPr>
            <a:r>
              <a:rPr lang="en-US" sz="1100" dirty="0">
                <a:solidFill>
                  <a:srgbClr val="3D4757"/>
                </a:solidFill>
              </a:rPr>
              <a:t>Applies approved, whitelisted changes only</a:t>
            </a:r>
            <a:endParaRPr lang="en-US" sz="1100" dirty="0"/>
          </a:p>
        </p:txBody>
      </p:sp>
      <p:sp>
        <p:nvSpPr>
          <p:cNvPr id="28" name="flow-Deliverables"/>
          <p:cNvSpPr/>
          <p:nvPr/>
        </p:nvSpPr>
        <p:spPr>
          <a:xfrm>
            <a:off x="3423818" y="4206240"/>
            <a:ext cx="2468880" cy="1325880"/>
          </a:xfrm>
          <a:prstGeom prst="roundRect">
            <a:avLst>
              <a:gd name="adj" fmla="val 5517"/>
            </a:avLst>
          </a:prstGeom>
          <a:solidFill>
            <a:srgbClr val="D6E8E6"/>
          </a:solidFill>
          <a:ln w="9525">
            <a:solidFill>
              <a:srgbClr val="D8D3C6"/>
            </a:solidFill>
            <a:prstDash val="solid"/>
          </a:ln>
        </p:spPr>
      </p:sp>
      <p:sp>
        <p:nvSpPr>
          <p:cNvPr id="29" name="Text 27"/>
          <p:cNvSpPr txBox="1"/>
          <p:nvPr/>
        </p:nvSpPr>
        <p:spPr>
          <a:xfrm>
            <a:off x="3606698" y="4343400"/>
            <a:ext cx="2103120" cy="228600"/>
          </a:xfrm>
          <a:prstGeom prst="rect">
            <a:avLst/>
          </a:prstGeom>
          <a:noFill/>
          <a:ln/>
        </p:spPr>
        <p:txBody>
          <a:bodyPr wrap="square" lIns="0" tIns="0" rIns="0" bIns="0" rtlCol="0" anchor="t"/>
          <a:lstStyle/>
          <a:p>
            <a:pPr indent="0" marL="0">
              <a:buNone/>
            </a:pPr>
            <a:r>
              <a:rPr lang="en-US" sz="1000" b="1" spc="100" kern="0" dirty="0">
                <a:solidFill>
                  <a:srgbClr val="1D6F6F"/>
                </a:solidFill>
              </a:rPr>
              <a:t>OUTPUT</a:t>
            </a:r>
            <a:endParaRPr lang="en-US" sz="1000" dirty="0"/>
          </a:p>
        </p:txBody>
      </p:sp>
      <p:sp>
        <p:nvSpPr>
          <p:cNvPr id="30" name="Text 28"/>
          <p:cNvSpPr txBox="1"/>
          <p:nvPr/>
        </p:nvSpPr>
        <p:spPr>
          <a:xfrm>
            <a:off x="3606698" y="45902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Deliverables</a:t>
            </a:r>
            <a:endParaRPr lang="en-US" sz="1500" dirty="0"/>
          </a:p>
        </p:txBody>
      </p:sp>
      <p:sp>
        <p:nvSpPr>
          <p:cNvPr id="31" name="Text 29"/>
          <p:cNvSpPr txBox="1"/>
          <p:nvPr/>
        </p:nvSpPr>
        <p:spPr>
          <a:xfrm>
            <a:off x="3606698" y="4937760"/>
            <a:ext cx="2148840" cy="548640"/>
          </a:xfrm>
          <a:prstGeom prst="rect">
            <a:avLst/>
          </a:prstGeom>
          <a:noFill/>
          <a:ln/>
        </p:spPr>
        <p:txBody>
          <a:bodyPr wrap="square" lIns="0" tIns="0" rIns="0" bIns="0" rtlCol="0" anchor="t"/>
          <a:lstStyle/>
          <a:p>
            <a:pPr indent="0" marL="0">
              <a:buNone/>
            </a:pPr>
            <a:r>
              <a:rPr lang="en-US" sz="1100" dirty="0">
                <a:solidFill>
                  <a:srgbClr val="3D4757"/>
                </a:solidFill>
              </a:rPr>
              <a:t>Cleaned_SOV.xlsx + Audit_Log.xlsx</a:t>
            </a:r>
            <a:endParaRPr lang="en-US" sz="1100" dirty="0"/>
          </a:p>
        </p:txBody>
      </p:sp>
      <p:sp>
        <p:nvSpPr>
          <p:cNvPr id="32" name="flow-Vector Memory"/>
          <p:cNvSpPr/>
          <p:nvPr/>
        </p:nvSpPr>
        <p:spPr>
          <a:xfrm>
            <a:off x="548640" y="4206240"/>
            <a:ext cx="2468880" cy="1325880"/>
          </a:xfrm>
          <a:prstGeom prst="roundRect">
            <a:avLst>
              <a:gd name="adj" fmla="val 5517"/>
            </a:avLst>
          </a:prstGeom>
          <a:solidFill>
            <a:srgbClr val="FFFFFF"/>
          </a:solidFill>
          <a:ln w="9525">
            <a:solidFill>
              <a:srgbClr val="D8D3C6"/>
            </a:solidFill>
            <a:prstDash val="solid"/>
          </a:ln>
        </p:spPr>
      </p:sp>
      <p:sp>
        <p:nvSpPr>
          <p:cNvPr id="33" name="Text 31"/>
          <p:cNvSpPr txBox="1"/>
          <p:nvPr/>
        </p:nvSpPr>
        <p:spPr>
          <a:xfrm>
            <a:off x="731520" y="4343400"/>
            <a:ext cx="2103120" cy="228600"/>
          </a:xfrm>
          <a:prstGeom prst="rect">
            <a:avLst/>
          </a:prstGeom>
          <a:noFill/>
          <a:ln/>
        </p:spPr>
        <p:txBody>
          <a:bodyPr wrap="square" lIns="0" tIns="0" rIns="0" bIns="0" rtlCol="0" anchor="t"/>
          <a:lstStyle/>
          <a:p>
            <a:pPr indent="0" marL="0">
              <a:buNone/>
            </a:pPr>
            <a:r>
              <a:rPr lang="en-US" sz="1000" b="1" spc="100" kern="0" dirty="0">
                <a:solidFill>
                  <a:srgbClr val="1D6F6F"/>
                </a:solidFill>
              </a:rPr>
              <a:t>LEARNING</a:t>
            </a:r>
            <a:endParaRPr lang="en-US" sz="1000" dirty="0"/>
          </a:p>
        </p:txBody>
      </p:sp>
      <p:sp>
        <p:nvSpPr>
          <p:cNvPr id="34" name="Text 32"/>
          <p:cNvSpPr txBox="1"/>
          <p:nvPr/>
        </p:nvSpPr>
        <p:spPr>
          <a:xfrm>
            <a:off x="731520" y="4590288"/>
            <a:ext cx="2103120" cy="320040"/>
          </a:xfrm>
          <a:prstGeom prst="rect">
            <a:avLst/>
          </a:prstGeom>
          <a:noFill/>
          <a:ln/>
        </p:spPr>
        <p:txBody>
          <a:bodyPr wrap="square" lIns="0" tIns="0" rIns="0" bIns="0" rtlCol="0" anchor="t"/>
          <a:lstStyle/>
          <a:p>
            <a:pPr indent="0" marL="0">
              <a:buNone/>
            </a:pPr>
            <a:r>
              <a:rPr lang="en-US" sz="1500" b="1" dirty="0">
                <a:solidFill>
                  <a:srgbClr val="14213D"/>
                </a:solidFill>
              </a:rPr>
              <a:t>Vector Memory</a:t>
            </a:r>
            <a:endParaRPr lang="en-US" sz="1500" dirty="0"/>
          </a:p>
        </p:txBody>
      </p:sp>
      <p:sp>
        <p:nvSpPr>
          <p:cNvPr id="35" name="Text 33"/>
          <p:cNvSpPr txBox="1"/>
          <p:nvPr/>
        </p:nvSpPr>
        <p:spPr>
          <a:xfrm>
            <a:off x="731520" y="4937760"/>
            <a:ext cx="2148840" cy="548640"/>
          </a:xfrm>
          <a:prstGeom prst="rect">
            <a:avLst/>
          </a:prstGeom>
          <a:noFill/>
          <a:ln/>
        </p:spPr>
        <p:txBody>
          <a:bodyPr wrap="square" lIns="0" tIns="0" rIns="0" bIns="0" rtlCol="0" anchor="t"/>
          <a:lstStyle/>
          <a:p>
            <a:pPr indent="0" marL="0">
              <a:buNone/>
            </a:pPr>
            <a:r>
              <a:rPr lang="en-US" sz="1100" dirty="0">
                <a:solidFill>
                  <a:srgbClr val="3D4757"/>
                </a:solidFill>
              </a:rPr>
              <a:t>Approved mappings recalled next time</a:t>
            </a:r>
            <a:endParaRPr lang="en-US" sz="1100" dirty="0"/>
          </a:p>
        </p:txBody>
      </p:sp>
      <p:sp>
        <p:nvSpPr>
          <p:cNvPr id="36" name="Shape 34"/>
          <p:cNvSpPr/>
          <p:nvPr/>
        </p:nvSpPr>
        <p:spPr>
          <a:xfrm>
            <a:off x="3044952" y="2350008"/>
            <a:ext cx="351434" cy="914"/>
          </a:xfrm>
          <a:prstGeom prst="line">
            <a:avLst/>
          </a:prstGeom>
          <a:noFill/>
          <a:ln w="19050">
            <a:solidFill>
              <a:srgbClr val="5A6472"/>
            </a:solidFill>
            <a:prstDash val="solid"/>
            <a:tailEnd type="triangle"/>
          </a:ln>
        </p:spPr>
      </p:sp>
      <p:sp>
        <p:nvSpPr>
          <p:cNvPr id="37" name="Shape 35"/>
          <p:cNvSpPr/>
          <p:nvPr/>
        </p:nvSpPr>
        <p:spPr>
          <a:xfrm>
            <a:off x="5920130" y="2350008"/>
            <a:ext cx="351434" cy="914"/>
          </a:xfrm>
          <a:prstGeom prst="line">
            <a:avLst/>
          </a:prstGeom>
          <a:noFill/>
          <a:ln w="19050">
            <a:solidFill>
              <a:srgbClr val="5A6472"/>
            </a:solidFill>
            <a:prstDash val="solid"/>
            <a:tailEnd type="triangle"/>
          </a:ln>
        </p:spPr>
      </p:sp>
      <p:sp>
        <p:nvSpPr>
          <p:cNvPr id="38" name="Shape 36"/>
          <p:cNvSpPr/>
          <p:nvPr/>
        </p:nvSpPr>
        <p:spPr>
          <a:xfrm>
            <a:off x="8795309" y="2350008"/>
            <a:ext cx="351434" cy="914"/>
          </a:xfrm>
          <a:prstGeom prst="line">
            <a:avLst/>
          </a:prstGeom>
          <a:noFill/>
          <a:ln w="19050">
            <a:solidFill>
              <a:srgbClr val="5A6472"/>
            </a:solidFill>
            <a:prstDash val="solid"/>
            <a:tailEnd type="triangle"/>
          </a:ln>
        </p:spPr>
      </p:sp>
      <p:sp>
        <p:nvSpPr>
          <p:cNvPr id="39" name="Shape 37"/>
          <p:cNvSpPr/>
          <p:nvPr/>
        </p:nvSpPr>
        <p:spPr>
          <a:xfrm>
            <a:off x="9997135" y="3044952"/>
            <a:ext cx="914" cy="1133856"/>
          </a:xfrm>
          <a:prstGeom prst="line">
            <a:avLst/>
          </a:prstGeom>
          <a:noFill/>
          <a:ln w="19050">
            <a:solidFill>
              <a:srgbClr val="5A6472"/>
            </a:solidFill>
            <a:prstDash val="solid"/>
            <a:tailEnd type="triangle"/>
          </a:ln>
        </p:spPr>
      </p:sp>
      <p:sp>
        <p:nvSpPr>
          <p:cNvPr id="40" name="Shape 38"/>
          <p:cNvSpPr/>
          <p:nvPr/>
        </p:nvSpPr>
        <p:spPr>
          <a:xfrm flipH="1">
            <a:off x="8795309" y="4864608"/>
            <a:ext cx="351434" cy="914"/>
          </a:xfrm>
          <a:prstGeom prst="line">
            <a:avLst/>
          </a:prstGeom>
          <a:noFill/>
          <a:ln w="19050">
            <a:solidFill>
              <a:srgbClr val="5A6472"/>
            </a:solidFill>
            <a:prstDash val="solid"/>
            <a:tailEnd type="triangle"/>
          </a:ln>
        </p:spPr>
      </p:sp>
      <p:sp>
        <p:nvSpPr>
          <p:cNvPr id="41" name="Shape 39"/>
          <p:cNvSpPr/>
          <p:nvPr/>
        </p:nvSpPr>
        <p:spPr>
          <a:xfrm flipH="1">
            <a:off x="5920130" y="4864608"/>
            <a:ext cx="351434" cy="914"/>
          </a:xfrm>
          <a:prstGeom prst="line">
            <a:avLst/>
          </a:prstGeom>
          <a:noFill/>
          <a:ln w="19050">
            <a:solidFill>
              <a:srgbClr val="5A6472"/>
            </a:solidFill>
            <a:prstDash val="solid"/>
            <a:tailEnd type="triangle"/>
          </a:ln>
        </p:spPr>
      </p:sp>
      <p:sp>
        <p:nvSpPr>
          <p:cNvPr id="42" name="Shape 40"/>
          <p:cNvSpPr/>
          <p:nvPr/>
        </p:nvSpPr>
        <p:spPr>
          <a:xfrm flipV="1">
            <a:off x="10820095" y="3044952"/>
            <a:ext cx="914" cy="1133856"/>
          </a:xfrm>
          <a:prstGeom prst="line">
            <a:avLst/>
          </a:prstGeom>
          <a:noFill/>
          <a:ln w="19050">
            <a:solidFill>
              <a:srgbClr val="D9A441"/>
            </a:solidFill>
            <a:prstDash val="dash"/>
            <a:tailEnd type="triangle"/>
          </a:ln>
        </p:spPr>
      </p:sp>
      <p:sp>
        <p:nvSpPr>
          <p:cNvPr id="43" name="Text 41"/>
          <p:cNvSpPr txBox="1"/>
          <p:nvPr/>
        </p:nvSpPr>
        <p:spPr>
          <a:xfrm>
            <a:off x="6756197" y="3383280"/>
            <a:ext cx="2651760" cy="502920"/>
          </a:xfrm>
          <a:prstGeom prst="rect">
            <a:avLst/>
          </a:prstGeom>
          <a:noFill/>
          <a:ln/>
        </p:spPr>
        <p:txBody>
          <a:bodyPr wrap="square" lIns="0" tIns="0" rIns="0" bIns="0" rtlCol="0" anchor="ctr"/>
          <a:lstStyle/>
          <a:p>
            <a:pPr algn="r" indent="0" marL="0">
              <a:buNone/>
            </a:pPr>
            <a:r>
              <a:rPr lang="en-US" sz="1050" i="1" dirty="0">
                <a:solidFill>
                  <a:srgbClr val="8A5A0B"/>
                </a:solidFill>
              </a:rPr>
              <a:t>rejected with a note: Agent 3 re-reasons or escalates</a:t>
            </a:r>
            <a:endParaRPr lang="en-US" sz="1050" dirty="0"/>
          </a:p>
        </p:txBody>
      </p:sp>
      <p:sp>
        <p:nvSpPr>
          <p:cNvPr id="44" name="Shape 42"/>
          <p:cNvSpPr/>
          <p:nvPr/>
        </p:nvSpPr>
        <p:spPr>
          <a:xfrm flipV="1">
            <a:off x="1783080" y="3044952"/>
            <a:ext cx="4973117" cy="1133856"/>
          </a:xfrm>
          <a:prstGeom prst="line">
            <a:avLst/>
          </a:prstGeom>
          <a:noFill/>
          <a:ln w="19050">
            <a:solidFill>
              <a:srgbClr val="1D6F6F"/>
            </a:solidFill>
            <a:prstDash val="dash"/>
            <a:tailEnd type="triangle"/>
          </a:ln>
        </p:spPr>
      </p:sp>
      <p:sp>
        <p:nvSpPr>
          <p:cNvPr id="45" name="Text 43"/>
          <p:cNvSpPr txBox="1"/>
          <p:nvPr/>
        </p:nvSpPr>
        <p:spPr>
          <a:xfrm>
            <a:off x="594360" y="3383280"/>
            <a:ext cx="2194560" cy="502920"/>
          </a:xfrm>
          <a:prstGeom prst="rect">
            <a:avLst/>
          </a:prstGeom>
          <a:noFill/>
          <a:ln/>
        </p:spPr>
        <p:txBody>
          <a:bodyPr wrap="square" lIns="0" tIns="0" rIns="0" bIns="0" rtlCol="0" anchor="ctr"/>
          <a:lstStyle/>
          <a:p>
            <a:pPr indent="0" marL="0">
              <a:buNone/>
            </a:pPr>
            <a:r>
              <a:rPr lang="en-US" sz="1050" i="1" dirty="0">
                <a:solidFill>
                  <a:srgbClr val="1D6F6F"/>
                </a:solidFill>
              </a:rPr>
              <a:t>approved mappings recalled by Agent 2 next time</a:t>
            </a:r>
            <a:endParaRPr lang="en-US" sz="1050" dirty="0"/>
          </a:p>
        </p:txBody>
      </p:sp>
      <p:sp>
        <p:nvSpPr>
          <p:cNvPr id="46" name="Text 44"/>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300" dirty="0">
                <a:solidFill>
                  <a:srgbClr val="5A6472"/>
                </a:solidFill>
              </a:rPr>
              <a:t>Orchestrated as a LangGraph state machine: the graph pauses (checkpointed) before Human Review and resumes into Agent 4 once every required decision is made.</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04 · HIGH-LEVEL DESIGN</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Five layers, each replaceable on its own</a:t>
            </a:r>
            <a:endParaRPr lang="en-US" sz="3000" dirty="0"/>
          </a:p>
        </p:txBody>
      </p:sp>
      <p:sp>
        <p:nvSpPr>
          <p:cNvPr id="4" name="Shape 2"/>
          <p:cNvSpPr/>
          <p:nvPr/>
        </p:nvSpPr>
        <p:spPr>
          <a:xfrm>
            <a:off x="548640" y="1645920"/>
            <a:ext cx="1783080" cy="713232"/>
          </a:xfrm>
          <a:prstGeom prst="roundRect">
            <a:avLst>
              <a:gd name="adj" fmla="val 7692"/>
            </a:avLst>
          </a:prstGeom>
          <a:solidFill>
            <a:srgbClr val="14213D"/>
          </a:solidFill>
          <a:ln w="12700">
            <a:solidFill>
              <a:srgbClr val="14213D"/>
            </a:solidFill>
            <a:prstDash val="solid"/>
          </a:ln>
        </p:spPr>
      </p:sp>
      <p:sp>
        <p:nvSpPr>
          <p:cNvPr id="5" name="Text 3"/>
          <p:cNvSpPr txBox="1"/>
          <p:nvPr/>
        </p:nvSpPr>
        <p:spPr>
          <a:xfrm>
            <a:off x="731520" y="1645920"/>
            <a:ext cx="1508760" cy="713232"/>
          </a:xfrm>
          <a:prstGeom prst="rect">
            <a:avLst/>
          </a:prstGeom>
          <a:noFill/>
          <a:ln/>
        </p:spPr>
        <p:txBody>
          <a:bodyPr wrap="square" lIns="0" tIns="0" rIns="0" bIns="0" rtlCol="0" anchor="ctr"/>
          <a:lstStyle/>
          <a:p>
            <a:pPr indent="0" marL="0">
              <a:buNone/>
            </a:pPr>
            <a:r>
              <a:rPr lang="en-US" sz="1400" b="1" dirty="0">
                <a:solidFill>
                  <a:srgbClr val="FFFFFF"/>
                </a:solidFill>
              </a:rPr>
              <a:t>Presentation</a:t>
            </a:r>
            <a:endParaRPr lang="en-US" sz="1400" dirty="0"/>
          </a:p>
        </p:txBody>
      </p:sp>
      <p:sp>
        <p:nvSpPr>
          <p:cNvPr id="6" name="hld-0-0"/>
          <p:cNvSpPr/>
          <p:nvPr/>
        </p:nvSpPr>
        <p:spPr>
          <a:xfrm>
            <a:off x="2468880" y="1645920"/>
            <a:ext cx="2190674" cy="713232"/>
          </a:xfrm>
          <a:prstGeom prst="roundRect">
            <a:avLst>
              <a:gd name="adj" fmla="val 10256"/>
            </a:avLst>
          </a:prstGeom>
          <a:solidFill>
            <a:srgbClr val="FDFCF9"/>
          </a:solidFill>
          <a:ln w="9525">
            <a:solidFill>
              <a:srgbClr val="D8D3C6"/>
            </a:solidFill>
            <a:prstDash val="solid"/>
          </a:ln>
        </p:spPr>
      </p:sp>
      <p:sp>
        <p:nvSpPr>
          <p:cNvPr id="7" name="Text 5"/>
          <p:cNvSpPr txBox="1"/>
          <p:nvPr/>
        </p:nvSpPr>
        <p:spPr>
          <a:xfrm>
            <a:off x="2606040" y="1645920"/>
            <a:ext cx="1962074" cy="713232"/>
          </a:xfrm>
          <a:prstGeom prst="rect">
            <a:avLst/>
          </a:prstGeom>
          <a:noFill/>
          <a:ln/>
        </p:spPr>
        <p:txBody>
          <a:bodyPr wrap="square" lIns="0" tIns="0" rIns="0" bIns="0" rtlCol="0" anchor="ctr"/>
          <a:lstStyle/>
          <a:p>
            <a:pPr indent="0" marL="0">
              <a:buNone/>
            </a:pPr>
            <a:r>
              <a:rPr lang="en-US" sz="1300" dirty="0">
                <a:solidFill>
                  <a:srgbClr val="14213D"/>
                </a:solidFill>
              </a:rPr>
              <a:t>Streamlit review console</a:t>
            </a:r>
            <a:endParaRPr lang="en-US" sz="1300" dirty="0"/>
          </a:p>
        </p:txBody>
      </p:sp>
      <p:sp>
        <p:nvSpPr>
          <p:cNvPr id="8" name="hld-0-1"/>
          <p:cNvSpPr/>
          <p:nvPr/>
        </p:nvSpPr>
        <p:spPr>
          <a:xfrm>
            <a:off x="4796714" y="1645920"/>
            <a:ext cx="2190674" cy="713232"/>
          </a:xfrm>
          <a:prstGeom prst="roundRect">
            <a:avLst>
              <a:gd name="adj" fmla="val 10256"/>
            </a:avLst>
          </a:prstGeom>
          <a:solidFill>
            <a:srgbClr val="FDFCF9"/>
          </a:solidFill>
          <a:ln w="9525">
            <a:solidFill>
              <a:srgbClr val="D8D3C6"/>
            </a:solidFill>
            <a:prstDash val="solid"/>
          </a:ln>
        </p:spPr>
      </p:sp>
      <p:sp>
        <p:nvSpPr>
          <p:cNvPr id="9" name="Text 7"/>
          <p:cNvSpPr txBox="1"/>
          <p:nvPr/>
        </p:nvSpPr>
        <p:spPr>
          <a:xfrm>
            <a:off x="4933874" y="1645920"/>
            <a:ext cx="1962074" cy="713232"/>
          </a:xfrm>
          <a:prstGeom prst="rect">
            <a:avLst/>
          </a:prstGeom>
          <a:noFill/>
          <a:ln/>
        </p:spPr>
        <p:txBody>
          <a:bodyPr wrap="square" lIns="0" tIns="0" rIns="0" bIns="0" rtlCol="0" anchor="ctr"/>
          <a:lstStyle/>
          <a:p>
            <a:pPr indent="0" marL="0">
              <a:buNone/>
            </a:pPr>
            <a:r>
              <a:rPr lang="en-US" sz="1300" dirty="0">
                <a:solidFill>
                  <a:srgbClr val="14213D"/>
                </a:solidFill>
              </a:rPr>
              <a:t>Live workflow stepper</a:t>
            </a:r>
            <a:endParaRPr lang="en-US" sz="1300" dirty="0"/>
          </a:p>
        </p:txBody>
      </p:sp>
      <p:sp>
        <p:nvSpPr>
          <p:cNvPr id="10" name="hld-0-2"/>
          <p:cNvSpPr/>
          <p:nvPr/>
        </p:nvSpPr>
        <p:spPr>
          <a:xfrm>
            <a:off x="7124548" y="1645920"/>
            <a:ext cx="2190674" cy="713232"/>
          </a:xfrm>
          <a:prstGeom prst="roundRect">
            <a:avLst>
              <a:gd name="adj" fmla="val 10256"/>
            </a:avLst>
          </a:prstGeom>
          <a:solidFill>
            <a:srgbClr val="FDFCF9"/>
          </a:solidFill>
          <a:ln w="9525">
            <a:solidFill>
              <a:srgbClr val="D8D3C6"/>
            </a:solidFill>
            <a:prstDash val="solid"/>
          </a:ln>
        </p:spPr>
      </p:sp>
      <p:sp>
        <p:nvSpPr>
          <p:cNvPr id="11" name="Text 9"/>
          <p:cNvSpPr txBox="1"/>
          <p:nvPr/>
        </p:nvSpPr>
        <p:spPr>
          <a:xfrm>
            <a:off x="7261708" y="1645920"/>
            <a:ext cx="1962074" cy="713232"/>
          </a:xfrm>
          <a:prstGeom prst="rect">
            <a:avLst/>
          </a:prstGeom>
          <a:noFill/>
          <a:ln/>
        </p:spPr>
        <p:txBody>
          <a:bodyPr wrap="square" lIns="0" tIns="0" rIns="0" bIns="0" rtlCol="0" anchor="ctr"/>
          <a:lstStyle/>
          <a:p>
            <a:pPr indent="0" marL="0">
              <a:buNone/>
            </a:pPr>
            <a:r>
              <a:rPr lang="en-US" sz="1300" dirty="0">
                <a:solidFill>
                  <a:srgbClr val="14213D"/>
                </a:solidFill>
              </a:rPr>
              <a:t>Mapping JSON &amp; completeness views</a:t>
            </a:r>
            <a:endParaRPr lang="en-US" sz="1300" dirty="0"/>
          </a:p>
        </p:txBody>
      </p:sp>
      <p:sp>
        <p:nvSpPr>
          <p:cNvPr id="12" name="hld-0-3"/>
          <p:cNvSpPr/>
          <p:nvPr/>
        </p:nvSpPr>
        <p:spPr>
          <a:xfrm>
            <a:off x="9452381" y="1645920"/>
            <a:ext cx="2190674" cy="713232"/>
          </a:xfrm>
          <a:prstGeom prst="roundRect">
            <a:avLst>
              <a:gd name="adj" fmla="val 10256"/>
            </a:avLst>
          </a:prstGeom>
          <a:solidFill>
            <a:srgbClr val="FDFCF9"/>
          </a:solidFill>
          <a:ln w="9525">
            <a:solidFill>
              <a:srgbClr val="D8D3C6"/>
            </a:solidFill>
            <a:prstDash val="solid"/>
          </a:ln>
        </p:spPr>
      </p:sp>
      <p:sp>
        <p:nvSpPr>
          <p:cNvPr id="13" name="Text 11"/>
          <p:cNvSpPr txBox="1"/>
          <p:nvPr/>
        </p:nvSpPr>
        <p:spPr>
          <a:xfrm>
            <a:off x="9589541" y="1645920"/>
            <a:ext cx="1962074" cy="713232"/>
          </a:xfrm>
          <a:prstGeom prst="rect">
            <a:avLst/>
          </a:prstGeom>
          <a:noFill/>
          <a:ln/>
        </p:spPr>
        <p:txBody>
          <a:bodyPr wrap="square" lIns="0" tIns="0" rIns="0" bIns="0" rtlCol="0" anchor="ctr"/>
          <a:lstStyle/>
          <a:p>
            <a:pPr indent="0" marL="0">
              <a:buNone/>
            </a:pPr>
            <a:r>
              <a:rPr lang="en-US" sz="1300" dirty="0">
                <a:solidFill>
                  <a:srgbClr val="14213D"/>
                </a:solidFill>
              </a:rPr>
              <a:t>Conformance panel + downloads</a:t>
            </a:r>
            <a:endParaRPr lang="en-US" sz="1300" dirty="0"/>
          </a:p>
        </p:txBody>
      </p:sp>
      <p:sp>
        <p:nvSpPr>
          <p:cNvPr id="14" name="Shape 12"/>
          <p:cNvSpPr/>
          <p:nvPr/>
        </p:nvSpPr>
        <p:spPr>
          <a:xfrm>
            <a:off x="548640" y="2468880"/>
            <a:ext cx="1783080" cy="713232"/>
          </a:xfrm>
          <a:prstGeom prst="roundRect">
            <a:avLst>
              <a:gd name="adj" fmla="val 7692"/>
            </a:avLst>
          </a:prstGeom>
          <a:solidFill>
            <a:srgbClr val="14213D"/>
          </a:solidFill>
          <a:ln w="12700">
            <a:solidFill>
              <a:srgbClr val="14213D"/>
            </a:solidFill>
            <a:prstDash val="solid"/>
          </a:ln>
        </p:spPr>
      </p:sp>
      <p:sp>
        <p:nvSpPr>
          <p:cNvPr id="15" name="Text 13"/>
          <p:cNvSpPr txBox="1"/>
          <p:nvPr/>
        </p:nvSpPr>
        <p:spPr>
          <a:xfrm>
            <a:off x="731520" y="2468880"/>
            <a:ext cx="1508760" cy="713232"/>
          </a:xfrm>
          <a:prstGeom prst="rect">
            <a:avLst/>
          </a:prstGeom>
          <a:noFill/>
          <a:ln/>
        </p:spPr>
        <p:txBody>
          <a:bodyPr wrap="square" lIns="0" tIns="0" rIns="0" bIns="0" rtlCol="0" anchor="ctr"/>
          <a:lstStyle/>
          <a:p>
            <a:pPr indent="0" marL="0">
              <a:buNone/>
            </a:pPr>
            <a:r>
              <a:rPr lang="en-US" sz="1400" b="1" dirty="0">
                <a:solidFill>
                  <a:srgbClr val="FFFFFF"/>
                </a:solidFill>
              </a:rPr>
              <a:t>Orchestration</a:t>
            </a:r>
            <a:endParaRPr lang="en-US" sz="1400" dirty="0"/>
          </a:p>
        </p:txBody>
      </p:sp>
      <p:sp>
        <p:nvSpPr>
          <p:cNvPr id="16" name="hld-1-0"/>
          <p:cNvSpPr/>
          <p:nvPr/>
        </p:nvSpPr>
        <p:spPr>
          <a:xfrm>
            <a:off x="2468880" y="2468880"/>
            <a:ext cx="2190674" cy="713232"/>
          </a:xfrm>
          <a:prstGeom prst="roundRect">
            <a:avLst>
              <a:gd name="adj" fmla="val 10256"/>
            </a:avLst>
          </a:prstGeom>
          <a:solidFill>
            <a:srgbClr val="FDFCF9"/>
          </a:solidFill>
          <a:ln w="9525">
            <a:solidFill>
              <a:srgbClr val="D8D3C6"/>
            </a:solidFill>
            <a:prstDash val="solid"/>
          </a:ln>
        </p:spPr>
      </p:sp>
      <p:sp>
        <p:nvSpPr>
          <p:cNvPr id="17" name="Text 15"/>
          <p:cNvSpPr txBox="1"/>
          <p:nvPr/>
        </p:nvSpPr>
        <p:spPr>
          <a:xfrm>
            <a:off x="2606040" y="2468880"/>
            <a:ext cx="1962074" cy="713232"/>
          </a:xfrm>
          <a:prstGeom prst="rect">
            <a:avLst/>
          </a:prstGeom>
          <a:noFill/>
          <a:ln/>
        </p:spPr>
        <p:txBody>
          <a:bodyPr wrap="square" lIns="0" tIns="0" rIns="0" bIns="0" rtlCol="0" anchor="ctr"/>
          <a:lstStyle/>
          <a:p>
            <a:pPr indent="0" marL="0">
              <a:buNone/>
            </a:pPr>
            <a:r>
              <a:rPr lang="en-US" sz="1300" dirty="0">
                <a:solidFill>
                  <a:srgbClr val="14213D"/>
                </a:solidFill>
              </a:rPr>
              <a:t>LangGraph StateGraph</a:t>
            </a:r>
            <a:endParaRPr lang="en-US" sz="1300" dirty="0"/>
          </a:p>
        </p:txBody>
      </p:sp>
      <p:sp>
        <p:nvSpPr>
          <p:cNvPr id="18" name="hld-1-1"/>
          <p:cNvSpPr/>
          <p:nvPr/>
        </p:nvSpPr>
        <p:spPr>
          <a:xfrm>
            <a:off x="4796714" y="2468880"/>
            <a:ext cx="2190674" cy="713232"/>
          </a:xfrm>
          <a:prstGeom prst="roundRect">
            <a:avLst>
              <a:gd name="adj" fmla="val 10256"/>
            </a:avLst>
          </a:prstGeom>
          <a:solidFill>
            <a:srgbClr val="FDFCF9"/>
          </a:solidFill>
          <a:ln w="9525">
            <a:solidFill>
              <a:srgbClr val="D8D3C6"/>
            </a:solidFill>
            <a:prstDash val="solid"/>
          </a:ln>
        </p:spPr>
      </p:sp>
      <p:sp>
        <p:nvSpPr>
          <p:cNvPr id="19" name="Text 17"/>
          <p:cNvSpPr txBox="1"/>
          <p:nvPr/>
        </p:nvSpPr>
        <p:spPr>
          <a:xfrm>
            <a:off x="4933874" y="2468880"/>
            <a:ext cx="1962074" cy="713232"/>
          </a:xfrm>
          <a:prstGeom prst="rect">
            <a:avLst/>
          </a:prstGeom>
          <a:noFill/>
          <a:ln/>
        </p:spPr>
        <p:txBody>
          <a:bodyPr wrap="square" lIns="0" tIns="0" rIns="0" bIns="0" rtlCol="0" anchor="ctr"/>
          <a:lstStyle/>
          <a:p>
            <a:pPr indent="0" marL="0">
              <a:buNone/>
            </a:pPr>
            <a:r>
              <a:rPr lang="en-US" sz="1300" dirty="0">
                <a:solidFill>
                  <a:srgbClr val="14213D"/>
                </a:solidFill>
              </a:rPr>
              <a:t>Typed SOVState (Pydantic)</a:t>
            </a:r>
            <a:endParaRPr lang="en-US" sz="1300" dirty="0"/>
          </a:p>
        </p:txBody>
      </p:sp>
      <p:sp>
        <p:nvSpPr>
          <p:cNvPr id="20" name="hld-1-2"/>
          <p:cNvSpPr/>
          <p:nvPr/>
        </p:nvSpPr>
        <p:spPr>
          <a:xfrm>
            <a:off x="7124548" y="2468880"/>
            <a:ext cx="2190674" cy="713232"/>
          </a:xfrm>
          <a:prstGeom prst="roundRect">
            <a:avLst>
              <a:gd name="adj" fmla="val 10256"/>
            </a:avLst>
          </a:prstGeom>
          <a:solidFill>
            <a:srgbClr val="FDFCF9"/>
          </a:solidFill>
          <a:ln w="9525">
            <a:solidFill>
              <a:srgbClr val="D8D3C6"/>
            </a:solidFill>
            <a:prstDash val="solid"/>
          </a:ln>
        </p:spPr>
      </p:sp>
      <p:sp>
        <p:nvSpPr>
          <p:cNvPr id="21" name="Text 19"/>
          <p:cNvSpPr txBox="1"/>
          <p:nvPr/>
        </p:nvSpPr>
        <p:spPr>
          <a:xfrm>
            <a:off x="7261708" y="2468880"/>
            <a:ext cx="1962074" cy="713232"/>
          </a:xfrm>
          <a:prstGeom prst="rect">
            <a:avLst/>
          </a:prstGeom>
          <a:noFill/>
          <a:ln/>
        </p:spPr>
        <p:txBody>
          <a:bodyPr wrap="square" lIns="0" tIns="0" rIns="0" bIns="0" rtlCol="0" anchor="ctr"/>
          <a:lstStyle/>
          <a:p>
            <a:pPr indent="0" marL="0">
              <a:buNone/>
            </a:pPr>
            <a:r>
              <a:rPr lang="en-US" sz="1300" dirty="0">
                <a:solidFill>
                  <a:srgbClr val="14213D"/>
                </a:solidFill>
              </a:rPr>
              <a:t>Pause before human_review</a:t>
            </a:r>
            <a:endParaRPr lang="en-US" sz="1300" dirty="0"/>
          </a:p>
        </p:txBody>
      </p:sp>
      <p:sp>
        <p:nvSpPr>
          <p:cNvPr id="22" name="hld-1-3"/>
          <p:cNvSpPr/>
          <p:nvPr/>
        </p:nvSpPr>
        <p:spPr>
          <a:xfrm>
            <a:off x="9452381" y="2468880"/>
            <a:ext cx="2190674" cy="713232"/>
          </a:xfrm>
          <a:prstGeom prst="roundRect">
            <a:avLst>
              <a:gd name="adj" fmla="val 10256"/>
            </a:avLst>
          </a:prstGeom>
          <a:solidFill>
            <a:srgbClr val="FDFCF9"/>
          </a:solidFill>
          <a:ln w="9525">
            <a:solidFill>
              <a:srgbClr val="D8D3C6"/>
            </a:solidFill>
            <a:prstDash val="solid"/>
          </a:ln>
        </p:spPr>
      </p:sp>
      <p:sp>
        <p:nvSpPr>
          <p:cNvPr id="23" name="Text 21"/>
          <p:cNvSpPr txBox="1"/>
          <p:nvPr/>
        </p:nvSpPr>
        <p:spPr>
          <a:xfrm>
            <a:off x="9589541" y="2468880"/>
            <a:ext cx="1962074" cy="713232"/>
          </a:xfrm>
          <a:prstGeom prst="rect">
            <a:avLst/>
          </a:prstGeom>
          <a:noFill/>
          <a:ln/>
        </p:spPr>
        <p:txBody>
          <a:bodyPr wrap="square" lIns="0" tIns="0" rIns="0" bIns="0" rtlCol="0" anchor="ctr"/>
          <a:lstStyle/>
          <a:p>
            <a:pPr indent="0" marL="0">
              <a:buNone/>
            </a:pPr>
            <a:r>
              <a:rPr lang="en-US" sz="1300" dirty="0">
                <a:solidFill>
                  <a:srgbClr val="14213D"/>
                </a:solidFill>
              </a:rPr>
              <a:t>SQLite checkpoints + resume</a:t>
            </a:r>
            <a:endParaRPr lang="en-US" sz="1300" dirty="0"/>
          </a:p>
        </p:txBody>
      </p:sp>
      <p:sp>
        <p:nvSpPr>
          <p:cNvPr id="24" name="Shape 22"/>
          <p:cNvSpPr/>
          <p:nvPr/>
        </p:nvSpPr>
        <p:spPr>
          <a:xfrm>
            <a:off x="548640" y="3291840"/>
            <a:ext cx="1783080" cy="713232"/>
          </a:xfrm>
          <a:prstGeom prst="roundRect">
            <a:avLst>
              <a:gd name="adj" fmla="val 7692"/>
            </a:avLst>
          </a:prstGeom>
          <a:solidFill>
            <a:srgbClr val="14213D"/>
          </a:solidFill>
          <a:ln w="12700">
            <a:solidFill>
              <a:srgbClr val="14213D"/>
            </a:solidFill>
            <a:prstDash val="solid"/>
          </a:ln>
        </p:spPr>
      </p:sp>
      <p:sp>
        <p:nvSpPr>
          <p:cNvPr id="25" name="Text 23"/>
          <p:cNvSpPr txBox="1"/>
          <p:nvPr/>
        </p:nvSpPr>
        <p:spPr>
          <a:xfrm>
            <a:off x="731520" y="3291840"/>
            <a:ext cx="1508760" cy="713232"/>
          </a:xfrm>
          <a:prstGeom prst="rect">
            <a:avLst/>
          </a:prstGeom>
          <a:noFill/>
          <a:ln/>
        </p:spPr>
        <p:txBody>
          <a:bodyPr wrap="square" lIns="0" tIns="0" rIns="0" bIns="0" rtlCol="0" anchor="ctr"/>
          <a:lstStyle/>
          <a:p>
            <a:pPr indent="0" marL="0">
              <a:buNone/>
            </a:pPr>
            <a:r>
              <a:rPr lang="en-US" sz="1400" b="1" dirty="0">
                <a:solidFill>
                  <a:srgbClr val="FFFFFF"/>
                </a:solidFill>
              </a:rPr>
              <a:t>Agents</a:t>
            </a:r>
            <a:endParaRPr lang="en-US" sz="1400" dirty="0"/>
          </a:p>
        </p:txBody>
      </p:sp>
      <p:sp>
        <p:nvSpPr>
          <p:cNvPr id="26" name="hld-2-0"/>
          <p:cNvSpPr/>
          <p:nvPr/>
        </p:nvSpPr>
        <p:spPr>
          <a:xfrm>
            <a:off x="2468880" y="3291840"/>
            <a:ext cx="2190674" cy="713232"/>
          </a:xfrm>
          <a:prstGeom prst="roundRect">
            <a:avLst>
              <a:gd name="adj" fmla="val 10256"/>
            </a:avLst>
          </a:prstGeom>
          <a:solidFill>
            <a:srgbClr val="F4E6C6"/>
          </a:solidFill>
          <a:ln w="9525">
            <a:solidFill>
              <a:srgbClr val="D8D3C6"/>
            </a:solidFill>
            <a:prstDash val="solid"/>
          </a:ln>
        </p:spPr>
      </p:sp>
      <p:sp>
        <p:nvSpPr>
          <p:cNvPr id="27" name="Text 25"/>
          <p:cNvSpPr txBox="1"/>
          <p:nvPr/>
        </p:nvSpPr>
        <p:spPr>
          <a:xfrm>
            <a:off x="2606040" y="3291840"/>
            <a:ext cx="1962074" cy="713232"/>
          </a:xfrm>
          <a:prstGeom prst="rect">
            <a:avLst/>
          </a:prstGeom>
          <a:noFill/>
          <a:ln/>
        </p:spPr>
        <p:txBody>
          <a:bodyPr wrap="square" lIns="0" tIns="0" rIns="0" bIns="0" rtlCol="0" anchor="ctr"/>
          <a:lstStyle/>
          <a:p>
            <a:pPr indent="0" marL="0">
              <a:buNone/>
            </a:pPr>
            <a:r>
              <a:rPr lang="en-US" sz="1300" b="1" dirty="0">
                <a:solidFill>
                  <a:srgbClr val="14213D"/>
                </a:solidFill>
              </a:rPr>
              <a:t>1 · Sheet Discovery</a:t>
            </a:r>
            <a:endParaRPr lang="en-US" sz="1300" dirty="0"/>
          </a:p>
        </p:txBody>
      </p:sp>
      <p:sp>
        <p:nvSpPr>
          <p:cNvPr id="28" name="hld-2-1"/>
          <p:cNvSpPr/>
          <p:nvPr/>
        </p:nvSpPr>
        <p:spPr>
          <a:xfrm>
            <a:off x="4796714" y="3291840"/>
            <a:ext cx="2190674" cy="713232"/>
          </a:xfrm>
          <a:prstGeom prst="roundRect">
            <a:avLst>
              <a:gd name="adj" fmla="val 10256"/>
            </a:avLst>
          </a:prstGeom>
          <a:solidFill>
            <a:srgbClr val="F4E6C6"/>
          </a:solidFill>
          <a:ln w="9525">
            <a:solidFill>
              <a:srgbClr val="D8D3C6"/>
            </a:solidFill>
            <a:prstDash val="solid"/>
          </a:ln>
        </p:spPr>
      </p:sp>
      <p:sp>
        <p:nvSpPr>
          <p:cNvPr id="29" name="Text 27"/>
          <p:cNvSpPr txBox="1"/>
          <p:nvPr/>
        </p:nvSpPr>
        <p:spPr>
          <a:xfrm>
            <a:off x="4933874" y="3291840"/>
            <a:ext cx="1962074" cy="713232"/>
          </a:xfrm>
          <a:prstGeom prst="rect">
            <a:avLst/>
          </a:prstGeom>
          <a:noFill/>
          <a:ln/>
        </p:spPr>
        <p:txBody>
          <a:bodyPr wrap="square" lIns="0" tIns="0" rIns="0" bIns="0" rtlCol="0" anchor="ctr"/>
          <a:lstStyle/>
          <a:p>
            <a:pPr indent="0" marL="0">
              <a:buNone/>
            </a:pPr>
            <a:r>
              <a:rPr lang="en-US" sz="1300" b="1" dirty="0">
                <a:solidFill>
                  <a:srgbClr val="14213D"/>
                </a:solidFill>
              </a:rPr>
              <a:t>2 · Schema Mapping</a:t>
            </a:r>
            <a:endParaRPr lang="en-US" sz="1300" dirty="0"/>
          </a:p>
        </p:txBody>
      </p:sp>
      <p:sp>
        <p:nvSpPr>
          <p:cNvPr id="30" name="hld-2-2"/>
          <p:cNvSpPr/>
          <p:nvPr/>
        </p:nvSpPr>
        <p:spPr>
          <a:xfrm>
            <a:off x="7124548" y="3291840"/>
            <a:ext cx="2190674" cy="713232"/>
          </a:xfrm>
          <a:prstGeom prst="roundRect">
            <a:avLst>
              <a:gd name="adj" fmla="val 10256"/>
            </a:avLst>
          </a:prstGeom>
          <a:solidFill>
            <a:srgbClr val="F4E6C6"/>
          </a:solidFill>
          <a:ln w="9525">
            <a:solidFill>
              <a:srgbClr val="D8D3C6"/>
            </a:solidFill>
            <a:prstDash val="solid"/>
          </a:ln>
        </p:spPr>
      </p:sp>
      <p:sp>
        <p:nvSpPr>
          <p:cNvPr id="31" name="Text 29"/>
          <p:cNvSpPr txBox="1"/>
          <p:nvPr/>
        </p:nvSpPr>
        <p:spPr>
          <a:xfrm>
            <a:off x="7261708" y="3291840"/>
            <a:ext cx="1962074" cy="713232"/>
          </a:xfrm>
          <a:prstGeom prst="rect">
            <a:avLst/>
          </a:prstGeom>
          <a:noFill/>
          <a:ln/>
        </p:spPr>
        <p:txBody>
          <a:bodyPr wrap="square" lIns="0" tIns="0" rIns="0" bIns="0" rtlCol="0" anchor="ctr"/>
          <a:lstStyle/>
          <a:p>
            <a:pPr indent="0" marL="0">
              <a:buNone/>
            </a:pPr>
            <a:r>
              <a:rPr lang="en-US" sz="1300" b="1" dirty="0">
                <a:solidFill>
                  <a:srgbClr val="14213D"/>
                </a:solidFill>
              </a:rPr>
              <a:t>3 · Quality &amp; Reasoning</a:t>
            </a:r>
            <a:endParaRPr lang="en-US" sz="1300" dirty="0"/>
          </a:p>
        </p:txBody>
      </p:sp>
      <p:sp>
        <p:nvSpPr>
          <p:cNvPr id="32" name="hld-2-3"/>
          <p:cNvSpPr/>
          <p:nvPr/>
        </p:nvSpPr>
        <p:spPr>
          <a:xfrm>
            <a:off x="9452381" y="3291840"/>
            <a:ext cx="2190674" cy="713232"/>
          </a:xfrm>
          <a:prstGeom prst="roundRect">
            <a:avLst>
              <a:gd name="adj" fmla="val 10256"/>
            </a:avLst>
          </a:prstGeom>
          <a:solidFill>
            <a:srgbClr val="F4E6C6"/>
          </a:solidFill>
          <a:ln w="9525">
            <a:solidFill>
              <a:srgbClr val="D8D3C6"/>
            </a:solidFill>
            <a:prstDash val="solid"/>
          </a:ln>
        </p:spPr>
      </p:sp>
      <p:sp>
        <p:nvSpPr>
          <p:cNvPr id="33" name="Text 31"/>
          <p:cNvSpPr txBox="1"/>
          <p:nvPr/>
        </p:nvSpPr>
        <p:spPr>
          <a:xfrm>
            <a:off x="9589541" y="3291840"/>
            <a:ext cx="1962074" cy="713232"/>
          </a:xfrm>
          <a:prstGeom prst="rect">
            <a:avLst/>
          </a:prstGeom>
          <a:noFill/>
          <a:ln/>
        </p:spPr>
        <p:txBody>
          <a:bodyPr wrap="square" lIns="0" tIns="0" rIns="0" bIns="0" rtlCol="0" anchor="ctr"/>
          <a:lstStyle/>
          <a:p>
            <a:pPr indent="0" marL="0">
              <a:buNone/>
            </a:pPr>
            <a:r>
              <a:rPr lang="en-US" sz="1300" b="1" dirty="0">
                <a:solidFill>
                  <a:srgbClr val="14213D"/>
                </a:solidFill>
              </a:rPr>
              <a:t>4 · Controlled Transformation</a:t>
            </a:r>
            <a:endParaRPr lang="en-US" sz="1300" dirty="0"/>
          </a:p>
        </p:txBody>
      </p:sp>
      <p:sp>
        <p:nvSpPr>
          <p:cNvPr id="34" name="Shape 32"/>
          <p:cNvSpPr/>
          <p:nvPr/>
        </p:nvSpPr>
        <p:spPr>
          <a:xfrm>
            <a:off x="548640" y="4114800"/>
            <a:ext cx="1783080" cy="713232"/>
          </a:xfrm>
          <a:prstGeom prst="roundRect">
            <a:avLst>
              <a:gd name="adj" fmla="val 7692"/>
            </a:avLst>
          </a:prstGeom>
          <a:solidFill>
            <a:srgbClr val="14213D"/>
          </a:solidFill>
          <a:ln w="12700">
            <a:solidFill>
              <a:srgbClr val="14213D"/>
            </a:solidFill>
            <a:prstDash val="solid"/>
          </a:ln>
        </p:spPr>
      </p:sp>
      <p:sp>
        <p:nvSpPr>
          <p:cNvPr id="35" name="Text 33"/>
          <p:cNvSpPr txBox="1"/>
          <p:nvPr/>
        </p:nvSpPr>
        <p:spPr>
          <a:xfrm>
            <a:off x="731520" y="4114800"/>
            <a:ext cx="1508760" cy="713232"/>
          </a:xfrm>
          <a:prstGeom prst="rect">
            <a:avLst/>
          </a:prstGeom>
          <a:noFill/>
          <a:ln/>
        </p:spPr>
        <p:txBody>
          <a:bodyPr wrap="square" lIns="0" tIns="0" rIns="0" bIns="0" rtlCol="0" anchor="ctr"/>
          <a:lstStyle/>
          <a:p>
            <a:pPr indent="0" marL="0">
              <a:buNone/>
            </a:pPr>
            <a:r>
              <a:rPr lang="en-US" sz="1400" b="1" dirty="0">
                <a:solidFill>
                  <a:srgbClr val="FFFFFF"/>
                </a:solidFill>
              </a:rPr>
              <a:t>AI services</a:t>
            </a:r>
            <a:endParaRPr lang="en-US" sz="1400" dirty="0"/>
          </a:p>
        </p:txBody>
      </p:sp>
      <p:sp>
        <p:nvSpPr>
          <p:cNvPr id="36" name="hld-3-0"/>
          <p:cNvSpPr/>
          <p:nvPr/>
        </p:nvSpPr>
        <p:spPr>
          <a:xfrm>
            <a:off x="2468880" y="4114800"/>
            <a:ext cx="2190674" cy="713232"/>
          </a:xfrm>
          <a:prstGeom prst="roundRect">
            <a:avLst>
              <a:gd name="adj" fmla="val 10256"/>
            </a:avLst>
          </a:prstGeom>
          <a:solidFill>
            <a:srgbClr val="FDFCF9"/>
          </a:solidFill>
          <a:ln w="9525">
            <a:solidFill>
              <a:srgbClr val="D8D3C6"/>
            </a:solidFill>
            <a:prstDash val="solid"/>
          </a:ln>
        </p:spPr>
      </p:sp>
      <p:sp>
        <p:nvSpPr>
          <p:cNvPr id="37" name="Text 35"/>
          <p:cNvSpPr txBox="1"/>
          <p:nvPr/>
        </p:nvSpPr>
        <p:spPr>
          <a:xfrm>
            <a:off x="2606040" y="4114800"/>
            <a:ext cx="1962074" cy="713232"/>
          </a:xfrm>
          <a:prstGeom prst="rect">
            <a:avLst/>
          </a:prstGeom>
          <a:noFill/>
          <a:ln/>
        </p:spPr>
        <p:txBody>
          <a:bodyPr wrap="square" lIns="0" tIns="0" rIns="0" bIns="0" rtlCol="0" anchor="ctr"/>
          <a:lstStyle/>
          <a:p>
            <a:pPr indent="0" marL="0">
              <a:buNone/>
            </a:pPr>
            <a:r>
              <a:rPr lang="en-US" sz="1300" dirty="0">
                <a:solidFill>
                  <a:srgbClr val="14213D"/>
                </a:solidFill>
              </a:rPr>
              <a:t>RapidFuzz fuzzy matcher</a:t>
            </a:r>
            <a:endParaRPr lang="en-US" sz="1300" dirty="0"/>
          </a:p>
        </p:txBody>
      </p:sp>
      <p:sp>
        <p:nvSpPr>
          <p:cNvPr id="38" name="hld-3-1"/>
          <p:cNvSpPr/>
          <p:nvPr/>
        </p:nvSpPr>
        <p:spPr>
          <a:xfrm>
            <a:off x="4796714" y="4114800"/>
            <a:ext cx="2190674" cy="713232"/>
          </a:xfrm>
          <a:prstGeom prst="roundRect">
            <a:avLst>
              <a:gd name="adj" fmla="val 10256"/>
            </a:avLst>
          </a:prstGeom>
          <a:solidFill>
            <a:srgbClr val="FDFCF9"/>
          </a:solidFill>
          <a:ln w="9525">
            <a:solidFill>
              <a:srgbClr val="D8D3C6"/>
            </a:solidFill>
            <a:prstDash val="solid"/>
          </a:ln>
        </p:spPr>
      </p:sp>
      <p:sp>
        <p:nvSpPr>
          <p:cNvPr id="39" name="Text 37"/>
          <p:cNvSpPr txBox="1"/>
          <p:nvPr/>
        </p:nvSpPr>
        <p:spPr>
          <a:xfrm>
            <a:off x="4933874" y="4114800"/>
            <a:ext cx="1962074" cy="713232"/>
          </a:xfrm>
          <a:prstGeom prst="rect">
            <a:avLst/>
          </a:prstGeom>
          <a:noFill/>
          <a:ln/>
        </p:spPr>
        <p:txBody>
          <a:bodyPr wrap="square" lIns="0" tIns="0" rIns="0" bIns="0" rtlCol="0" anchor="ctr"/>
          <a:lstStyle/>
          <a:p>
            <a:pPr indent="0" marL="0">
              <a:buNone/>
            </a:pPr>
            <a:r>
              <a:rPr lang="en-US" sz="1300" dirty="0">
                <a:solidFill>
                  <a:srgbClr val="14213D"/>
                </a:solidFill>
              </a:rPr>
              <a:t>bge-small embeddings (CPU)</a:t>
            </a:r>
            <a:endParaRPr lang="en-US" sz="1300" dirty="0"/>
          </a:p>
        </p:txBody>
      </p:sp>
      <p:sp>
        <p:nvSpPr>
          <p:cNvPr id="40" name="hld-3-2"/>
          <p:cNvSpPr/>
          <p:nvPr/>
        </p:nvSpPr>
        <p:spPr>
          <a:xfrm>
            <a:off x="7124548" y="4114800"/>
            <a:ext cx="2190674" cy="713232"/>
          </a:xfrm>
          <a:prstGeom prst="roundRect">
            <a:avLst>
              <a:gd name="adj" fmla="val 10256"/>
            </a:avLst>
          </a:prstGeom>
          <a:solidFill>
            <a:srgbClr val="FDFCF9"/>
          </a:solidFill>
          <a:ln w="9525">
            <a:solidFill>
              <a:srgbClr val="D8D3C6"/>
            </a:solidFill>
            <a:prstDash val="solid"/>
          </a:ln>
        </p:spPr>
      </p:sp>
      <p:sp>
        <p:nvSpPr>
          <p:cNvPr id="41" name="Text 39"/>
          <p:cNvSpPr txBox="1"/>
          <p:nvPr/>
        </p:nvSpPr>
        <p:spPr>
          <a:xfrm>
            <a:off x="7261708" y="4114800"/>
            <a:ext cx="1962074" cy="713232"/>
          </a:xfrm>
          <a:prstGeom prst="rect">
            <a:avLst/>
          </a:prstGeom>
          <a:noFill/>
          <a:ln/>
        </p:spPr>
        <p:txBody>
          <a:bodyPr wrap="square" lIns="0" tIns="0" rIns="0" bIns="0" rtlCol="0" anchor="ctr"/>
          <a:lstStyle/>
          <a:p>
            <a:pPr indent="0" marL="0">
              <a:buNone/>
            </a:pPr>
            <a:r>
              <a:rPr lang="en-US" sz="1300" dirty="0">
                <a:solidFill>
                  <a:srgbClr val="14213D"/>
                </a:solidFill>
              </a:rPr>
              <a:t>LLM gateway + value masking</a:t>
            </a:r>
            <a:endParaRPr lang="en-US" sz="1300" dirty="0"/>
          </a:p>
        </p:txBody>
      </p:sp>
      <p:sp>
        <p:nvSpPr>
          <p:cNvPr id="42" name="hld-3-3"/>
          <p:cNvSpPr/>
          <p:nvPr/>
        </p:nvSpPr>
        <p:spPr>
          <a:xfrm>
            <a:off x="9452381" y="4114800"/>
            <a:ext cx="2190674" cy="713232"/>
          </a:xfrm>
          <a:prstGeom prst="roundRect">
            <a:avLst>
              <a:gd name="adj" fmla="val 10256"/>
            </a:avLst>
          </a:prstGeom>
          <a:solidFill>
            <a:srgbClr val="FDFCF9"/>
          </a:solidFill>
          <a:ln w="9525">
            <a:solidFill>
              <a:srgbClr val="D8D3C6"/>
            </a:solidFill>
            <a:prstDash val="solid"/>
          </a:ln>
        </p:spPr>
      </p:sp>
      <p:sp>
        <p:nvSpPr>
          <p:cNvPr id="43" name="Text 41"/>
          <p:cNvSpPr txBox="1"/>
          <p:nvPr/>
        </p:nvSpPr>
        <p:spPr>
          <a:xfrm>
            <a:off x="9589541" y="4114800"/>
            <a:ext cx="1962074" cy="713232"/>
          </a:xfrm>
          <a:prstGeom prst="rect">
            <a:avLst/>
          </a:prstGeom>
          <a:noFill/>
          <a:ln/>
        </p:spPr>
        <p:txBody>
          <a:bodyPr wrap="square" lIns="0" tIns="0" rIns="0" bIns="0" rtlCol="0" anchor="ctr"/>
          <a:lstStyle/>
          <a:p>
            <a:pPr indent="0" marL="0">
              <a:buNone/>
            </a:pPr>
            <a:r>
              <a:rPr lang="en-US" sz="1300" dirty="0">
                <a:solidFill>
                  <a:srgbClr val="14213D"/>
                </a:solidFill>
              </a:rPr>
              <a:t>Value-profile &amp; rule engine</a:t>
            </a:r>
            <a:endParaRPr lang="en-US" sz="1300" dirty="0"/>
          </a:p>
        </p:txBody>
      </p:sp>
      <p:sp>
        <p:nvSpPr>
          <p:cNvPr id="44" name="Shape 42"/>
          <p:cNvSpPr/>
          <p:nvPr/>
        </p:nvSpPr>
        <p:spPr>
          <a:xfrm>
            <a:off x="548640" y="4937760"/>
            <a:ext cx="1783080" cy="713232"/>
          </a:xfrm>
          <a:prstGeom prst="roundRect">
            <a:avLst>
              <a:gd name="adj" fmla="val 7692"/>
            </a:avLst>
          </a:prstGeom>
          <a:solidFill>
            <a:srgbClr val="14213D"/>
          </a:solidFill>
          <a:ln w="12700">
            <a:solidFill>
              <a:srgbClr val="14213D"/>
            </a:solidFill>
            <a:prstDash val="solid"/>
          </a:ln>
        </p:spPr>
      </p:sp>
      <p:sp>
        <p:nvSpPr>
          <p:cNvPr id="45" name="Text 43"/>
          <p:cNvSpPr txBox="1"/>
          <p:nvPr/>
        </p:nvSpPr>
        <p:spPr>
          <a:xfrm>
            <a:off x="731520" y="4937760"/>
            <a:ext cx="1508760" cy="713232"/>
          </a:xfrm>
          <a:prstGeom prst="rect">
            <a:avLst/>
          </a:prstGeom>
          <a:noFill/>
          <a:ln/>
        </p:spPr>
        <p:txBody>
          <a:bodyPr wrap="square" lIns="0" tIns="0" rIns="0" bIns="0" rtlCol="0" anchor="ctr"/>
          <a:lstStyle/>
          <a:p>
            <a:pPr indent="0" marL="0">
              <a:buNone/>
            </a:pPr>
            <a:r>
              <a:rPr lang="en-US" sz="1400" b="1" dirty="0">
                <a:solidFill>
                  <a:srgbClr val="FFFFFF"/>
                </a:solidFill>
              </a:rPr>
              <a:t>Data layer</a:t>
            </a:r>
            <a:endParaRPr lang="en-US" sz="1400" dirty="0"/>
          </a:p>
        </p:txBody>
      </p:sp>
      <p:sp>
        <p:nvSpPr>
          <p:cNvPr id="46" name="hld-4-0"/>
          <p:cNvSpPr/>
          <p:nvPr/>
        </p:nvSpPr>
        <p:spPr>
          <a:xfrm>
            <a:off x="2468880" y="4937760"/>
            <a:ext cx="2190674" cy="713232"/>
          </a:xfrm>
          <a:prstGeom prst="roundRect">
            <a:avLst>
              <a:gd name="adj" fmla="val 10256"/>
            </a:avLst>
          </a:prstGeom>
          <a:solidFill>
            <a:srgbClr val="FDFCF9"/>
          </a:solidFill>
          <a:ln w="9525">
            <a:solidFill>
              <a:srgbClr val="D8D3C6"/>
            </a:solidFill>
            <a:prstDash val="solid"/>
          </a:ln>
        </p:spPr>
      </p:sp>
      <p:sp>
        <p:nvSpPr>
          <p:cNvPr id="47" name="Text 45"/>
          <p:cNvSpPr txBox="1"/>
          <p:nvPr/>
        </p:nvSpPr>
        <p:spPr>
          <a:xfrm>
            <a:off x="2606040" y="4937760"/>
            <a:ext cx="1962074" cy="713232"/>
          </a:xfrm>
          <a:prstGeom prst="rect">
            <a:avLst/>
          </a:prstGeom>
          <a:noFill/>
          <a:ln/>
        </p:spPr>
        <p:txBody>
          <a:bodyPr wrap="square" lIns="0" tIns="0" rIns="0" bIns="0" rtlCol="0" anchor="ctr"/>
          <a:lstStyle/>
          <a:p>
            <a:pPr indent="0" marL="0">
              <a:buNone/>
            </a:pPr>
            <a:r>
              <a:rPr lang="en-US" sz="1300" dirty="0">
                <a:solidFill>
                  <a:srgbClr val="14213D"/>
                </a:solidFill>
              </a:rPr>
              <a:t>pandas + openpyxl (parsed once)</a:t>
            </a:r>
            <a:endParaRPr lang="en-US" sz="1300" dirty="0"/>
          </a:p>
        </p:txBody>
      </p:sp>
      <p:sp>
        <p:nvSpPr>
          <p:cNvPr id="48" name="hld-4-1"/>
          <p:cNvSpPr/>
          <p:nvPr/>
        </p:nvSpPr>
        <p:spPr>
          <a:xfrm>
            <a:off x="4796714" y="4937760"/>
            <a:ext cx="2190674" cy="713232"/>
          </a:xfrm>
          <a:prstGeom prst="roundRect">
            <a:avLst>
              <a:gd name="adj" fmla="val 10256"/>
            </a:avLst>
          </a:prstGeom>
          <a:solidFill>
            <a:srgbClr val="FDFCF9"/>
          </a:solidFill>
          <a:ln w="9525">
            <a:solidFill>
              <a:srgbClr val="D8D3C6"/>
            </a:solidFill>
            <a:prstDash val="solid"/>
          </a:ln>
        </p:spPr>
      </p:sp>
      <p:sp>
        <p:nvSpPr>
          <p:cNvPr id="49" name="Text 47"/>
          <p:cNvSpPr txBox="1"/>
          <p:nvPr/>
        </p:nvSpPr>
        <p:spPr>
          <a:xfrm>
            <a:off x="4933874" y="4937760"/>
            <a:ext cx="1962074" cy="713232"/>
          </a:xfrm>
          <a:prstGeom prst="rect">
            <a:avLst/>
          </a:prstGeom>
          <a:noFill/>
          <a:ln/>
        </p:spPr>
        <p:txBody>
          <a:bodyPr wrap="square" lIns="0" tIns="0" rIns="0" bIns="0" rtlCol="0" anchor="ctr"/>
          <a:lstStyle/>
          <a:p>
            <a:pPr indent="0" marL="0">
              <a:buNone/>
            </a:pPr>
            <a:r>
              <a:rPr lang="en-US" sz="1300" dirty="0">
                <a:solidFill>
                  <a:srgbClr val="14213D"/>
                </a:solidFill>
              </a:rPr>
              <a:t>ChromaDB mapping memory</a:t>
            </a:r>
            <a:endParaRPr lang="en-US" sz="1300" dirty="0"/>
          </a:p>
        </p:txBody>
      </p:sp>
      <p:sp>
        <p:nvSpPr>
          <p:cNvPr id="50" name="hld-4-2"/>
          <p:cNvSpPr/>
          <p:nvPr/>
        </p:nvSpPr>
        <p:spPr>
          <a:xfrm>
            <a:off x="7124548" y="4937760"/>
            <a:ext cx="2190674" cy="713232"/>
          </a:xfrm>
          <a:prstGeom prst="roundRect">
            <a:avLst>
              <a:gd name="adj" fmla="val 10256"/>
            </a:avLst>
          </a:prstGeom>
          <a:solidFill>
            <a:srgbClr val="FDFCF9"/>
          </a:solidFill>
          <a:ln w="9525">
            <a:solidFill>
              <a:srgbClr val="D8D3C6"/>
            </a:solidFill>
            <a:prstDash val="solid"/>
          </a:ln>
        </p:spPr>
      </p:sp>
      <p:sp>
        <p:nvSpPr>
          <p:cNvPr id="51" name="Text 49"/>
          <p:cNvSpPr txBox="1"/>
          <p:nvPr/>
        </p:nvSpPr>
        <p:spPr>
          <a:xfrm>
            <a:off x="7261708" y="4937760"/>
            <a:ext cx="1962074" cy="713232"/>
          </a:xfrm>
          <a:prstGeom prst="rect">
            <a:avLst/>
          </a:prstGeom>
          <a:noFill/>
          <a:ln/>
        </p:spPr>
        <p:txBody>
          <a:bodyPr wrap="square" lIns="0" tIns="0" rIns="0" bIns="0" rtlCol="0" anchor="ctr"/>
          <a:lstStyle/>
          <a:p>
            <a:pPr indent="0" marL="0">
              <a:buNone/>
            </a:pPr>
            <a:r>
              <a:rPr lang="en-US" sz="1300" dirty="0">
                <a:solidFill>
                  <a:srgbClr val="14213D"/>
                </a:solidFill>
              </a:rPr>
              <a:t>Cleaned_SOV / Audit_Log .xlsx</a:t>
            </a:r>
            <a:endParaRPr lang="en-US" sz="1300" dirty="0"/>
          </a:p>
        </p:txBody>
      </p:sp>
      <p:sp>
        <p:nvSpPr>
          <p:cNvPr id="52" name="hld-4-3"/>
          <p:cNvSpPr/>
          <p:nvPr/>
        </p:nvSpPr>
        <p:spPr>
          <a:xfrm>
            <a:off x="9452381" y="4937760"/>
            <a:ext cx="2190674" cy="713232"/>
          </a:xfrm>
          <a:prstGeom prst="roundRect">
            <a:avLst>
              <a:gd name="adj" fmla="val 10256"/>
            </a:avLst>
          </a:prstGeom>
          <a:solidFill>
            <a:srgbClr val="FDFCF9"/>
          </a:solidFill>
          <a:ln w="9525">
            <a:solidFill>
              <a:srgbClr val="D8D3C6"/>
            </a:solidFill>
            <a:prstDash val="solid"/>
          </a:ln>
        </p:spPr>
      </p:sp>
      <p:sp>
        <p:nvSpPr>
          <p:cNvPr id="53" name="Text 51"/>
          <p:cNvSpPr txBox="1"/>
          <p:nvPr/>
        </p:nvSpPr>
        <p:spPr>
          <a:xfrm>
            <a:off x="9589541" y="4937760"/>
            <a:ext cx="1962074" cy="713232"/>
          </a:xfrm>
          <a:prstGeom prst="rect">
            <a:avLst/>
          </a:prstGeom>
          <a:noFill/>
          <a:ln/>
        </p:spPr>
        <p:txBody>
          <a:bodyPr wrap="square" lIns="0" tIns="0" rIns="0" bIns="0" rtlCol="0" anchor="ctr"/>
          <a:lstStyle/>
          <a:p>
            <a:pPr indent="0" marL="0">
              <a:buNone/>
            </a:pPr>
            <a:r>
              <a:rPr lang="en-US" sz="1300" dirty="0">
                <a:solidFill>
                  <a:srgbClr val="14213D"/>
                </a:solidFill>
              </a:rPr>
              <a:t>Local uploads &amp; outputs</a:t>
            </a:r>
            <a:endParaRPr lang="en-US" sz="1300" dirty="0"/>
          </a:p>
        </p:txBody>
      </p:sp>
      <p:sp>
        <p:nvSpPr>
          <p:cNvPr id="54" name="Text 52"/>
          <p:cNvSpPr txBox="1"/>
          <p:nvPr/>
        </p:nvSpPr>
        <p:spPr>
          <a:xfrm>
            <a:off x="548640" y="5870448"/>
            <a:ext cx="11094415" cy="365760"/>
          </a:xfrm>
          <a:prstGeom prst="rect">
            <a:avLst/>
          </a:prstGeom>
          <a:noFill/>
          <a:ln/>
        </p:spPr>
        <p:txBody>
          <a:bodyPr wrap="square" lIns="0" tIns="0" rIns="0" bIns="0" rtlCol="0" anchor="t"/>
          <a:lstStyle/>
          <a:p>
            <a:pPr indent="0" marL="0">
              <a:buNone/>
            </a:pPr>
            <a:r>
              <a:rPr lang="en-US" sz="1200" b="1" dirty="0">
                <a:solidFill>
                  <a:srgbClr val="5A6472"/>
                </a:solidFill>
              </a:rPr>
              <a:t>Cross-cutting: </a:t>
            </a:r>
            <a:pPr indent="0" marL="0">
              <a:buNone/>
            </a:pPr>
            <a:r>
              <a:rPr lang="en-US" sz="1200" dirty="0">
                <a:solidFill>
                  <a:srgbClr val="5A6472"/>
                </a:solidFill>
              </a:rPr>
              <a:t>secrets only in .env · LLM provider switch (Ollama / Groq / Gemini / off) · structured logging · 92 automated tests + benchmark harness</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05 · LLD · AGENT 1: SHEET INTELLIGENCE &amp; DISCOVERY</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Find the real data before touching it</a:t>
            </a:r>
            <a:endParaRPr lang="en-US" sz="3000" dirty="0"/>
          </a:p>
        </p:txBody>
      </p:sp>
      <p:sp>
        <p:nvSpPr>
          <p:cNvPr id="4" name="Shape 2"/>
          <p:cNvSpPr/>
          <p:nvPr/>
        </p:nvSpPr>
        <p:spPr>
          <a:xfrm>
            <a:off x="548640" y="1691640"/>
            <a:ext cx="384048" cy="384048"/>
          </a:xfrm>
          <a:prstGeom prst="roundRect">
            <a:avLst>
              <a:gd name="adj" fmla="val 14286"/>
            </a:avLst>
          </a:prstGeom>
          <a:solidFill>
            <a:srgbClr val="14213D"/>
          </a:solidFill>
          <a:ln w="12700">
            <a:solidFill>
              <a:srgbClr val="14213D"/>
            </a:solidFill>
            <a:prstDash val="solid"/>
          </a:ln>
        </p:spPr>
      </p:sp>
      <p:sp>
        <p:nvSpPr>
          <p:cNvPr id="5" name="Text 3"/>
          <p:cNvSpPr txBox="1"/>
          <p:nvPr/>
        </p:nvSpPr>
        <p:spPr>
          <a:xfrm>
            <a:off x="548640" y="1691640"/>
            <a:ext cx="384048" cy="384048"/>
          </a:xfrm>
          <a:prstGeom prst="rect">
            <a:avLst/>
          </a:prstGeom>
          <a:noFill/>
          <a:ln/>
        </p:spPr>
        <p:txBody>
          <a:bodyPr wrap="square" lIns="0" tIns="0" rIns="0" bIns="0" rtlCol="0" anchor="ctr"/>
          <a:lstStyle/>
          <a:p>
            <a:pPr algn="ctr" indent="0" marL="0">
              <a:buNone/>
            </a:pPr>
            <a:r>
              <a:rPr lang="en-US" sz="1400" b="1" dirty="0">
                <a:solidFill>
                  <a:srgbClr val="D9A441"/>
                </a:solidFill>
              </a:rPr>
              <a:t>1</a:t>
            </a:r>
            <a:endParaRPr lang="en-US" sz="1400" dirty="0"/>
          </a:p>
        </p:txBody>
      </p:sp>
      <p:sp>
        <p:nvSpPr>
          <p:cNvPr id="6" name="Text 4"/>
          <p:cNvSpPr txBox="1"/>
          <p:nvPr/>
        </p:nvSpPr>
        <p:spPr>
          <a:xfrm>
            <a:off x="1097280" y="1673352"/>
            <a:ext cx="4572000" cy="320040"/>
          </a:xfrm>
          <a:prstGeom prst="rect">
            <a:avLst/>
          </a:prstGeom>
          <a:noFill/>
          <a:ln/>
        </p:spPr>
        <p:txBody>
          <a:bodyPr wrap="square" lIns="0" tIns="0" rIns="0" bIns="0" rtlCol="0" anchor="t"/>
          <a:lstStyle/>
          <a:p>
            <a:pPr indent="0" marL="0">
              <a:buNone/>
            </a:pPr>
            <a:r>
              <a:rPr lang="en-US" sz="1500" b="1" dirty="0">
                <a:solidFill>
                  <a:srgbClr val="14213D"/>
                </a:solidFill>
              </a:rPr>
              <a:t>Parse once, unmerge safely</a:t>
            </a:r>
            <a:endParaRPr lang="en-US" sz="1500" dirty="0"/>
          </a:p>
        </p:txBody>
      </p:sp>
      <p:sp>
        <p:nvSpPr>
          <p:cNvPr id="7" name="Text 5"/>
          <p:cNvSpPr txBox="1"/>
          <p:nvPr/>
        </p:nvSpPr>
        <p:spPr>
          <a:xfrm>
            <a:off x="1097280" y="2020824"/>
            <a:ext cx="4663440" cy="685800"/>
          </a:xfrm>
          <a:prstGeom prst="rect">
            <a:avLst/>
          </a:prstGeom>
          <a:noFill/>
          <a:ln/>
        </p:spPr>
        <p:txBody>
          <a:bodyPr wrap="square" lIns="0" tIns="0" rIns="0" bIns="0" rtlCol="0" anchor="t"/>
          <a:lstStyle/>
          <a:p>
            <a:pPr indent="0" marL="0">
              <a:buNone/>
            </a:pPr>
            <a:r>
              <a:rPr lang="en-US" sz="1250" dirty="0">
                <a:solidFill>
                  <a:srgbClr val="3D4757"/>
                </a:solidFill>
              </a:rPr>
              <a:t>Merged values fill down their first column only; banners and footnotes are never copied into data cells.</a:t>
            </a:r>
            <a:endParaRPr lang="en-US" sz="1250" dirty="0"/>
          </a:p>
        </p:txBody>
      </p:sp>
      <p:sp>
        <p:nvSpPr>
          <p:cNvPr id="8" name="Shape 6"/>
          <p:cNvSpPr/>
          <p:nvPr/>
        </p:nvSpPr>
        <p:spPr>
          <a:xfrm>
            <a:off x="548640" y="2770632"/>
            <a:ext cx="384048" cy="384048"/>
          </a:xfrm>
          <a:prstGeom prst="roundRect">
            <a:avLst>
              <a:gd name="adj" fmla="val 14286"/>
            </a:avLst>
          </a:prstGeom>
          <a:solidFill>
            <a:srgbClr val="14213D"/>
          </a:solidFill>
          <a:ln w="12700">
            <a:solidFill>
              <a:srgbClr val="14213D"/>
            </a:solidFill>
            <a:prstDash val="solid"/>
          </a:ln>
        </p:spPr>
      </p:sp>
      <p:sp>
        <p:nvSpPr>
          <p:cNvPr id="9" name="Text 7"/>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400" b="1" dirty="0">
                <a:solidFill>
                  <a:srgbClr val="D9A441"/>
                </a:solidFill>
              </a:rPr>
              <a:t>2</a:t>
            </a:r>
            <a:endParaRPr lang="en-US" sz="1400" dirty="0"/>
          </a:p>
        </p:txBody>
      </p:sp>
      <p:sp>
        <p:nvSpPr>
          <p:cNvPr id="10" name="Text 8"/>
          <p:cNvSpPr txBox="1"/>
          <p:nvPr/>
        </p:nvSpPr>
        <p:spPr>
          <a:xfrm>
            <a:off x="1097280" y="2752344"/>
            <a:ext cx="4572000" cy="320040"/>
          </a:xfrm>
          <a:prstGeom prst="rect">
            <a:avLst/>
          </a:prstGeom>
          <a:noFill/>
          <a:ln/>
        </p:spPr>
        <p:txBody>
          <a:bodyPr wrap="square" lIns="0" tIns="0" rIns="0" bIns="0" rtlCol="0" anchor="t"/>
          <a:lstStyle/>
          <a:p>
            <a:pPr indent="0" marL="0">
              <a:buNone/>
            </a:pPr>
            <a:r>
              <a:rPr lang="en-US" sz="1500" b="1" dirty="0">
                <a:solidFill>
                  <a:srgbClr val="14213D"/>
                </a:solidFill>
              </a:rPr>
              <a:t>Locate the header row</a:t>
            </a:r>
            <a:endParaRPr lang="en-US" sz="1500" dirty="0"/>
          </a:p>
        </p:txBody>
      </p:sp>
      <p:sp>
        <p:nvSpPr>
          <p:cNvPr id="11" name="Text 9"/>
          <p:cNvSpPr txBox="1"/>
          <p:nvPr/>
        </p:nvSpPr>
        <p:spPr>
          <a:xfrm>
            <a:off x="1097280" y="3099816"/>
            <a:ext cx="4663440" cy="685800"/>
          </a:xfrm>
          <a:prstGeom prst="rect">
            <a:avLst/>
          </a:prstGeom>
          <a:noFill/>
          <a:ln/>
        </p:spPr>
        <p:txBody>
          <a:bodyPr wrap="square" lIns="0" tIns="0" rIns="0" bIns="0" rtlCol="0" anchor="t"/>
          <a:lstStyle/>
          <a:p>
            <a:pPr indent="0" marL="0">
              <a:buNone/>
            </a:pPr>
            <a:r>
              <a:rPr lang="en-US" sz="1250" dirty="0">
                <a:solidFill>
                  <a:srgbClr val="3D4757"/>
                </a:solidFill>
              </a:rPr>
              <a:t>Score the first 30 rows: 0.40 vocabulary match + 0.20 text + 0.20 fill + 0.20 numeric data below.</a:t>
            </a:r>
            <a:endParaRPr lang="en-US" sz="1250" dirty="0"/>
          </a:p>
        </p:txBody>
      </p:sp>
      <p:sp>
        <p:nvSpPr>
          <p:cNvPr id="12" name="Shape 10"/>
          <p:cNvSpPr/>
          <p:nvPr/>
        </p:nvSpPr>
        <p:spPr>
          <a:xfrm>
            <a:off x="548640" y="3849624"/>
            <a:ext cx="384048" cy="384048"/>
          </a:xfrm>
          <a:prstGeom prst="roundRect">
            <a:avLst>
              <a:gd name="adj" fmla="val 14286"/>
            </a:avLst>
          </a:prstGeom>
          <a:solidFill>
            <a:srgbClr val="14213D"/>
          </a:solidFill>
          <a:ln w="12700">
            <a:solidFill>
              <a:srgbClr val="14213D"/>
            </a:solidFill>
            <a:prstDash val="solid"/>
          </a:ln>
        </p:spPr>
      </p:sp>
      <p:sp>
        <p:nvSpPr>
          <p:cNvPr id="13" name="Text 11"/>
          <p:cNvSpPr txBox="1"/>
          <p:nvPr/>
        </p:nvSpPr>
        <p:spPr>
          <a:xfrm>
            <a:off x="548640" y="3849624"/>
            <a:ext cx="384048" cy="384048"/>
          </a:xfrm>
          <a:prstGeom prst="rect">
            <a:avLst/>
          </a:prstGeom>
          <a:noFill/>
          <a:ln/>
        </p:spPr>
        <p:txBody>
          <a:bodyPr wrap="square" lIns="0" tIns="0" rIns="0" bIns="0" rtlCol="0" anchor="ctr"/>
          <a:lstStyle/>
          <a:p>
            <a:pPr algn="ctr" indent="0" marL="0">
              <a:buNone/>
            </a:pPr>
            <a:r>
              <a:rPr lang="en-US" sz="1400" b="1" dirty="0">
                <a:solidFill>
                  <a:srgbClr val="D9A441"/>
                </a:solidFill>
              </a:rPr>
              <a:t>3</a:t>
            </a:r>
            <a:endParaRPr lang="en-US" sz="1400" dirty="0"/>
          </a:p>
        </p:txBody>
      </p:sp>
      <p:sp>
        <p:nvSpPr>
          <p:cNvPr id="14" name="Text 12"/>
          <p:cNvSpPr txBox="1"/>
          <p:nvPr/>
        </p:nvSpPr>
        <p:spPr>
          <a:xfrm>
            <a:off x="1097280" y="3831336"/>
            <a:ext cx="4572000" cy="320040"/>
          </a:xfrm>
          <a:prstGeom prst="rect">
            <a:avLst/>
          </a:prstGeom>
          <a:noFill/>
          <a:ln/>
        </p:spPr>
        <p:txBody>
          <a:bodyPr wrap="square" lIns="0" tIns="0" rIns="0" bIns="0" rtlCol="0" anchor="t"/>
          <a:lstStyle/>
          <a:p>
            <a:pPr indent="0" marL="0">
              <a:buNone/>
            </a:pPr>
            <a:r>
              <a:rPr lang="en-US" sz="1500" b="1" dirty="0">
                <a:solidFill>
                  <a:srgbClr val="14213D"/>
                </a:solidFill>
              </a:rPr>
              <a:t>Classify every sheet</a:t>
            </a:r>
            <a:endParaRPr lang="en-US" sz="1500" dirty="0"/>
          </a:p>
        </p:txBody>
      </p:sp>
      <p:sp>
        <p:nvSpPr>
          <p:cNvPr id="15" name="Text 13"/>
          <p:cNvSpPr txBox="1"/>
          <p:nvPr/>
        </p:nvSpPr>
        <p:spPr>
          <a:xfrm>
            <a:off x="1097280" y="4178808"/>
            <a:ext cx="4663440" cy="685800"/>
          </a:xfrm>
          <a:prstGeom prst="rect">
            <a:avLst/>
          </a:prstGeom>
          <a:noFill/>
          <a:ln/>
        </p:spPr>
        <p:txBody>
          <a:bodyPr wrap="square" lIns="0" tIns="0" rIns="0" bIns="0" rtlCol="0" anchor="t"/>
          <a:lstStyle/>
          <a:p>
            <a:pPr indent="0" marL="0">
              <a:buNone/>
            </a:pPr>
            <a:r>
              <a:rPr lang="en-US" sz="1250" dirty="0">
                <a:solidFill>
                  <a:srgbClr val="3D4757"/>
                </a:solidFill>
              </a:rPr>
              <a:t>0.35 header match + 0.25 density + 0.20 type consistency + 0.20 volume → Primary, Secondary or Reject, with reasons.</a:t>
            </a:r>
            <a:endParaRPr lang="en-US" sz="1250" dirty="0"/>
          </a:p>
        </p:txBody>
      </p:sp>
      <p:sp>
        <p:nvSpPr>
          <p:cNvPr id="16" name="Shape 14"/>
          <p:cNvSpPr/>
          <p:nvPr/>
        </p:nvSpPr>
        <p:spPr>
          <a:xfrm>
            <a:off x="548640" y="4928616"/>
            <a:ext cx="384048" cy="384048"/>
          </a:xfrm>
          <a:prstGeom prst="roundRect">
            <a:avLst>
              <a:gd name="adj" fmla="val 14286"/>
            </a:avLst>
          </a:prstGeom>
          <a:solidFill>
            <a:srgbClr val="14213D"/>
          </a:solidFill>
          <a:ln w="12700">
            <a:solidFill>
              <a:srgbClr val="14213D"/>
            </a:solidFill>
            <a:prstDash val="solid"/>
          </a:ln>
        </p:spPr>
      </p:sp>
      <p:sp>
        <p:nvSpPr>
          <p:cNvPr id="17" name="Text 15"/>
          <p:cNvSpPr txBox="1"/>
          <p:nvPr/>
        </p:nvSpPr>
        <p:spPr>
          <a:xfrm>
            <a:off x="548640" y="4928616"/>
            <a:ext cx="384048" cy="384048"/>
          </a:xfrm>
          <a:prstGeom prst="rect">
            <a:avLst/>
          </a:prstGeom>
          <a:noFill/>
          <a:ln/>
        </p:spPr>
        <p:txBody>
          <a:bodyPr wrap="square" lIns="0" tIns="0" rIns="0" bIns="0" rtlCol="0" anchor="ctr"/>
          <a:lstStyle/>
          <a:p>
            <a:pPr algn="ctr" indent="0" marL="0">
              <a:buNone/>
            </a:pPr>
            <a:r>
              <a:rPr lang="en-US" sz="1400" b="1" dirty="0">
                <a:solidFill>
                  <a:srgbClr val="D9A441"/>
                </a:solidFill>
              </a:rPr>
              <a:t>4</a:t>
            </a:r>
            <a:endParaRPr lang="en-US" sz="1400" dirty="0"/>
          </a:p>
        </p:txBody>
      </p:sp>
      <p:sp>
        <p:nvSpPr>
          <p:cNvPr id="18" name="Text 16"/>
          <p:cNvSpPr txBox="1"/>
          <p:nvPr/>
        </p:nvSpPr>
        <p:spPr>
          <a:xfrm>
            <a:off x="1097280" y="4910328"/>
            <a:ext cx="4572000" cy="320040"/>
          </a:xfrm>
          <a:prstGeom prst="rect">
            <a:avLst/>
          </a:prstGeom>
          <a:noFill/>
          <a:ln/>
        </p:spPr>
        <p:txBody>
          <a:bodyPr wrap="square" lIns="0" tIns="0" rIns="0" bIns="0" rtlCol="0" anchor="t"/>
          <a:lstStyle/>
          <a:p>
            <a:pPr indent="0" marL="0">
              <a:buNone/>
            </a:pPr>
            <a:r>
              <a:rPr lang="en-US" sz="1500" b="1" dirty="0">
                <a:solidFill>
                  <a:srgbClr val="14213D"/>
                </a:solidFill>
              </a:rPr>
              <a:t>Merge the data sheets</a:t>
            </a:r>
            <a:endParaRPr lang="en-US" sz="1500" dirty="0"/>
          </a:p>
        </p:txBody>
      </p:sp>
      <p:sp>
        <p:nvSpPr>
          <p:cNvPr id="19" name="Text 17"/>
          <p:cNvSpPr txBox="1"/>
          <p:nvPr/>
        </p:nvSpPr>
        <p:spPr>
          <a:xfrm>
            <a:off x="1097280" y="5257800"/>
            <a:ext cx="4663440" cy="685800"/>
          </a:xfrm>
          <a:prstGeom prst="rect">
            <a:avLst/>
          </a:prstGeom>
          <a:noFill/>
          <a:ln/>
        </p:spPr>
        <p:txBody>
          <a:bodyPr wrap="square" lIns="0" tIns="0" rIns="0" bIns="0" rtlCol="0" anchor="t"/>
          <a:lstStyle/>
          <a:p>
            <a:pPr indent="0" marL="0">
              <a:buNone/>
            </a:pPr>
            <a:r>
              <a:rPr lang="en-US" sz="1250" dirty="0">
                <a:solidFill>
                  <a:srgbClr val="3D4757"/>
                </a:solidFill>
              </a:rPr>
              <a:t>Every Primary tab is stacked into one table; totals, footnotes and blank rows are dropped.</a:t>
            </a:r>
            <a:endParaRPr lang="en-US" sz="1250" dirty="0"/>
          </a:p>
        </p:txBody>
      </p:sp>
      <p:sp>
        <p:nvSpPr>
          <p:cNvPr id="20" name="Shape 18"/>
          <p:cNvSpPr/>
          <p:nvPr/>
        </p:nvSpPr>
        <p:spPr>
          <a:xfrm>
            <a:off x="6135624" y="1746504"/>
            <a:ext cx="5513832" cy="3493980"/>
          </a:xfrm>
          <a:prstGeom prst="rect">
            <a:avLst/>
          </a:prstGeom>
          <a:solidFill>
            <a:srgbClr val="FFFFFF"/>
          </a:solidFill>
          <a:ln w="9525">
            <a:solidFill>
              <a:srgbClr val="D8D3C6"/>
            </a:solidFill>
            <a:prstDash val="solid"/>
          </a:ln>
          <a:effectLst>
            <a:outerShdw sx="100000" sy="100000" kx="0" ky="0" algn="bl" rotWithShape="0" blurRad="76200" dist="25400" dir="5400000">
              <a:srgbClr val="000000">
                <a:alpha val="12000"/>
              </a:srgbClr>
            </a:outerShdw>
          </a:effectLst>
        </p:spPr>
      </p:sp>
      <p:pic>
        <p:nvPicPr>
          <p:cNvPr id="21" name="Image 0" descr="Live app, SOV_K4T9: 7 tabs → Locations is Primary, header on row 5 (Excel row 6)">    </p:cNvPr>
          <p:cNvPicPr>
            <a:picLocks noChangeAspect="1"/>
          </p:cNvPicPr>
          <p:nvPr/>
        </p:nvPicPr>
        <p:blipFill>
          <a:blip r:embed="rId1"/>
          <a:stretch>
            <a:fillRect/>
          </a:stretch>
        </p:blipFill>
        <p:spPr>
          <a:xfrm>
            <a:off x="6172200" y="1783080"/>
            <a:ext cx="5440680" cy="3420828"/>
          </a:xfrm>
          <a:prstGeom prst="rect">
            <a:avLst/>
          </a:prstGeom>
        </p:spPr>
      </p:pic>
      <p:sp>
        <p:nvSpPr>
          <p:cNvPr id="22" name="Text 19"/>
          <p:cNvSpPr txBox="1"/>
          <p:nvPr/>
        </p:nvSpPr>
        <p:spPr>
          <a:xfrm>
            <a:off x="6172200" y="5313636"/>
            <a:ext cx="5440680" cy="274320"/>
          </a:xfrm>
          <a:prstGeom prst="rect">
            <a:avLst/>
          </a:prstGeom>
          <a:noFill/>
          <a:ln/>
        </p:spPr>
        <p:txBody>
          <a:bodyPr wrap="square" lIns="0" tIns="0" rIns="0" bIns="0" rtlCol="0" anchor="t"/>
          <a:lstStyle/>
          <a:p>
            <a:pPr indent="0" marL="0">
              <a:buNone/>
            </a:pPr>
            <a:r>
              <a:rPr lang="en-US" sz="1100" i="1" dirty="0">
                <a:solidFill>
                  <a:srgbClr val="5A6472"/>
                </a:solidFill>
              </a:rPr>
              <a:t>Live app, SOV_K4T9: 7 tabs → Locations is Primary, header on row 5 (Excel row 6)</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06 · LLD · AGENT 2: SCHEMA MAPPING</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Cheap and certain first, LLM last, values always checked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20840" cy="914400"/>
        </p:xfrm>
        <a:graphic>
          <a:graphicData uri="http://schemas.openxmlformats.org/drawingml/2006/table">
            <a:tbl>
              <a:tblPr/>
              <a:tblGrid>
                <a:gridCol w="1325880"/>
                <a:gridCol w="4160520"/>
                <a:gridCol w="1234440"/>
              </a:tblGrid>
              <a:tr h="475488">
                <a:tc>
                  <a:txBody>
                    <a:bodyPr/>
                    <a:lstStyle/>
                    <a:p>
                      <a:pPr indent="0" marL="0">
                        <a:buNone/>
                      </a:pPr>
                      <a:r>
                        <a:rPr lang="en-US" sz="1200" b="1" dirty="0">
                          <a:solidFill>
                            <a:srgbClr val="FFFFFF"/>
                          </a:solidFill>
                        </a:rPr>
                        <a:t>Stage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Technique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Name score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r>
              <a:tr h="475488">
                <a:tc>
                  <a:txBody>
                    <a:bodyPr/>
                    <a:lstStyle/>
                    <a:p>
                      <a:pPr indent="0" marL="0">
                        <a:buNone/>
                      </a:pPr>
                      <a:r>
                        <a:rPr lang="en-US" sz="1200" dirty="0">
                          <a:solidFill>
                            <a:srgbClr val="3D4757"/>
                          </a:solidFill>
                        </a:rPr>
                        <a:t>0 · Memory</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Human-approved mappings in ChromaDB (similarity &gt; 0.85)</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stored, ×1.10</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75488">
                <a:tc>
                  <a:txBody>
                    <a:bodyPr/>
                    <a:lstStyle/>
                    <a:p>
                      <a:pPr indent="0" marL="0">
                        <a:buNone/>
                      </a:pPr>
                      <a:r>
                        <a:rPr lang="en-US" sz="1200" dirty="0">
                          <a:solidFill>
                            <a:srgbClr val="3D4757"/>
                          </a:solidFill>
                        </a:rPr>
                        <a:t>1 · Exact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Normalised match against 17 names + 130 synonyms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0.97</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75488">
                <a:tc>
                  <a:txBody>
                    <a:bodyPr/>
                    <a:lstStyle/>
                    <a:p>
                      <a:pPr indent="0" marL="0">
                        <a:buNone/>
                      </a:pPr>
                      <a:r>
                        <a:rPr lang="en-US" sz="1200" dirty="0">
                          <a:solidFill>
                            <a:srgbClr val="3D4757"/>
                          </a:solidFill>
                        </a:rPr>
                        <a:t>2 · Fuzzy</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RapidFuzz token sort ≥ 75, top 5 candidates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score × 0.92</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75488">
                <a:tc>
                  <a:txBody>
                    <a:bodyPr/>
                    <a:lstStyle/>
                    <a:p>
                      <a:pPr indent="0" marL="0">
                        <a:buNone/>
                      </a:pPr>
                      <a:r>
                        <a:rPr lang="en-US" sz="1200" dirty="0">
                          <a:solidFill>
                            <a:srgbClr val="3D4757"/>
                          </a:solidFill>
                        </a:rPr>
                        <a:t>3 · Semantic</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bge-small cosine ≥ 0.70 vs names, definitions, synonyms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cosine × 0.90</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75488">
                <a:tc>
                  <a:txBody>
                    <a:bodyPr/>
                    <a:lstStyle/>
                    <a:p>
                      <a:pPr indent="0" marL="0">
                        <a:buNone/>
                      </a:pPr>
                      <a:r>
                        <a:rPr lang="en-US" sz="1200" dirty="0">
                          <a:solidFill>
                            <a:srgbClr val="3D4757"/>
                          </a:solidFill>
                        </a:rPr>
                        <a:t>4 · LLM</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Unresolved columns only; masked sample values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conf × 0.85</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bl>
          </a:graphicData>
        </a:graphic>
      </p:graphicFrame>
      <p:sp>
        <p:nvSpPr>
          <p:cNvPr id="5" name="formula"/>
          <p:cNvSpPr/>
          <p:nvPr/>
        </p:nvSpPr>
        <p:spPr>
          <a:xfrm>
            <a:off x="7498080" y="1691640"/>
            <a:ext cx="4142232" cy="1371600"/>
          </a:xfrm>
          <a:prstGeom prst="roundRect">
            <a:avLst>
              <a:gd name="adj" fmla="val 5333"/>
            </a:avLst>
          </a:prstGeom>
          <a:solidFill>
            <a:srgbClr val="14213D"/>
          </a:solidFill>
          <a:ln w="9525">
            <a:solidFill>
              <a:srgbClr val="14213D"/>
            </a:solidFill>
            <a:prstDash val="solid"/>
          </a:ln>
        </p:spPr>
      </p:sp>
      <p:sp>
        <p:nvSpPr>
          <p:cNvPr id="6" name="Text 3"/>
          <p:cNvSpPr txBox="1"/>
          <p:nvPr/>
        </p:nvSpPr>
        <p:spPr>
          <a:xfrm>
            <a:off x="7726680" y="1828800"/>
            <a:ext cx="3657600" cy="228600"/>
          </a:xfrm>
          <a:prstGeom prst="rect">
            <a:avLst/>
          </a:prstGeom>
          <a:noFill/>
          <a:ln/>
        </p:spPr>
        <p:txBody>
          <a:bodyPr wrap="square" lIns="0" tIns="0" rIns="0" bIns="0" rtlCol="0" anchor="t"/>
          <a:lstStyle/>
          <a:p>
            <a:pPr indent="0" marL="0">
              <a:buNone/>
            </a:pPr>
            <a:r>
              <a:rPr lang="en-US" sz="1000" b="1" spc="100" kern="0" dirty="0">
                <a:solidFill>
                  <a:srgbClr val="D9A441"/>
                </a:solidFill>
              </a:rPr>
              <a:t>CONFIDENCE</a:t>
            </a:r>
            <a:endParaRPr lang="en-US" sz="1000" dirty="0"/>
          </a:p>
        </p:txBody>
      </p:sp>
      <p:sp>
        <p:nvSpPr>
          <p:cNvPr id="7" name="Text 4"/>
          <p:cNvSpPr txBox="1"/>
          <p:nvPr/>
        </p:nvSpPr>
        <p:spPr>
          <a:xfrm>
            <a:off x="7726680" y="2103120"/>
            <a:ext cx="3749040" cy="86868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0.45 × name similarity</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+ 0.35 × value-profile fit</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+ 0.20 × method agreement</a:t>
            </a:r>
            <a:endParaRPr lang="en-US" sz="1400" dirty="0"/>
          </a:p>
        </p:txBody>
      </p:sp>
      <p:sp>
        <p:nvSpPr>
          <p:cNvPr id="8" name="Text 5"/>
          <p:cNvSpPr txBox="1"/>
          <p:nvPr/>
        </p:nvSpPr>
        <p:spPr>
          <a:xfrm>
            <a:off x="7498080" y="3246120"/>
            <a:ext cx="4114800" cy="274320"/>
          </a:xfrm>
          <a:prstGeom prst="rect">
            <a:avLst/>
          </a:prstGeom>
          <a:noFill/>
          <a:ln/>
        </p:spPr>
        <p:txBody>
          <a:bodyPr wrap="square" lIns="0" tIns="0" rIns="0" bIns="0" rtlCol="0" anchor="t"/>
          <a:lstStyle/>
          <a:p>
            <a:pPr indent="0" marL="0">
              <a:buNone/>
            </a:pPr>
            <a:r>
              <a:rPr lang="en-US" sz="1400" b="1" dirty="0">
                <a:solidFill>
                  <a:srgbClr val="1D6F6F"/>
                </a:solidFill>
              </a:rPr>
              <a:t>Value veto</a:t>
            </a:r>
            <a:endParaRPr lang="en-US" sz="1400" dirty="0"/>
          </a:p>
        </p:txBody>
      </p:sp>
      <p:sp>
        <p:nvSpPr>
          <p:cNvPr id="9" name="Text 6"/>
          <p:cNvSpPr txBox="1"/>
          <p:nvPr/>
        </p:nvSpPr>
        <p:spPr>
          <a:xfrm>
            <a:off x="7498080" y="3538728"/>
            <a:ext cx="4142232" cy="640080"/>
          </a:xfrm>
          <a:prstGeom prst="rect">
            <a:avLst/>
          </a:prstGeom>
          <a:noFill/>
          <a:ln/>
        </p:spPr>
        <p:txBody>
          <a:bodyPr wrap="square" lIns="0" tIns="0" rIns="0" bIns="0" rtlCol="0" anchor="t"/>
          <a:lstStyle/>
          <a:p>
            <a:pPr indent="0" marL="0">
              <a:buNone/>
            </a:pPr>
            <a:r>
              <a:rPr lang="en-US" sz="1200" dirty="0">
                <a:solidFill>
                  <a:srgbClr val="3D4757"/>
                </a:solidFill>
              </a:rPr>
              <a:t>Fit &lt; 0.25 rejects a candidate at every stage: building numbers are not a Building Value, longitudes are not a Country.</a:t>
            </a:r>
            <a:endParaRPr lang="en-US" sz="1200" dirty="0"/>
          </a:p>
        </p:txBody>
      </p:sp>
      <p:sp>
        <p:nvSpPr>
          <p:cNvPr id="10" name="Text 7"/>
          <p:cNvSpPr txBox="1"/>
          <p:nvPr/>
        </p:nvSpPr>
        <p:spPr>
          <a:xfrm>
            <a:off x="7498080" y="4215384"/>
            <a:ext cx="4114800" cy="274320"/>
          </a:xfrm>
          <a:prstGeom prst="rect">
            <a:avLst/>
          </a:prstGeom>
          <a:noFill/>
          <a:ln/>
        </p:spPr>
        <p:txBody>
          <a:bodyPr wrap="square" lIns="0" tIns="0" rIns="0" bIns="0" rtlCol="0" anchor="t"/>
          <a:lstStyle/>
          <a:p>
            <a:pPr indent="0" marL="0">
              <a:buNone/>
            </a:pPr>
            <a:r>
              <a:rPr lang="en-US" sz="1400" b="1" dirty="0">
                <a:solidFill>
                  <a:srgbClr val="1D6F6F"/>
                </a:solidFill>
              </a:rPr>
              <a:t>Strongest first</a:t>
            </a:r>
            <a:endParaRPr lang="en-US" sz="1400" dirty="0"/>
          </a:p>
        </p:txBody>
      </p:sp>
      <p:sp>
        <p:nvSpPr>
          <p:cNvPr id="11" name="Text 8"/>
          <p:cNvSpPr txBox="1"/>
          <p:nvPr/>
        </p:nvSpPr>
        <p:spPr>
          <a:xfrm>
            <a:off x="7498080" y="4507992"/>
            <a:ext cx="4142232" cy="640080"/>
          </a:xfrm>
          <a:prstGeom prst="rect">
            <a:avLst/>
          </a:prstGeom>
          <a:noFill/>
          <a:ln/>
        </p:spPr>
        <p:txBody>
          <a:bodyPr wrap="square" lIns="0" tIns="0" rIns="0" bIns="0" rtlCol="0" anchor="t"/>
          <a:lstStyle/>
          <a:p>
            <a:pPr indent="0" marL="0">
              <a:buNone/>
            </a:pPr>
            <a:r>
              <a:rPr lang="en-US" sz="1200" dirty="0">
                <a:solidFill>
                  <a:srgbClr val="3D4757"/>
                </a:solidFill>
              </a:rPr>
              <a:t>Columns claim targets in confidence order, 1:1 within each sheet.</a:t>
            </a:r>
            <a:endParaRPr lang="en-US" sz="1200" dirty="0"/>
          </a:p>
        </p:txBody>
      </p:sp>
      <p:sp>
        <p:nvSpPr>
          <p:cNvPr id="12" name="Text 9"/>
          <p:cNvSpPr txBox="1"/>
          <p:nvPr/>
        </p:nvSpPr>
        <p:spPr>
          <a:xfrm>
            <a:off x="7498080" y="5184648"/>
            <a:ext cx="4114800" cy="274320"/>
          </a:xfrm>
          <a:prstGeom prst="rect">
            <a:avLst/>
          </a:prstGeom>
          <a:noFill/>
          <a:ln/>
        </p:spPr>
        <p:txBody>
          <a:bodyPr wrap="square" lIns="0" tIns="0" rIns="0" bIns="0" rtlCol="0" anchor="t"/>
          <a:lstStyle/>
          <a:p>
            <a:pPr indent="0" marL="0">
              <a:buNone/>
            </a:pPr>
            <a:r>
              <a:rPr lang="en-US" sz="1400" b="1" dirty="0">
                <a:solidFill>
                  <a:srgbClr val="1D6F6F"/>
                </a:solidFill>
              </a:rPr>
              <a:t>Review gates</a:t>
            </a:r>
            <a:endParaRPr lang="en-US" sz="1400" dirty="0"/>
          </a:p>
        </p:txBody>
      </p:sp>
      <p:sp>
        <p:nvSpPr>
          <p:cNvPr id="13" name="Text 10"/>
          <p:cNvSpPr txBox="1"/>
          <p:nvPr/>
        </p:nvSpPr>
        <p:spPr>
          <a:xfrm>
            <a:off x="7498080" y="5477256"/>
            <a:ext cx="4142232" cy="640080"/>
          </a:xfrm>
          <a:prstGeom prst="rect">
            <a:avLst/>
          </a:prstGeom>
          <a:noFill/>
          <a:ln/>
        </p:spPr>
        <p:txBody>
          <a:bodyPr wrap="square" lIns="0" tIns="0" rIns="0" bIns="0" rtlCol="0" anchor="t"/>
          <a:lstStyle/>
          <a:p>
            <a:pPr indent="0" marL="0">
              <a:buNone/>
            </a:pPr>
            <a:r>
              <a:rPr lang="en-US" sz="1200" dirty="0">
                <a:solidFill>
                  <a:srgbClr val="3D4757"/>
                </a:solidFill>
              </a:rPr>
              <a:t>≥ 0.90 may be bulk-approved; below 0.90 is decided one by one.</a:t>
            </a:r>
            <a:endParaRPr lang="en-US" sz="1200" dirty="0"/>
          </a:p>
        </p:txBody>
      </p:sp>
      <p:sp>
        <p:nvSpPr>
          <p:cNvPr id="14" name="Text 11"/>
          <p:cNvSpPr txBox="1"/>
          <p:nvPr/>
        </p:nvSpPr>
        <p:spPr>
          <a:xfrm>
            <a:off x="548640" y="4800600"/>
            <a:ext cx="6720840" cy="640080"/>
          </a:xfrm>
          <a:prstGeom prst="rect">
            <a:avLst/>
          </a:prstGeom>
          <a:noFill/>
          <a:ln/>
        </p:spPr>
        <p:txBody>
          <a:bodyPr wrap="square" lIns="0" tIns="0" rIns="0" bIns="0" rtlCol="0" anchor="t"/>
          <a:lstStyle/>
          <a:p>
            <a:pPr indent="0" marL="0">
              <a:buNone/>
            </a:pPr>
            <a:r>
              <a:rPr lang="en-US" sz="1300" i="1" dirty="0">
                <a:solidFill>
                  <a:srgbClr val="5A6472"/>
                </a:solidFill>
              </a:rPr>
              <a:t>Real effect: on the provided files, mapping went from 51% to 55 / 55 correct once values could veto names and the strongest column claimed first.</a:t>
            </a:r>
            <a:endParaRPr lang="en-US" sz="13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07 · LLD · AGENT 3: DATA QUALITY &amp; REASONING</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Rules find the issues; feedback triggers re-reasoning</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492240" cy="914400"/>
        </p:xfrm>
        <a:graphic>
          <a:graphicData uri="http://schemas.openxmlformats.org/drawingml/2006/table">
            <a:tbl>
              <a:tblPr/>
              <a:tblGrid>
                <a:gridCol w="1920240"/>
                <a:gridCol w="2606040"/>
                <a:gridCol w="1965960"/>
              </a:tblGrid>
              <a:tr h="457200">
                <a:tc>
                  <a:txBody>
                    <a:bodyPr/>
                    <a:lstStyle/>
                    <a:p>
                      <a:pPr indent="0" marL="0">
                        <a:buNone/>
                      </a:pPr>
                      <a:r>
                        <a:rPr lang="en-US" sz="1200" b="1" dirty="0">
                          <a:solidFill>
                            <a:srgbClr val="FFFFFF"/>
                          </a:solidFill>
                        </a:rPr>
                        <a:t>Check</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Real example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Suggested fix</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r>
              <a:tr h="457200">
                <a:tc>
                  <a:txBody>
                    <a:bodyPr/>
                    <a:lstStyle/>
                    <a:p>
                      <a:pPr indent="0" marL="0">
                        <a:buNone/>
                      </a:pPr>
                      <a:r>
                        <a:rPr lang="en-US" sz="1200" dirty="0">
                          <a:solidFill>
                            <a:srgbClr val="3D4757"/>
                          </a:solidFill>
                        </a:rPr>
                        <a:t>Completeness per field</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Reference 44.6% filled</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flag for review</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57200">
                <a:tc>
                  <a:txBody>
                    <a:bodyPr/>
                    <a:lstStyle/>
                    <a:p>
                      <a:pPr indent="0" marL="0">
                        <a:buNone/>
                      </a:pPr>
                      <a:r>
                        <a:rPr lang="en-US" sz="1200" dirty="0">
                          <a:solidFill>
                            <a:srgbClr val="3D4757"/>
                          </a:solidFill>
                        </a:rPr>
                        <a:t>Currency / format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$1,500,000 · “Yes” · “V.I.”</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strip_currency · codes · state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57200">
                <a:tc>
                  <a:txBody>
                    <a:bodyPr/>
                    <a:lstStyle/>
                    <a:p>
                      <a:pPr indent="0" marL="0">
                        <a:buNone/>
                      </a:pPr>
                      <a:r>
                        <a:rPr lang="en-US" sz="1200" dirty="0">
                          <a:solidFill>
                            <a:srgbClr val="3D4757"/>
                          </a:solidFill>
                        </a:rPr>
                        <a:t>Logical / range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Year Built “1989 / 2012”, 9999</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to_year_int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57200">
                <a:tc>
                  <a:txBody>
                    <a:bodyPr/>
                    <a:lstStyle/>
                    <a:p>
                      <a:pPr indent="0" marL="0">
                        <a:buNone/>
                      </a:pPr>
                      <a:r>
                        <a:rPr lang="en-US" sz="1200" dirty="0">
                          <a:solidFill>
                            <a:srgbClr val="3D4757"/>
                          </a:solidFill>
                        </a:rPr>
                        <a:t>Type errors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“Included in Bldg”, “2 + B and 1”</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flag · to_int (no truncation)</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57200">
                <a:tc>
                  <a:txBody>
                    <a:bodyPr/>
                    <a:lstStyle/>
                    <a:p>
                      <a:pPr indent="0" marL="0">
                        <a:buNone/>
                      </a:pPr>
                      <a:r>
                        <a:rPr lang="en-US" sz="1200" dirty="0">
                          <a:solidFill>
                            <a:srgbClr val="3D4757"/>
                          </a:solidFill>
                        </a:rPr>
                        <a:t>Duplicates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Repeated Reference IDs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flag for review</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457200">
                <a:tc>
                  <a:txBody>
                    <a:bodyPr/>
                    <a:lstStyle/>
                    <a:p>
                      <a:pPr indent="0" marL="0">
                        <a:buNone/>
                      </a:pPr>
                      <a:r>
                        <a:rPr lang="en-US" sz="1200" dirty="0">
                          <a:solidFill>
                            <a:srgbClr val="3D4757"/>
                          </a:solidFill>
                        </a:rPr>
                        <a:t>ZIP / integer fields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802 (lost leading zeros)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to_zip</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bl>
          </a:graphicData>
        </a:graphic>
      </p:graphicFrame>
      <p:sp>
        <p:nvSpPr>
          <p:cNvPr id="5" name="Text 2"/>
          <p:cNvSpPr txBox="1"/>
          <p:nvPr/>
        </p:nvSpPr>
        <p:spPr>
          <a:xfrm>
            <a:off x="548640" y="5074920"/>
            <a:ext cx="6492240" cy="640080"/>
          </a:xfrm>
          <a:prstGeom prst="rect">
            <a:avLst/>
          </a:prstGeom>
          <a:noFill/>
          <a:ln/>
        </p:spPr>
        <p:txBody>
          <a:bodyPr wrap="square" lIns="0" tIns="0" rIns="0" bIns="0" rtlCol="0" anchor="t"/>
          <a:lstStyle/>
          <a:p>
            <a:pPr indent="0" marL="0">
              <a:buNone/>
            </a:pPr>
            <a:r>
              <a:rPr lang="en-US" sz="1250" dirty="0">
                <a:solidFill>
                  <a:srgbClr val="5A6472"/>
                </a:solidFill>
              </a:rPr>
              <a:t>12 deterministic checks, so recall is measurable. The LLM only explains, from counts and masked examples, and can lower a confidence but never raise it.</a:t>
            </a:r>
            <a:endParaRPr lang="en-US" sz="1250" dirty="0"/>
          </a:p>
        </p:txBody>
      </p:sp>
      <p:sp>
        <p:nvSpPr>
          <p:cNvPr id="6" name="rereason"/>
          <p:cNvSpPr/>
          <p:nvPr/>
        </p:nvSpPr>
        <p:spPr>
          <a:xfrm>
            <a:off x="7360920" y="1691640"/>
            <a:ext cx="4279392" cy="4023360"/>
          </a:xfrm>
          <a:prstGeom prst="roundRect">
            <a:avLst>
              <a:gd name="adj" fmla="val 1818"/>
            </a:avLst>
          </a:prstGeom>
          <a:solidFill>
            <a:srgbClr val="FFFFFF"/>
          </a:solidFill>
          <a:ln w="9525">
            <a:solidFill>
              <a:srgbClr val="D8D3C6"/>
            </a:solidFill>
            <a:prstDash val="solid"/>
          </a:ln>
        </p:spPr>
      </p:sp>
      <p:sp>
        <p:nvSpPr>
          <p:cNvPr id="7" name="Text 4"/>
          <p:cNvSpPr txBox="1"/>
          <p:nvPr/>
        </p:nvSpPr>
        <p:spPr>
          <a:xfrm>
            <a:off x="7589520" y="1828800"/>
            <a:ext cx="3822192" cy="320040"/>
          </a:xfrm>
          <a:prstGeom prst="rect">
            <a:avLst/>
          </a:prstGeom>
          <a:noFill/>
          <a:ln/>
        </p:spPr>
        <p:txBody>
          <a:bodyPr wrap="square" lIns="0" tIns="0" rIns="0" bIns="0" rtlCol="0" anchor="t"/>
          <a:lstStyle/>
          <a:p>
            <a:pPr indent="0" marL="0">
              <a:buNone/>
            </a:pPr>
            <a:r>
              <a:rPr lang="en-US" sz="1400" b="1" dirty="0">
                <a:solidFill>
                  <a:srgbClr val="14213D"/>
                </a:solidFill>
              </a:rPr>
              <a:t>When a reviewer rejects with a note</a:t>
            </a:r>
            <a:endParaRPr lang="en-US" sz="1400" dirty="0"/>
          </a:p>
        </p:txBody>
      </p:sp>
      <p:sp>
        <p:nvSpPr>
          <p:cNvPr id="8" name="Shape 5"/>
          <p:cNvSpPr/>
          <p:nvPr/>
        </p:nvSpPr>
        <p:spPr>
          <a:xfrm>
            <a:off x="7635240" y="2286000"/>
            <a:ext cx="3730752" cy="502920"/>
          </a:xfrm>
          <a:prstGeom prst="roundRect">
            <a:avLst>
              <a:gd name="adj" fmla="val 10909"/>
            </a:avLst>
          </a:prstGeom>
          <a:solidFill>
            <a:srgbClr val="F4E6C6"/>
          </a:solidFill>
          <a:ln w="12700">
            <a:solidFill>
              <a:srgbClr val="F4E6C6"/>
            </a:solidFill>
            <a:prstDash val="solid"/>
          </a:ln>
        </p:spPr>
      </p:sp>
      <p:sp>
        <p:nvSpPr>
          <p:cNvPr id="9" name="Text 6"/>
          <p:cNvSpPr txBox="1"/>
          <p:nvPr/>
        </p:nvSpPr>
        <p:spPr>
          <a:xfrm>
            <a:off x="7772400" y="2286000"/>
            <a:ext cx="3456432" cy="502920"/>
          </a:xfrm>
          <a:prstGeom prst="rect">
            <a:avLst/>
          </a:prstGeom>
          <a:noFill/>
          <a:ln/>
        </p:spPr>
        <p:txBody>
          <a:bodyPr wrap="square" lIns="0" tIns="0" rIns="0" bIns="0" rtlCol="0" anchor="ctr"/>
          <a:lstStyle/>
          <a:p>
            <a:pPr indent="0" marL="0">
              <a:buNone/>
            </a:pPr>
            <a:r>
              <a:rPr lang="en-US" sz="1200" b="1" dirty="0">
                <a:solidFill>
                  <a:srgbClr val="8A5A0B"/>
                </a:solidFill>
              </a:rPr>
              <a:t>Mapping rejected: ask Agent 2's cascade again, without that target</a:t>
            </a:r>
            <a:endParaRPr lang="en-US" sz="1200" dirty="0"/>
          </a:p>
        </p:txBody>
      </p:sp>
      <p:sp>
        <p:nvSpPr>
          <p:cNvPr id="10" name="Shape 7"/>
          <p:cNvSpPr/>
          <p:nvPr/>
        </p:nvSpPr>
        <p:spPr>
          <a:xfrm>
            <a:off x="9500616" y="2807208"/>
            <a:ext cx="914" cy="237744"/>
          </a:xfrm>
          <a:prstGeom prst="line">
            <a:avLst/>
          </a:prstGeom>
          <a:noFill/>
          <a:ln w="19050">
            <a:solidFill>
              <a:srgbClr val="5A6472"/>
            </a:solidFill>
            <a:prstDash val="solid"/>
            <a:tailEnd type="triangle"/>
          </a:ln>
        </p:spPr>
      </p:sp>
      <p:sp>
        <p:nvSpPr>
          <p:cNvPr id="11" name="Shape 8"/>
          <p:cNvSpPr/>
          <p:nvPr/>
        </p:nvSpPr>
        <p:spPr>
          <a:xfrm>
            <a:off x="7635240" y="3081528"/>
            <a:ext cx="3730752" cy="502920"/>
          </a:xfrm>
          <a:prstGeom prst="roundRect">
            <a:avLst>
              <a:gd name="adj" fmla="val 10909"/>
            </a:avLst>
          </a:prstGeom>
          <a:solidFill>
            <a:srgbClr val="D6E8E6"/>
          </a:solidFill>
          <a:ln w="12700">
            <a:solidFill>
              <a:srgbClr val="D6E8E6"/>
            </a:solidFill>
            <a:prstDash val="solid"/>
          </a:ln>
        </p:spPr>
      </p:sp>
      <p:sp>
        <p:nvSpPr>
          <p:cNvPr id="12" name="Text 9"/>
          <p:cNvSpPr txBox="1"/>
          <p:nvPr/>
        </p:nvSpPr>
        <p:spPr>
          <a:xfrm>
            <a:off x="7772400" y="3081528"/>
            <a:ext cx="3456432" cy="502920"/>
          </a:xfrm>
          <a:prstGeom prst="rect">
            <a:avLst/>
          </a:prstGeom>
          <a:noFill/>
          <a:ln/>
        </p:spPr>
        <p:txBody>
          <a:bodyPr wrap="square" lIns="0" tIns="0" rIns="0" bIns="0" rtlCol="0" anchor="ctr"/>
          <a:lstStyle/>
          <a:p>
            <a:pPr indent="0" marL="0">
              <a:buNone/>
            </a:pPr>
            <a:r>
              <a:rPr lang="en-US" sz="1200" b="1" dirty="0">
                <a:solidFill>
                  <a:srgbClr val="1D6F6F"/>
                </a:solidFill>
              </a:rPr>
              <a:t>Alternative fits → re-proposed for review, citing the note</a:t>
            </a:r>
            <a:endParaRPr lang="en-US" sz="1200" dirty="0"/>
          </a:p>
        </p:txBody>
      </p:sp>
      <p:sp>
        <p:nvSpPr>
          <p:cNvPr id="13" name="Shape 10"/>
          <p:cNvSpPr/>
          <p:nvPr/>
        </p:nvSpPr>
        <p:spPr>
          <a:xfrm>
            <a:off x="7635240" y="3721608"/>
            <a:ext cx="3730752" cy="502920"/>
          </a:xfrm>
          <a:prstGeom prst="roundRect">
            <a:avLst>
              <a:gd name="adj" fmla="val 10909"/>
            </a:avLst>
          </a:prstGeom>
          <a:solidFill>
            <a:srgbClr val="F3DCD7"/>
          </a:solidFill>
          <a:ln w="12700">
            <a:solidFill>
              <a:srgbClr val="F3DCD7"/>
            </a:solidFill>
            <a:prstDash val="solid"/>
          </a:ln>
        </p:spPr>
      </p:sp>
      <p:sp>
        <p:nvSpPr>
          <p:cNvPr id="14" name="Text 11"/>
          <p:cNvSpPr txBox="1"/>
          <p:nvPr/>
        </p:nvSpPr>
        <p:spPr>
          <a:xfrm>
            <a:off x="7772400" y="3721608"/>
            <a:ext cx="3456432" cy="502920"/>
          </a:xfrm>
          <a:prstGeom prst="rect">
            <a:avLst/>
          </a:prstGeom>
          <a:noFill/>
          <a:ln/>
        </p:spPr>
        <p:txBody>
          <a:bodyPr wrap="square" lIns="0" tIns="0" rIns="0" bIns="0" rtlCol="0" anchor="ctr"/>
          <a:lstStyle/>
          <a:p>
            <a:pPr indent="0" marL="0">
              <a:buNone/>
            </a:pPr>
            <a:r>
              <a:rPr lang="en-US" sz="1200" b="1" dirty="0">
                <a:solidFill>
                  <a:srgbClr val="A33A2B"/>
                </a:solidFill>
              </a:rPr>
              <a:t>Nothing fits → ESCALATED to a human, who can assign a target</a:t>
            </a:r>
            <a:endParaRPr lang="en-US" sz="1200" dirty="0"/>
          </a:p>
        </p:txBody>
      </p:sp>
      <p:sp>
        <p:nvSpPr>
          <p:cNvPr id="15" name="Shape 12"/>
          <p:cNvSpPr/>
          <p:nvPr/>
        </p:nvSpPr>
        <p:spPr>
          <a:xfrm>
            <a:off x="7635240" y="4498848"/>
            <a:ext cx="3730752" cy="502920"/>
          </a:xfrm>
          <a:prstGeom prst="roundRect">
            <a:avLst>
              <a:gd name="adj" fmla="val 10909"/>
            </a:avLst>
          </a:prstGeom>
          <a:solidFill>
            <a:srgbClr val="E8ECF2"/>
          </a:solidFill>
          <a:ln w="12700">
            <a:solidFill>
              <a:srgbClr val="E8ECF2"/>
            </a:solidFill>
            <a:prstDash val="solid"/>
          </a:ln>
        </p:spPr>
      </p:sp>
      <p:sp>
        <p:nvSpPr>
          <p:cNvPr id="16" name="Text 13"/>
          <p:cNvSpPr txBox="1"/>
          <p:nvPr/>
        </p:nvSpPr>
        <p:spPr>
          <a:xfrm>
            <a:off x="7772400" y="4498848"/>
            <a:ext cx="3456432" cy="502920"/>
          </a:xfrm>
          <a:prstGeom prst="rect">
            <a:avLst/>
          </a:prstGeom>
          <a:noFill/>
          <a:ln/>
        </p:spPr>
        <p:txBody>
          <a:bodyPr wrap="square" lIns="0" tIns="0" rIns="0" bIns="0" rtlCol="0" anchor="ctr"/>
          <a:lstStyle/>
          <a:p>
            <a:pPr indent="0" marL="0">
              <a:buNone/>
            </a:pPr>
            <a:r>
              <a:rPr lang="en-US" sz="1200" b="1" dirty="0">
                <a:solidFill>
                  <a:srgbClr val="14213D"/>
                </a:solidFill>
              </a:rPr>
              <a:t>Data fix rejected → withdrawn; card says why</a:t>
            </a:r>
            <a:endParaRPr lang="en-US" sz="1200" dirty="0"/>
          </a:p>
        </p:txBody>
      </p:sp>
      <p:sp>
        <p:nvSpPr>
          <p:cNvPr id="17" name="Text 14"/>
          <p:cNvSpPr txBox="1"/>
          <p:nvPr/>
        </p:nvSpPr>
        <p:spPr>
          <a:xfrm>
            <a:off x="7635240" y="5120640"/>
            <a:ext cx="3730752" cy="365760"/>
          </a:xfrm>
          <a:prstGeom prst="rect">
            <a:avLst/>
          </a:prstGeom>
          <a:noFill/>
          <a:ln/>
        </p:spPr>
        <p:txBody>
          <a:bodyPr wrap="square" lIns="0" tIns="0" rIns="0" bIns="0" rtlCol="0" anchor="t"/>
          <a:lstStyle/>
          <a:p>
            <a:pPr indent="0" marL="0">
              <a:buNone/>
            </a:pPr>
            <a:r>
              <a:rPr lang="en-US" sz="1200" i="1" dirty="0">
                <a:solidFill>
                  <a:srgbClr val="5A6472"/>
                </a:solidFill>
              </a:rPr>
              <a:t>Every other decision is kept.</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08 · LLD · AGENT 4 &amp; ORCHESTRATION</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One shared state, one human gate, only approved changes</a:t>
            </a:r>
            <a:endParaRPr lang="en-US" sz="3000" dirty="0"/>
          </a:p>
        </p:txBody>
      </p:sp>
      <p:sp>
        <p:nvSpPr>
          <p:cNvPr id="4" name="Shape 2"/>
          <p:cNvSpPr/>
          <p:nvPr/>
        </p:nvSpPr>
        <p:spPr>
          <a:xfrm>
            <a:off x="731520" y="1691640"/>
            <a:ext cx="2377440" cy="475488"/>
          </a:xfrm>
          <a:prstGeom prst="roundRect">
            <a:avLst>
              <a:gd name="adj" fmla="val 11538"/>
            </a:avLst>
          </a:prstGeom>
          <a:solidFill>
            <a:srgbClr val="14213D"/>
          </a:solidFill>
          <a:ln w="12700">
            <a:solidFill>
              <a:srgbClr val="14213D"/>
            </a:solidFill>
            <a:prstDash val="solid"/>
          </a:ln>
        </p:spPr>
      </p:sp>
      <p:sp>
        <p:nvSpPr>
          <p:cNvPr id="5" name="Text 3"/>
          <p:cNvSpPr txBox="1"/>
          <p:nvPr/>
        </p:nvSpPr>
        <p:spPr>
          <a:xfrm>
            <a:off x="731520" y="1691640"/>
            <a:ext cx="23774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discover_sheets</a:t>
            </a:r>
            <a:endParaRPr lang="en-US" sz="1300" dirty="0"/>
          </a:p>
        </p:txBody>
      </p:sp>
      <p:sp>
        <p:nvSpPr>
          <p:cNvPr id="6" name="Shape 4"/>
          <p:cNvSpPr/>
          <p:nvPr/>
        </p:nvSpPr>
        <p:spPr>
          <a:xfrm>
            <a:off x="1920240" y="2185416"/>
            <a:ext cx="914" cy="192024"/>
          </a:xfrm>
          <a:prstGeom prst="line">
            <a:avLst/>
          </a:prstGeom>
          <a:noFill/>
          <a:ln w="19050">
            <a:solidFill>
              <a:srgbClr val="5A6472"/>
            </a:solidFill>
            <a:prstDash val="solid"/>
            <a:tailEnd type="triangle"/>
          </a:ln>
        </p:spPr>
      </p:sp>
      <p:sp>
        <p:nvSpPr>
          <p:cNvPr id="7" name="Shape 5"/>
          <p:cNvSpPr/>
          <p:nvPr/>
        </p:nvSpPr>
        <p:spPr>
          <a:xfrm>
            <a:off x="731520" y="2395728"/>
            <a:ext cx="2377440" cy="475488"/>
          </a:xfrm>
          <a:prstGeom prst="roundRect">
            <a:avLst>
              <a:gd name="adj" fmla="val 11538"/>
            </a:avLst>
          </a:prstGeom>
          <a:solidFill>
            <a:srgbClr val="14213D"/>
          </a:solidFill>
          <a:ln w="12700">
            <a:solidFill>
              <a:srgbClr val="14213D"/>
            </a:solidFill>
            <a:prstDash val="solid"/>
          </a:ln>
        </p:spPr>
      </p:sp>
      <p:sp>
        <p:nvSpPr>
          <p:cNvPr id="8" name="Text 6"/>
          <p:cNvSpPr txBox="1"/>
          <p:nvPr/>
        </p:nvSpPr>
        <p:spPr>
          <a:xfrm>
            <a:off x="731520" y="2395728"/>
            <a:ext cx="23774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map_schema</a:t>
            </a:r>
            <a:endParaRPr lang="en-US" sz="1300" dirty="0"/>
          </a:p>
        </p:txBody>
      </p:sp>
      <p:sp>
        <p:nvSpPr>
          <p:cNvPr id="9" name="Shape 7"/>
          <p:cNvSpPr/>
          <p:nvPr/>
        </p:nvSpPr>
        <p:spPr>
          <a:xfrm>
            <a:off x="1920240" y="2889504"/>
            <a:ext cx="914" cy="192024"/>
          </a:xfrm>
          <a:prstGeom prst="line">
            <a:avLst/>
          </a:prstGeom>
          <a:noFill/>
          <a:ln w="19050">
            <a:solidFill>
              <a:srgbClr val="5A6472"/>
            </a:solidFill>
            <a:prstDash val="solid"/>
            <a:tailEnd type="triangle"/>
          </a:ln>
        </p:spPr>
      </p:sp>
      <p:sp>
        <p:nvSpPr>
          <p:cNvPr id="10" name="Shape 8"/>
          <p:cNvSpPr/>
          <p:nvPr/>
        </p:nvSpPr>
        <p:spPr>
          <a:xfrm>
            <a:off x="731520" y="3099816"/>
            <a:ext cx="2377440" cy="475488"/>
          </a:xfrm>
          <a:prstGeom prst="roundRect">
            <a:avLst>
              <a:gd name="adj" fmla="val 11538"/>
            </a:avLst>
          </a:prstGeom>
          <a:solidFill>
            <a:srgbClr val="14213D"/>
          </a:solidFill>
          <a:ln w="12700">
            <a:solidFill>
              <a:srgbClr val="14213D"/>
            </a:solidFill>
            <a:prstDash val="solid"/>
          </a:ln>
        </p:spPr>
      </p:sp>
      <p:sp>
        <p:nvSpPr>
          <p:cNvPr id="11" name="Text 9"/>
          <p:cNvSpPr txBox="1"/>
          <p:nvPr/>
        </p:nvSpPr>
        <p:spPr>
          <a:xfrm>
            <a:off x="731520" y="3099816"/>
            <a:ext cx="23774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assess_quality</a:t>
            </a:r>
            <a:endParaRPr lang="en-US" sz="1300" dirty="0"/>
          </a:p>
        </p:txBody>
      </p:sp>
      <p:sp>
        <p:nvSpPr>
          <p:cNvPr id="12" name="Shape 10"/>
          <p:cNvSpPr/>
          <p:nvPr/>
        </p:nvSpPr>
        <p:spPr>
          <a:xfrm>
            <a:off x="1920240" y="3593592"/>
            <a:ext cx="914" cy="320040"/>
          </a:xfrm>
          <a:prstGeom prst="line">
            <a:avLst/>
          </a:prstGeom>
          <a:noFill/>
          <a:ln w="19050">
            <a:solidFill>
              <a:srgbClr val="5A6472"/>
            </a:solidFill>
            <a:prstDash val="solid"/>
            <a:tailEnd type="triangle"/>
          </a:ln>
        </p:spPr>
      </p:sp>
      <p:sp>
        <p:nvSpPr>
          <p:cNvPr id="13" name="Shape 11"/>
          <p:cNvSpPr/>
          <p:nvPr/>
        </p:nvSpPr>
        <p:spPr>
          <a:xfrm>
            <a:off x="731520" y="3931920"/>
            <a:ext cx="2377440" cy="475488"/>
          </a:xfrm>
          <a:prstGeom prst="roundRect">
            <a:avLst>
              <a:gd name="adj" fmla="val 11538"/>
            </a:avLst>
          </a:prstGeom>
          <a:solidFill>
            <a:srgbClr val="D9A441"/>
          </a:solidFill>
          <a:ln w="12700">
            <a:solidFill>
              <a:srgbClr val="D9A441"/>
            </a:solidFill>
            <a:prstDash val="solid"/>
          </a:ln>
        </p:spPr>
      </p:sp>
      <p:sp>
        <p:nvSpPr>
          <p:cNvPr id="14" name="Text 12"/>
          <p:cNvSpPr txBox="1"/>
          <p:nvPr/>
        </p:nvSpPr>
        <p:spPr>
          <a:xfrm>
            <a:off x="731520" y="3931920"/>
            <a:ext cx="2377440" cy="475488"/>
          </a:xfrm>
          <a:prstGeom prst="rect">
            <a:avLst/>
          </a:prstGeom>
          <a:noFill/>
          <a:ln/>
        </p:spPr>
        <p:txBody>
          <a:bodyPr wrap="square" lIns="0" tIns="0" rIns="0" bIns="0" rtlCol="0" anchor="ctr"/>
          <a:lstStyle/>
          <a:p>
            <a:pPr algn="ctr" indent="0" marL="0">
              <a:buNone/>
            </a:pPr>
            <a:r>
              <a:rPr lang="en-US" sz="1300" b="1" dirty="0">
                <a:solidFill>
                  <a:srgbClr val="14213D"/>
                </a:solidFill>
                <a:latin typeface="Courier New" pitchFamily="34" charset="0"/>
                <a:ea typeface="Courier New" pitchFamily="34" charset="-122"/>
                <a:cs typeface="Courier New" pitchFamily="34" charset="-120"/>
              </a:rPr>
              <a:t>human_review</a:t>
            </a:r>
            <a:endParaRPr lang="en-US" sz="1300" dirty="0"/>
          </a:p>
        </p:txBody>
      </p:sp>
      <p:sp>
        <p:nvSpPr>
          <p:cNvPr id="15" name="Shape 13"/>
          <p:cNvSpPr/>
          <p:nvPr/>
        </p:nvSpPr>
        <p:spPr>
          <a:xfrm>
            <a:off x="1920240" y="4425696"/>
            <a:ext cx="914" cy="356616"/>
          </a:xfrm>
          <a:prstGeom prst="line">
            <a:avLst/>
          </a:prstGeom>
          <a:noFill/>
          <a:ln w="19050">
            <a:solidFill>
              <a:srgbClr val="5A6472"/>
            </a:solidFill>
            <a:prstDash val="solid"/>
            <a:tailEnd type="triangle"/>
          </a:ln>
        </p:spPr>
      </p:sp>
      <p:sp>
        <p:nvSpPr>
          <p:cNvPr id="16" name="Shape 14"/>
          <p:cNvSpPr/>
          <p:nvPr/>
        </p:nvSpPr>
        <p:spPr>
          <a:xfrm>
            <a:off x="731520" y="4800600"/>
            <a:ext cx="2377440" cy="475488"/>
          </a:xfrm>
          <a:prstGeom prst="roundRect">
            <a:avLst>
              <a:gd name="adj" fmla="val 11538"/>
            </a:avLst>
          </a:prstGeom>
          <a:solidFill>
            <a:srgbClr val="1D6F6F"/>
          </a:solidFill>
          <a:ln w="12700">
            <a:solidFill>
              <a:srgbClr val="1D6F6F"/>
            </a:solidFill>
            <a:prstDash val="solid"/>
          </a:ln>
        </p:spPr>
      </p:sp>
      <p:sp>
        <p:nvSpPr>
          <p:cNvPr id="17" name="Text 15"/>
          <p:cNvSpPr txBox="1"/>
          <p:nvPr/>
        </p:nvSpPr>
        <p:spPr>
          <a:xfrm>
            <a:off x="731520" y="4800600"/>
            <a:ext cx="2377440"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transform_export</a:t>
            </a:r>
            <a:endParaRPr lang="en-US" sz="1300" dirty="0"/>
          </a:p>
        </p:txBody>
      </p:sp>
      <p:sp>
        <p:nvSpPr>
          <p:cNvPr id="18" name="Shape 16"/>
          <p:cNvSpPr/>
          <p:nvPr/>
        </p:nvSpPr>
        <p:spPr>
          <a:xfrm>
            <a:off x="3794760" y="3931920"/>
            <a:ext cx="1463040" cy="475488"/>
          </a:xfrm>
          <a:prstGeom prst="roundRect">
            <a:avLst>
              <a:gd name="adj" fmla="val 11538"/>
            </a:avLst>
          </a:prstGeom>
          <a:solidFill>
            <a:srgbClr val="F4E6C6"/>
          </a:solidFill>
          <a:ln w="12700">
            <a:solidFill>
              <a:srgbClr val="D9A441"/>
            </a:solidFill>
            <a:prstDash val="solid"/>
          </a:ln>
        </p:spPr>
      </p:sp>
      <p:sp>
        <p:nvSpPr>
          <p:cNvPr id="19" name="Text 17"/>
          <p:cNvSpPr txBox="1"/>
          <p:nvPr/>
        </p:nvSpPr>
        <p:spPr>
          <a:xfrm>
            <a:off x="3794760" y="3931920"/>
            <a:ext cx="1463040" cy="475488"/>
          </a:xfrm>
          <a:prstGeom prst="rect">
            <a:avLst/>
          </a:prstGeom>
          <a:noFill/>
          <a:ln/>
        </p:spPr>
        <p:txBody>
          <a:bodyPr wrap="square" lIns="0" tIns="0" rIns="0" bIns="0" rtlCol="0" anchor="ctr"/>
          <a:lstStyle/>
          <a:p>
            <a:pPr algn="ctr" indent="0" marL="0">
              <a:buNone/>
            </a:pPr>
            <a:r>
              <a:rPr lang="en-US" sz="1200" b="1" dirty="0">
                <a:solidFill>
                  <a:srgbClr val="8A5A0B"/>
                </a:solidFill>
                <a:latin typeface="Courier New" pitchFamily="34" charset="0"/>
                <a:ea typeface="Courier New" pitchFamily="34" charset="-122"/>
                <a:cs typeface="Courier New" pitchFamily="34" charset="-120"/>
              </a:rPr>
              <a:t>re_reason</a:t>
            </a:r>
            <a:endParaRPr lang="en-US" sz="1200" dirty="0"/>
          </a:p>
        </p:txBody>
      </p:sp>
      <p:sp>
        <p:nvSpPr>
          <p:cNvPr id="20" name="Shape 18"/>
          <p:cNvSpPr/>
          <p:nvPr/>
        </p:nvSpPr>
        <p:spPr>
          <a:xfrm>
            <a:off x="3136392" y="4078224"/>
            <a:ext cx="630936" cy="914"/>
          </a:xfrm>
          <a:prstGeom prst="line">
            <a:avLst/>
          </a:prstGeom>
          <a:noFill/>
          <a:ln w="19050">
            <a:solidFill>
              <a:srgbClr val="D9A441"/>
            </a:solidFill>
            <a:prstDash val="dash"/>
            <a:tailEnd type="triangle"/>
          </a:ln>
        </p:spPr>
      </p:sp>
      <p:sp>
        <p:nvSpPr>
          <p:cNvPr id="21" name="Shape 19"/>
          <p:cNvSpPr/>
          <p:nvPr/>
        </p:nvSpPr>
        <p:spPr>
          <a:xfrm flipH="1">
            <a:off x="3136392" y="4261104"/>
            <a:ext cx="630936" cy="914"/>
          </a:xfrm>
          <a:prstGeom prst="line">
            <a:avLst/>
          </a:prstGeom>
          <a:noFill/>
          <a:ln w="19050">
            <a:solidFill>
              <a:srgbClr val="D9A441"/>
            </a:solidFill>
            <a:prstDash val="dash"/>
            <a:tailEnd type="triangle"/>
          </a:ln>
        </p:spPr>
      </p:sp>
      <p:sp>
        <p:nvSpPr>
          <p:cNvPr id="22" name="Text 20"/>
          <p:cNvSpPr txBox="1"/>
          <p:nvPr/>
        </p:nvSpPr>
        <p:spPr>
          <a:xfrm>
            <a:off x="3794760" y="3602736"/>
            <a:ext cx="1463040" cy="274320"/>
          </a:xfrm>
          <a:prstGeom prst="rect">
            <a:avLst/>
          </a:prstGeom>
          <a:noFill/>
          <a:ln/>
        </p:spPr>
        <p:txBody>
          <a:bodyPr wrap="square" lIns="0" tIns="0" rIns="0" bIns="0" rtlCol="0" anchor="t"/>
          <a:lstStyle/>
          <a:p>
            <a:pPr algn="ctr" indent="0" marL="0">
              <a:buNone/>
            </a:pPr>
            <a:r>
              <a:rPr lang="en-US" sz="1000" i="1" dirty="0">
                <a:solidFill>
                  <a:srgbClr val="8A5A0B"/>
                </a:solidFill>
              </a:rPr>
              <a:t>rejection notes</a:t>
            </a:r>
            <a:endParaRPr lang="en-US" sz="1000" dirty="0"/>
          </a:p>
        </p:txBody>
      </p:sp>
      <p:sp>
        <p:nvSpPr>
          <p:cNvPr id="23" name="Text 21"/>
          <p:cNvSpPr txBox="1"/>
          <p:nvPr/>
        </p:nvSpPr>
        <p:spPr>
          <a:xfrm>
            <a:off x="3657600" y="4572000"/>
            <a:ext cx="1783080" cy="777240"/>
          </a:xfrm>
          <a:prstGeom prst="rect">
            <a:avLst/>
          </a:prstGeom>
          <a:noFill/>
          <a:ln/>
        </p:spPr>
        <p:txBody>
          <a:bodyPr wrap="square" lIns="0" tIns="0" rIns="0" bIns="0" rtlCol="0" anchor="t"/>
          <a:lstStyle/>
          <a:p>
            <a:pPr indent="0" marL="0">
              <a:buNone/>
            </a:pPr>
            <a:r>
              <a:rPr lang="en-US" sz="1050" i="1" dirty="0">
                <a:solidFill>
                  <a:srgbClr val="8A5A0B"/>
                </a:solidFill>
              </a:rPr>
              <a:t>The graph pauses before human_review (state checkpointed) and resumes when the reviewer applies.</a:t>
            </a:r>
            <a:endParaRPr lang="en-US" sz="1050" dirty="0"/>
          </a:p>
        </p:txBody>
      </p:sp>
      <p:sp>
        <p:nvSpPr>
          <p:cNvPr id="24" name="Text 22"/>
          <p:cNvSpPr txBox="1"/>
          <p:nvPr/>
        </p:nvSpPr>
        <p:spPr>
          <a:xfrm>
            <a:off x="548640" y="5486400"/>
            <a:ext cx="4480560" cy="548640"/>
          </a:xfrm>
          <a:prstGeom prst="rect">
            <a:avLst/>
          </a:prstGeom>
          <a:noFill/>
          <a:ln/>
        </p:spPr>
        <p:txBody>
          <a:bodyPr wrap="square" lIns="0" tIns="0" rIns="0" bIns="0" rtlCol="0" anchor="t"/>
          <a:lstStyle/>
          <a:p>
            <a:pPr indent="0" marL="0">
              <a:buNone/>
            </a:pPr>
            <a:r>
              <a:rPr lang="en-US" sz="1200" dirty="0">
                <a:solidFill>
                  <a:srgbClr val="5A6472"/>
                </a:solidFill>
              </a:rPr>
              <a:t>Every node reads and writes one typed SOVState; each agent owns its own fields.</a:t>
            </a:r>
            <a:endParaRPr lang="en-US" sz="1200" dirty="0"/>
          </a:p>
        </p:txBody>
      </p:sp>
      <p:sp>
        <p:nvSpPr>
          <p:cNvPr id="25" name="Shape 23"/>
          <p:cNvSpPr/>
          <p:nvPr/>
        </p:nvSpPr>
        <p:spPr>
          <a:xfrm>
            <a:off x="5806440" y="1691640"/>
            <a:ext cx="384048" cy="384048"/>
          </a:xfrm>
          <a:prstGeom prst="roundRect">
            <a:avLst>
              <a:gd name="adj" fmla="val 14286"/>
            </a:avLst>
          </a:prstGeom>
          <a:solidFill>
            <a:srgbClr val="1D6F6F"/>
          </a:solidFill>
          <a:ln w="12700">
            <a:solidFill>
              <a:srgbClr val="1D6F6F"/>
            </a:solidFill>
            <a:prstDash val="solid"/>
          </a:ln>
        </p:spPr>
      </p:sp>
      <p:sp>
        <p:nvSpPr>
          <p:cNvPr id="26" name="Text 24"/>
          <p:cNvSpPr txBox="1"/>
          <p:nvPr/>
        </p:nvSpPr>
        <p:spPr>
          <a:xfrm>
            <a:off x="5806440" y="1691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7" name="Text 25"/>
          <p:cNvSpPr txBox="1"/>
          <p:nvPr/>
        </p:nvSpPr>
        <p:spPr>
          <a:xfrm>
            <a:off x="6355080" y="1673352"/>
            <a:ext cx="5303520" cy="320040"/>
          </a:xfrm>
          <a:prstGeom prst="rect">
            <a:avLst/>
          </a:prstGeom>
          <a:noFill/>
          <a:ln/>
        </p:spPr>
        <p:txBody>
          <a:bodyPr wrap="square" lIns="0" tIns="0" rIns="0" bIns="0" rtlCol="0" anchor="t"/>
          <a:lstStyle/>
          <a:p>
            <a:pPr indent="0" marL="0">
              <a:buNone/>
            </a:pPr>
            <a:r>
              <a:rPr lang="en-US" sz="1500" b="1" dirty="0">
                <a:solidFill>
                  <a:srgbClr val="14213D"/>
                </a:solidFill>
              </a:rPr>
              <a:t>Approved renames only</a:t>
            </a:r>
            <a:endParaRPr lang="en-US" sz="1500" dirty="0"/>
          </a:p>
        </p:txBody>
      </p:sp>
      <p:sp>
        <p:nvSpPr>
          <p:cNvPr id="28" name="Text 26"/>
          <p:cNvSpPr txBox="1"/>
          <p:nvPr/>
        </p:nvSpPr>
        <p:spPr>
          <a:xfrm>
            <a:off x="6355080" y="2002536"/>
            <a:ext cx="5285232" cy="658368"/>
          </a:xfrm>
          <a:prstGeom prst="rect">
            <a:avLst/>
          </a:prstGeom>
          <a:noFill/>
          <a:ln/>
        </p:spPr>
        <p:txBody>
          <a:bodyPr wrap="square" lIns="0" tIns="0" rIns="0" bIns="0" rtlCol="0" anchor="t"/>
          <a:lstStyle/>
          <a:p>
            <a:pPr indent="0" marL="0">
              <a:buNone/>
            </a:pPr>
            <a:r>
              <a:rPr lang="en-US" sz="1250" dirty="0">
                <a:solidFill>
                  <a:srgbClr val="3D4757"/>
                </a:solidFill>
              </a:rPr>
              <a:t>Highest confidence first; columns from different tabs coalesce; an unapproved column that happens to share a target name is parked.</a:t>
            </a:r>
            <a:endParaRPr lang="en-US" sz="1250" dirty="0"/>
          </a:p>
        </p:txBody>
      </p:sp>
      <p:sp>
        <p:nvSpPr>
          <p:cNvPr id="29" name="Shape 27"/>
          <p:cNvSpPr/>
          <p:nvPr/>
        </p:nvSpPr>
        <p:spPr>
          <a:xfrm>
            <a:off x="5806440" y="2715768"/>
            <a:ext cx="384048" cy="384048"/>
          </a:xfrm>
          <a:prstGeom prst="roundRect">
            <a:avLst>
              <a:gd name="adj" fmla="val 14286"/>
            </a:avLst>
          </a:prstGeom>
          <a:solidFill>
            <a:srgbClr val="1D6F6F"/>
          </a:solidFill>
          <a:ln w="12700">
            <a:solidFill>
              <a:srgbClr val="1D6F6F"/>
            </a:solidFill>
            <a:prstDash val="solid"/>
          </a:ln>
        </p:spPr>
      </p:sp>
      <p:sp>
        <p:nvSpPr>
          <p:cNvPr id="30" name="Text 28"/>
          <p:cNvSpPr txBox="1"/>
          <p:nvPr/>
        </p:nvSpPr>
        <p:spPr>
          <a:xfrm>
            <a:off x="5806440" y="2715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31" name="Text 29"/>
          <p:cNvSpPr txBox="1"/>
          <p:nvPr/>
        </p:nvSpPr>
        <p:spPr>
          <a:xfrm>
            <a:off x="6355080" y="2697480"/>
            <a:ext cx="5303520" cy="320040"/>
          </a:xfrm>
          <a:prstGeom prst="rect">
            <a:avLst/>
          </a:prstGeom>
          <a:noFill/>
          <a:ln/>
        </p:spPr>
        <p:txBody>
          <a:bodyPr wrap="square" lIns="0" tIns="0" rIns="0" bIns="0" rtlCol="0" anchor="t"/>
          <a:lstStyle/>
          <a:p>
            <a:pPr indent="0" marL="0">
              <a:buNone/>
            </a:pPr>
            <a:r>
              <a:rPr lang="en-US" sz="1500" b="1" dirty="0">
                <a:solidFill>
                  <a:srgbClr val="14213D"/>
                </a:solidFill>
              </a:rPr>
              <a:t>Whitelisted operations</a:t>
            </a:r>
            <a:endParaRPr lang="en-US" sz="1500" dirty="0"/>
          </a:p>
        </p:txBody>
      </p:sp>
      <p:sp>
        <p:nvSpPr>
          <p:cNvPr id="32" name="Text 30"/>
          <p:cNvSpPr txBox="1"/>
          <p:nvPr/>
        </p:nvSpPr>
        <p:spPr>
          <a:xfrm>
            <a:off x="6355080" y="3026664"/>
            <a:ext cx="5285232" cy="658368"/>
          </a:xfrm>
          <a:prstGeom prst="rect">
            <a:avLst/>
          </a:prstGeom>
          <a:noFill/>
          <a:ln/>
        </p:spPr>
        <p:txBody>
          <a:bodyPr wrap="square" lIns="0" tIns="0" rIns="0" bIns="0" rtlCol="0" anchor="t"/>
          <a:lstStyle/>
          <a:p>
            <a:pPr indent="0" marL="0">
              <a:buNone/>
            </a:pPr>
            <a:r>
              <a:rPr lang="en-US" sz="1250" dirty="0">
                <a:solidFill>
                  <a:srgbClr val="3D4757"/>
                </a:solidFill>
              </a:rPr>
              <a:t>12 pure functions; the result is audited before it is written back.</a:t>
            </a:r>
            <a:endParaRPr lang="en-US" sz="1250" dirty="0"/>
          </a:p>
        </p:txBody>
      </p:sp>
      <p:sp>
        <p:nvSpPr>
          <p:cNvPr id="33" name="Shape 31"/>
          <p:cNvSpPr/>
          <p:nvPr/>
        </p:nvSpPr>
        <p:spPr>
          <a:xfrm>
            <a:off x="5806440" y="3739896"/>
            <a:ext cx="384048" cy="384048"/>
          </a:xfrm>
          <a:prstGeom prst="roundRect">
            <a:avLst>
              <a:gd name="adj" fmla="val 14286"/>
            </a:avLst>
          </a:prstGeom>
          <a:solidFill>
            <a:srgbClr val="1D6F6F"/>
          </a:solidFill>
          <a:ln w="12700">
            <a:solidFill>
              <a:srgbClr val="1D6F6F"/>
            </a:solidFill>
            <a:prstDash val="solid"/>
          </a:ln>
        </p:spPr>
      </p:sp>
      <p:sp>
        <p:nvSpPr>
          <p:cNvPr id="34" name="Text 32"/>
          <p:cNvSpPr txBox="1"/>
          <p:nvPr/>
        </p:nvSpPr>
        <p:spPr>
          <a:xfrm>
            <a:off x="5806440" y="37398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5" name="Text 33"/>
          <p:cNvSpPr txBox="1"/>
          <p:nvPr/>
        </p:nvSpPr>
        <p:spPr>
          <a:xfrm>
            <a:off x="6355080" y="3721608"/>
            <a:ext cx="5303520" cy="320040"/>
          </a:xfrm>
          <a:prstGeom prst="rect">
            <a:avLst/>
          </a:prstGeom>
          <a:noFill/>
          <a:ln/>
        </p:spPr>
        <p:txBody>
          <a:bodyPr wrap="square" lIns="0" tIns="0" rIns="0" bIns="0" rtlCol="0" anchor="t"/>
          <a:lstStyle/>
          <a:p>
            <a:pPr indent="0" marL="0">
              <a:buNone/>
            </a:pPr>
            <a:r>
              <a:rPr lang="en-US" sz="1500" b="1" dirty="0">
                <a:solidFill>
                  <a:srgbClr val="14213D"/>
                </a:solidFill>
              </a:rPr>
              <a:t>Enforce and validate</a:t>
            </a:r>
            <a:endParaRPr lang="en-US" sz="1500" dirty="0"/>
          </a:p>
        </p:txBody>
      </p:sp>
      <p:sp>
        <p:nvSpPr>
          <p:cNvPr id="36" name="Text 34"/>
          <p:cNvSpPr txBox="1"/>
          <p:nvPr/>
        </p:nvSpPr>
        <p:spPr>
          <a:xfrm>
            <a:off x="6355080" y="4050792"/>
            <a:ext cx="5285232" cy="658368"/>
          </a:xfrm>
          <a:prstGeom prst="rect">
            <a:avLst/>
          </a:prstGeom>
          <a:noFill/>
          <a:ln/>
        </p:spPr>
        <p:txBody>
          <a:bodyPr wrap="square" lIns="0" tIns="0" rIns="0" bIns="0" rtlCol="0" anchor="t"/>
          <a:lstStyle/>
          <a:p>
            <a:pPr indent="0" marL="0">
              <a:buNone/>
            </a:pPr>
            <a:r>
              <a:rPr lang="en-US" sz="1250" dirty="0">
                <a:solidFill>
                  <a:srgbClr val="3D4757"/>
                </a:solidFill>
              </a:rPr>
              <a:t>Exactly 17 ordered fields · Pandera · numeric/integer type check · zero merged cells.</a:t>
            </a:r>
            <a:endParaRPr lang="en-US" sz="1250" dirty="0"/>
          </a:p>
        </p:txBody>
      </p:sp>
      <p:sp>
        <p:nvSpPr>
          <p:cNvPr id="37" name="Shape 35"/>
          <p:cNvSpPr/>
          <p:nvPr/>
        </p:nvSpPr>
        <p:spPr>
          <a:xfrm>
            <a:off x="5806440" y="4764024"/>
            <a:ext cx="384048" cy="384048"/>
          </a:xfrm>
          <a:prstGeom prst="roundRect">
            <a:avLst>
              <a:gd name="adj" fmla="val 14286"/>
            </a:avLst>
          </a:prstGeom>
          <a:solidFill>
            <a:srgbClr val="1D6F6F"/>
          </a:solidFill>
          <a:ln w="12700">
            <a:solidFill>
              <a:srgbClr val="1D6F6F"/>
            </a:solidFill>
            <a:prstDash val="solid"/>
          </a:ln>
        </p:spPr>
      </p:sp>
      <p:sp>
        <p:nvSpPr>
          <p:cNvPr id="38" name="Text 36"/>
          <p:cNvSpPr txBox="1"/>
          <p:nvPr/>
        </p:nvSpPr>
        <p:spPr>
          <a:xfrm>
            <a:off x="5806440" y="47640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9" name="Text 37"/>
          <p:cNvSpPr txBox="1"/>
          <p:nvPr/>
        </p:nvSpPr>
        <p:spPr>
          <a:xfrm>
            <a:off x="6355080" y="4745736"/>
            <a:ext cx="5303520" cy="320040"/>
          </a:xfrm>
          <a:prstGeom prst="rect">
            <a:avLst/>
          </a:prstGeom>
          <a:noFill/>
          <a:ln/>
        </p:spPr>
        <p:txBody>
          <a:bodyPr wrap="square" lIns="0" tIns="0" rIns="0" bIns="0" rtlCol="0" anchor="t"/>
          <a:lstStyle/>
          <a:p>
            <a:pPr indent="0" marL="0">
              <a:buNone/>
            </a:pPr>
            <a:r>
              <a:rPr lang="en-US" sz="1500" b="1" dirty="0">
                <a:solidFill>
                  <a:srgbClr val="14213D"/>
                </a:solidFill>
              </a:rPr>
              <a:t>Write deliverables</a:t>
            </a:r>
            <a:endParaRPr lang="en-US" sz="1500" dirty="0"/>
          </a:p>
        </p:txBody>
      </p:sp>
      <p:sp>
        <p:nvSpPr>
          <p:cNvPr id="40" name="Text 38"/>
          <p:cNvSpPr txBox="1"/>
          <p:nvPr/>
        </p:nvSpPr>
        <p:spPr>
          <a:xfrm>
            <a:off x="6355080" y="5074920"/>
            <a:ext cx="5285232" cy="658368"/>
          </a:xfrm>
          <a:prstGeom prst="rect">
            <a:avLst/>
          </a:prstGeom>
          <a:noFill/>
          <a:ln/>
        </p:spPr>
        <p:txBody>
          <a:bodyPr wrap="square" lIns="0" tIns="0" rIns="0" bIns="0" rtlCol="0" anchor="t"/>
          <a:lstStyle/>
          <a:p>
            <a:pPr indent="0" marL="0">
              <a:buNone/>
            </a:pPr>
            <a:r>
              <a:rPr lang="en-US" sz="1250" dirty="0">
                <a:solidFill>
                  <a:srgbClr val="3D4757"/>
                </a:solidFill>
              </a:rPr>
              <a:t>Cleaned_SOV.xlsx (Zip shown as 00000) + Audit_Log.xlsx, plus timestamped copies.</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09 · HUMAN-IN-THE-LOOP EXPERIENCE</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A non-technical reviewer can act on every recommendation</a:t>
            </a:r>
            <a:endParaRPr lang="en-US" sz="3000" dirty="0"/>
          </a:p>
        </p:txBody>
      </p:sp>
      <p:sp>
        <p:nvSpPr>
          <p:cNvPr id="4" name="Text 2"/>
          <p:cNvSpPr txBox="1"/>
          <p:nvPr/>
        </p:nvSpPr>
        <p:spPr>
          <a:xfrm>
            <a:off x="548640" y="1645920"/>
            <a:ext cx="5349240" cy="320040"/>
          </a:xfrm>
          <a:prstGeom prst="rect">
            <a:avLst/>
          </a:prstGeom>
          <a:noFill/>
          <a:ln/>
        </p:spPr>
        <p:txBody>
          <a:bodyPr wrap="square" lIns="0" tIns="0" rIns="0" bIns="0" rtlCol="0" anchor="t"/>
          <a:lstStyle/>
          <a:p>
            <a:pPr indent="0" marL="0">
              <a:buNone/>
            </a:pPr>
            <a:r>
              <a:rPr lang="en-US" sz="1500" b="1" dirty="0">
                <a:solidFill>
                  <a:srgbClr val="14213D"/>
                </a:solidFill>
              </a:rPr>
              <a:t>1 · Every recommendation explains itself</a:t>
            </a:r>
            <a:endParaRPr lang="en-US" sz="1500" dirty="0"/>
          </a:p>
        </p:txBody>
      </p:sp>
      <p:sp>
        <p:nvSpPr>
          <p:cNvPr id="5" name="Shape 3"/>
          <p:cNvSpPr/>
          <p:nvPr/>
        </p:nvSpPr>
        <p:spPr>
          <a:xfrm>
            <a:off x="512064" y="2020824"/>
            <a:ext cx="5422392" cy="1861652"/>
          </a:xfrm>
          <a:prstGeom prst="rect">
            <a:avLst/>
          </a:prstGeom>
          <a:solidFill>
            <a:srgbClr val="FFFFFF"/>
          </a:solidFill>
          <a:ln w="9525">
            <a:solidFill>
              <a:srgbClr val="D8D3C6"/>
            </a:solidFill>
            <a:prstDash val="solid"/>
          </a:ln>
          <a:effectLst>
            <a:outerShdw sx="100000" sy="100000" kx="0" ky="0" algn="bl" rotWithShape="0" blurRad="76200" dist="25400" dir="5400000">
              <a:srgbClr val="000000">
                <a:alpha val="12000"/>
              </a:srgbClr>
            </a:outerShdw>
          </a:effectLst>
        </p:spPr>
      </p:sp>
      <p:pic>
        <p:nvPicPr>
          <p:cNvPr id="6" name="Image 0" descr="Standardisation on SOV_Q8B3: why, impact, before → after, confidence">    </p:cNvPr>
          <p:cNvPicPr>
            <a:picLocks noChangeAspect="1"/>
          </p:cNvPicPr>
          <p:nvPr/>
        </p:nvPicPr>
        <p:blipFill>
          <a:blip r:embed="rId1"/>
          <a:stretch>
            <a:fillRect/>
          </a:stretch>
        </p:blipFill>
        <p:spPr>
          <a:xfrm>
            <a:off x="548640" y="2057400"/>
            <a:ext cx="5349240" cy="1788500"/>
          </a:xfrm>
          <a:prstGeom prst="rect">
            <a:avLst/>
          </a:prstGeom>
        </p:spPr>
      </p:pic>
      <p:sp>
        <p:nvSpPr>
          <p:cNvPr id="7" name="Text 4"/>
          <p:cNvSpPr txBox="1"/>
          <p:nvPr/>
        </p:nvSpPr>
        <p:spPr>
          <a:xfrm>
            <a:off x="548640" y="3955628"/>
            <a:ext cx="5349240" cy="274320"/>
          </a:xfrm>
          <a:prstGeom prst="rect">
            <a:avLst/>
          </a:prstGeom>
          <a:noFill/>
          <a:ln/>
        </p:spPr>
        <p:txBody>
          <a:bodyPr wrap="square" lIns="0" tIns="0" rIns="0" bIns="0" rtlCol="0" anchor="t"/>
          <a:lstStyle/>
          <a:p>
            <a:pPr indent="0" marL="0">
              <a:buNone/>
            </a:pPr>
            <a:r>
              <a:rPr lang="en-US" sz="1100" i="1" dirty="0">
                <a:solidFill>
                  <a:srgbClr val="5A6472"/>
                </a:solidFill>
              </a:rPr>
              <a:t>Standardisation on SOV_Q8B3: why, impact, before → after, confidence</a:t>
            </a:r>
            <a:endParaRPr lang="en-US" sz="1100" dirty="0"/>
          </a:p>
        </p:txBody>
      </p:sp>
      <p:sp>
        <p:nvSpPr>
          <p:cNvPr id="8" name="Text 5"/>
          <p:cNvSpPr txBox="1"/>
          <p:nvPr/>
        </p:nvSpPr>
        <p:spPr>
          <a:xfrm>
            <a:off x="6291072" y="1645920"/>
            <a:ext cx="5349240" cy="320040"/>
          </a:xfrm>
          <a:prstGeom prst="rect">
            <a:avLst/>
          </a:prstGeom>
          <a:noFill/>
          <a:ln/>
        </p:spPr>
        <p:txBody>
          <a:bodyPr wrap="square" lIns="0" tIns="0" rIns="0" bIns="0" rtlCol="0" anchor="t"/>
          <a:lstStyle/>
          <a:p>
            <a:pPr indent="0" marL="0">
              <a:buNone/>
            </a:pPr>
            <a:r>
              <a:rPr lang="en-US" sz="1500" b="1" dirty="0">
                <a:solidFill>
                  <a:srgbClr val="14213D"/>
                </a:solidFill>
              </a:rPr>
              <a:t>2 · A rejection with feedback is re-reasoned</a:t>
            </a:r>
            <a:endParaRPr lang="en-US" sz="1500" dirty="0"/>
          </a:p>
        </p:txBody>
      </p:sp>
      <p:sp>
        <p:nvSpPr>
          <p:cNvPr id="9" name="Shape 6"/>
          <p:cNvSpPr/>
          <p:nvPr/>
        </p:nvSpPr>
        <p:spPr>
          <a:xfrm>
            <a:off x="6254496" y="2020824"/>
            <a:ext cx="5422392" cy="2203093"/>
          </a:xfrm>
          <a:prstGeom prst="rect">
            <a:avLst/>
          </a:prstGeom>
          <a:solidFill>
            <a:srgbClr val="FFFFFF"/>
          </a:solidFill>
          <a:ln w="9525">
            <a:solidFill>
              <a:srgbClr val="D8D3C6"/>
            </a:solidFill>
            <a:prstDash val="solid"/>
          </a:ln>
          <a:effectLst>
            <a:outerShdw sx="100000" sy="100000" kx="0" ky="0" algn="bl" rotWithShape="0" blurRad="76200" dist="25400" dir="5400000">
              <a:srgbClr val="000000">
                <a:alpha val="12000"/>
              </a:srgbClr>
            </a:outerShdw>
          </a:effectLst>
        </p:spPr>
      </p:sp>
      <p:pic>
        <p:nvPicPr>
          <p:cNvPr id="10" name="Image 1" descr="No alternative target fits, so the item is escalated to a human">    </p:cNvPr>
          <p:cNvPicPr>
            <a:picLocks noChangeAspect="1"/>
          </p:cNvPicPr>
          <p:nvPr/>
        </p:nvPicPr>
        <p:blipFill>
          <a:blip r:embed="rId2"/>
          <a:stretch>
            <a:fillRect/>
          </a:stretch>
        </p:blipFill>
        <p:spPr>
          <a:xfrm>
            <a:off x="6291072" y="2057400"/>
            <a:ext cx="5349240" cy="2129941"/>
          </a:xfrm>
          <a:prstGeom prst="rect">
            <a:avLst/>
          </a:prstGeom>
        </p:spPr>
      </p:pic>
      <p:sp>
        <p:nvSpPr>
          <p:cNvPr id="11" name="Text 7"/>
          <p:cNvSpPr txBox="1"/>
          <p:nvPr/>
        </p:nvSpPr>
        <p:spPr>
          <a:xfrm>
            <a:off x="6291072" y="4297069"/>
            <a:ext cx="5349240" cy="274320"/>
          </a:xfrm>
          <a:prstGeom prst="rect">
            <a:avLst/>
          </a:prstGeom>
          <a:noFill/>
          <a:ln/>
        </p:spPr>
        <p:txBody>
          <a:bodyPr wrap="square" lIns="0" tIns="0" rIns="0" bIns="0" rtlCol="0" anchor="t"/>
          <a:lstStyle/>
          <a:p>
            <a:pPr indent="0" marL="0">
              <a:buNone/>
            </a:pPr>
            <a:r>
              <a:rPr lang="en-US" sz="1100" i="1" dirty="0">
                <a:solidFill>
                  <a:srgbClr val="5A6472"/>
                </a:solidFill>
              </a:rPr>
              <a:t>No alternative target fits, so the item is escalated to a human</a:t>
            </a:r>
            <a:endParaRPr lang="en-US" sz="1100" dirty="0"/>
          </a:p>
        </p:txBody>
      </p:sp>
      <p:sp>
        <p:nvSpPr>
          <p:cNvPr id="12" name="Shape 8"/>
          <p:cNvSpPr/>
          <p:nvPr/>
        </p:nvSpPr>
        <p:spPr>
          <a:xfrm>
            <a:off x="548640" y="4754880"/>
            <a:ext cx="457200" cy="457200"/>
          </a:xfrm>
          <a:prstGeom prst="ellipse">
            <a:avLst/>
          </a:prstGeom>
          <a:solidFill>
            <a:srgbClr val="D6E8E6"/>
          </a:solidFill>
          <a:ln w="12700">
            <a:solidFill>
              <a:srgbClr val="D6E8E6"/>
            </a:solidFill>
            <a:prstDash val="solid"/>
          </a:ln>
        </p:spPr>
      </p:sp>
      <p:pic>
        <p:nvPicPr>
          <p:cNvPr id="13" name="Image 2" descr="preencoded.png">    </p:cNvPr>
          <p:cNvPicPr>
            <a:picLocks noChangeAspect="1"/>
          </p:cNvPicPr>
          <p:nvPr/>
        </p:nvPicPr>
        <p:blipFill>
          <a:blip r:embed="rId3"/>
          <a:stretch>
            <a:fillRect/>
          </a:stretch>
        </p:blipFill>
        <p:spPr>
          <a:xfrm>
            <a:off x="658368" y="4864608"/>
            <a:ext cx="237744" cy="237744"/>
          </a:xfrm>
          <a:prstGeom prst="rect">
            <a:avLst/>
          </a:prstGeom>
        </p:spPr>
      </p:pic>
      <p:sp>
        <p:nvSpPr>
          <p:cNvPr id="14" name="Text 9"/>
          <p:cNvSpPr txBox="1"/>
          <p:nvPr/>
        </p:nvSpPr>
        <p:spPr>
          <a:xfrm>
            <a:off x="1143000" y="4709160"/>
            <a:ext cx="3017520" cy="566928"/>
          </a:xfrm>
          <a:prstGeom prst="rect">
            <a:avLst/>
          </a:prstGeom>
          <a:noFill/>
          <a:ln/>
        </p:spPr>
        <p:txBody>
          <a:bodyPr wrap="square" lIns="0" tIns="0" rIns="0" bIns="0" rtlCol="0" anchor="ctr"/>
          <a:lstStyle/>
          <a:p>
            <a:pPr indent="0" marL="0">
              <a:buNone/>
            </a:pPr>
            <a:r>
              <a:rPr lang="en-US" sz="1250" dirty="0">
                <a:solidFill>
                  <a:srgbClr val="3D4757"/>
                </a:solidFill>
              </a:rPr>
              <a:t>Bulk approval only at ≥ 90%; everything below is decided one by one</a:t>
            </a:r>
            <a:endParaRPr lang="en-US" sz="1250" dirty="0"/>
          </a:p>
        </p:txBody>
      </p:sp>
      <p:sp>
        <p:nvSpPr>
          <p:cNvPr id="15" name="Shape 10"/>
          <p:cNvSpPr/>
          <p:nvPr/>
        </p:nvSpPr>
        <p:spPr>
          <a:xfrm>
            <a:off x="4297680" y="4754880"/>
            <a:ext cx="457200" cy="457200"/>
          </a:xfrm>
          <a:prstGeom prst="ellipse">
            <a:avLst/>
          </a:prstGeom>
          <a:solidFill>
            <a:srgbClr val="D6E8E6"/>
          </a:solidFill>
          <a:ln w="12700">
            <a:solidFill>
              <a:srgbClr val="D6E8E6"/>
            </a:solidFill>
            <a:prstDash val="solid"/>
          </a:ln>
        </p:spPr>
      </p:sp>
      <p:pic>
        <p:nvPicPr>
          <p:cNvPr id="16" name="Image 3" descr="preencoded.png">    </p:cNvPr>
          <p:cNvPicPr>
            <a:picLocks noChangeAspect="1"/>
          </p:cNvPicPr>
          <p:nvPr/>
        </p:nvPicPr>
        <p:blipFill>
          <a:blip r:embed="rId4"/>
          <a:stretch>
            <a:fillRect/>
          </a:stretch>
        </p:blipFill>
        <p:spPr>
          <a:xfrm>
            <a:off x="4407408" y="4864608"/>
            <a:ext cx="237744" cy="237744"/>
          </a:xfrm>
          <a:prstGeom prst="rect">
            <a:avLst/>
          </a:prstGeom>
        </p:spPr>
      </p:pic>
      <p:sp>
        <p:nvSpPr>
          <p:cNvPr id="17" name="Text 11"/>
          <p:cNvSpPr txBox="1"/>
          <p:nvPr/>
        </p:nvSpPr>
        <p:spPr>
          <a:xfrm>
            <a:off x="4892040" y="4709160"/>
            <a:ext cx="3017520" cy="566928"/>
          </a:xfrm>
          <a:prstGeom prst="rect">
            <a:avLst/>
          </a:prstGeom>
          <a:noFill/>
          <a:ln/>
        </p:spPr>
        <p:txBody>
          <a:bodyPr wrap="square" lIns="0" tIns="0" rIns="0" bIns="0" rtlCol="0" anchor="ctr"/>
          <a:lstStyle/>
          <a:p>
            <a:pPr indent="0" marL="0">
              <a:buNone/>
            </a:pPr>
            <a:r>
              <a:rPr lang="en-US" sz="1250" dirty="0">
                <a:solidFill>
                  <a:srgbClr val="3D4757"/>
                </a:solidFill>
              </a:rPr>
              <a:t>Export stays locked until every required decision is made</a:t>
            </a:r>
            <a:endParaRPr lang="en-US" sz="1250" dirty="0"/>
          </a:p>
        </p:txBody>
      </p:sp>
      <p:sp>
        <p:nvSpPr>
          <p:cNvPr id="18" name="Shape 12"/>
          <p:cNvSpPr/>
          <p:nvPr/>
        </p:nvSpPr>
        <p:spPr>
          <a:xfrm>
            <a:off x="8046720" y="4754880"/>
            <a:ext cx="457200" cy="457200"/>
          </a:xfrm>
          <a:prstGeom prst="ellipse">
            <a:avLst/>
          </a:prstGeom>
          <a:solidFill>
            <a:srgbClr val="D6E8E6"/>
          </a:solidFill>
          <a:ln w="12700">
            <a:solidFill>
              <a:srgbClr val="D6E8E6"/>
            </a:solidFill>
            <a:prstDash val="solid"/>
          </a:ln>
        </p:spPr>
      </p:sp>
      <p:pic>
        <p:nvPicPr>
          <p:cNvPr id="19" name="Image 4" descr="preencoded.png">    </p:cNvPr>
          <p:cNvPicPr>
            <a:picLocks noChangeAspect="1"/>
          </p:cNvPicPr>
          <p:nvPr/>
        </p:nvPicPr>
        <p:blipFill>
          <a:blip r:embed="rId5"/>
          <a:stretch>
            <a:fillRect/>
          </a:stretch>
        </p:blipFill>
        <p:spPr>
          <a:xfrm>
            <a:off x="8156448" y="4864608"/>
            <a:ext cx="237744" cy="237744"/>
          </a:xfrm>
          <a:prstGeom prst="rect">
            <a:avLst/>
          </a:prstGeom>
        </p:spPr>
      </p:pic>
      <p:sp>
        <p:nvSpPr>
          <p:cNvPr id="20" name="Text 13"/>
          <p:cNvSpPr txBox="1"/>
          <p:nvPr/>
        </p:nvSpPr>
        <p:spPr>
          <a:xfrm>
            <a:off x="8641080" y="4709160"/>
            <a:ext cx="3017520" cy="566928"/>
          </a:xfrm>
          <a:prstGeom prst="rect">
            <a:avLst/>
          </a:prstGeom>
          <a:noFill/>
          <a:ln/>
        </p:spPr>
        <p:txBody>
          <a:bodyPr wrap="square" lIns="0" tIns="0" rIns="0" bIns="0" rtlCol="0" anchor="ctr"/>
          <a:lstStyle/>
          <a:p>
            <a:pPr indent="0" marL="0">
              <a:buNone/>
            </a:pPr>
            <a:r>
              <a:rPr lang="en-US" sz="1250" dirty="0">
                <a:solidFill>
                  <a:srgbClr val="3D4757"/>
                </a:solidFill>
              </a:rPr>
              <a:t>Every rename and change logged with who approved it</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10 · MANDATORY CONSTRAINTS (BRIEF §9)</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All seven hard rules are met by construction</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731520"/>
                <a:gridCol w="2514600"/>
                <a:gridCol w="6949440"/>
                <a:gridCol w="896112"/>
              </a:tblGrid>
              <a:tr h="512064">
                <a:tc>
                  <a:txBody>
                    <a:bodyPr/>
                    <a:lstStyle/>
                    <a:p>
                      <a:pPr indent="0" marL="0">
                        <a:buNone/>
                      </a:pPr>
                      <a:r>
                        <a:rPr lang="en-US" sz="1200" b="1" dirty="0">
                          <a:solidFill>
                            <a:srgbClr val="FFFFFF"/>
                          </a:solidFill>
                        </a:rPr>
                        <a:t>ID</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Constraint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How the system guarantees it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Status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r>
              <a:tr h="512064">
                <a:tc>
                  <a:txBody>
                    <a:bodyPr/>
                    <a:lstStyle/>
                    <a:p>
                      <a:pPr indent="0" marL="0">
                        <a:buNone/>
                      </a:pPr>
                      <a:r>
                        <a:rPr lang="en-US" sz="1200" dirty="0">
                          <a:solidFill>
                            <a:srgbClr val="3D4757"/>
                          </a:solidFill>
                        </a:rPr>
                        <a:t>C-01</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No auto-transformation</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Agent 4 runs only after approval; graph pauses before human review; export locked until required decisions are made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b="1" dirty="0">
                          <a:solidFill>
                            <a:srgbClr val="1D6F6F"/>
                          </a:solidFill>
                        </a:rPr>
                        <a:t>✓ Met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12064">
                <a:tc>
                  <a:txBody>
                    <a:bodyPr/>
                    <a:lstStyle/>
                    <a:p>
                      <a:pPr indent="0" marL="0">
                        <a:buNone/>
                      </a:pPr>
                      <a:r>
                        <a:rPr lang="en-US" sz="1200" dirty="0">
                          <a:solidFill>
                            <a:srgbClr val="3D4757"/>
                          </a:solidFill>
                        </a:rPr>
                        <a:t>C-02</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No hallucinated data</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Missing fields stay blank; merged footnotes never copied; 1.5 storeys not truncated; “Included in Bldg” flagged, not invented</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b="1" dirty="0">
                          <a:solidFill>
                            <a:srgbClr val="1D6F6F"/>
                          </a:solidFill>
                        </a:rPr>
                        <a:t>✓ Met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12064">
                <a:tc>
                  <a:txBody>
                    <a:bodyPr/>
                    <a:lstStyle/>
                    <a:p>
                      <a:pPr indent="0" marL="0">
                        <a:buNone/>
                      </a:pPr>
                      <a:r>
                        <a:rPr lang="en-US" sz="1200" dirty="0">
                          <a:solidFill>
                            <a:srgbClr val="3D4757"/>
                          </a:solidFill>
                        </a:rPr>
                        <a:t>C-03</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Exactly 17 fields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Fixed order enforced; Pandera + type check; merged cells re-checked in the written file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b="1" dirty="0">
                          <a:solidFill>
                            <a:srgbClr val="1D6F6F"/>
                          </a:solidFill>
                        </a:rPr>
                        <a:t>✓ Met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12064">
                <a:tc>
                  <a:txBody>
                    <a:bodyPr/>
                    <a:lstStyle/>
                    <a:p>
                      <a:pPr indent="0" marL="0">
                        <a:buNone/>
                      </a:pPr>
                      <a:r>
                        <a:rPr lang="en-US" sz="1200" dirty="0">
                          <a:solidFill>
                            <a:srgbClr val="3D4757"/>
                          </a:solidFill>
                        </a:rPr>
                        <a:t>C-04</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 4 distinct agents, shared state</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Four LangGraph nodes over one typed SOVState, checkpointed</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b="1" dirty="0">
                          <a:solidFill>
                            <a:srgbClr val="1D6F6F"/>
                          </a:solidFill>
                        </a:rPr>
                        <a:t>✓ Met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12064">
                <a:tc>
                  <a:txBody>
                    <a:bodyPr/>
                    <a:lstStyle/>
                    <a:p>
                      <a:pPr indent="0" marL="0">
                        <a:buNone/>
                      </a:pPr>
                      <a:r>
                        <a:rPr lang="en-US" sz="1200" dirty="0">
                          <a:solidFill>
                            <a:srgbClr val="3D4757"/>
                          </a:solidFill>
                        </a:rPr>
                        <a:t>C-05</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Rationale for every decision</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Each mapping and recommendation carries a human-readable rationale (UI card + JSON)</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b="1" dirty="0">
                          <a:solidFill>
                            <a:srgbClr val="1D6F6F"/>
                          </a:solidFill>
                        </a:rPr>
                        <a:t>✓ Met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12064">
                <a:tc>
                  <a:txBody>
                    <a:bodyPr/>
                    <a:lstStyle/>
                    <a:p>
                      <a:pPr indent="0" marL="0">
                        <a:buNone/>
                      </a:pPr>
                      <a:r>
                        <a:rPr lang="en-US" sz="1200" dirty="0">
                          <a:solidFill>
                            <a:srgbClr val="3D4757"/>
                          </a:solidFill>
                        </a:rPr>
                        <a:t>C-06</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Process all samples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All 4 broker SOVs + 3 samples run end to end; 92 automated tests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b="1" dirty="0">
                          <a:solidFill>
                            <a:srgbClr val="1D6F6F"/>
                          </a:solidFill>
                        </a:rPr>
                        <a:t>✓ Met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12064">
                <a:tc>
                  <a:txBody>
                    <a:bodyPr/>
                    <a:lstStyle/>
                    <a:p>
                      <a:pPr indent="0" marL="0">
                        <a:buNone/>
                      </a:pPr>
                      <a:r>
                        <a:rPr lang="en-US" sz="1200" dirty="0">
                          <a:solidFill>
                            <a:srgbClr val="3D4757"/>
                          </a:solidFill>
                        </a:rPr>
                        <a:t>C-07</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Output file names</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dirty="0">
                          <a:solidFill>
                            <a:srgbClr val="3D4757"/>
                          </a:solidFill>
                        </a:rPr>
                        <a:t>outputs/Cleaned_SOV.xlsx and outputs/Audit_Log.xlsx on every run</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00" b="1" dirty="0">
                          <a:solidFill>
                            <a:srgbClr val="1D6F6F"/>
                          </a:solidFill>
                        </a:rPr>
                        <a:t>✓ Met</a:t>
                      </a:r>
                      <a:endParaRPr lang="en-US" sz="120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bl>
          </a:graphicData>
        </a:graphic>
      </p:graphicFrame>
      <p:sp>
        <p:nvSpPr>
          <p:cNvPr id="5" name="Text 2"/>
          <p:cNvSpPr txBox="1"/>
          <p:nvPr/>
        </p:nvSpPr>
        <p:spPr>
          <a:xfrm>
            <a:off x="548640" y="5870448"/>
            <a:ext cx="11094415" cy="365760"/>
          </a:xfrm>
          <a:prstGeom prst="rect">
            <a:avLst/>
          </a:prstGeom>
          <a:noFill/>
          <a:ln/>
        </p:spPr>
        <p:txBody>
          <a:bodyPr wrap="square" lIns="0" tIns="0" rIns="0" bIns="0" rtlCol="0" anchor="t"/>
          <a:lstStyle/>
          <a:p>
            <a:pPr indent="0" marL="0">
              <a:buNone/>
            </a:pPr>
            <a:r>
              <a:rPr lang="en-US" sz="1200" dirty="0">
                <a:solidFill>
                  <a:srgbClr val="5A6472"/>
                </a:solidFill>
              </a:rPr>
              <a:t>Data privacy: keys only in .env · fully local with Ollama · LLM prompts receive masked values (digits → 9, e-mails removed).</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11 · SUCCESS METRICS (BRIEF §10)</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Every measurable target met, with margin</a:t>
            </a:r>
            <a:endParaRPr lang="en-US" sz="3000" dirty="0"/>
          </a:p>
        </p:txBody>
      </p:sp>
      <p:graphicFrame>
        <p:nvGraphicFramePr>
          <p:cNvPr id="4" name="Chart 0" descr="Clustered bar chart: mapping accuracy target 74%, achieved 100%; anomaly recall 90% vs 100%; transformation correctness 95% vs 100%; explainability 100% vs 100%."/>
          <p:cNvGraphicFramePr/>
          <p:nvPr/>
        </p:nvGraphicFramePr>
        <p:xfrm>
          <a:off x="548640" y="1645920"/>
          <a:ext cx="6675120" cy="4069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760720"/>
            <a:ext cx="6675120" cy="365760"/>
          </a:xfrm>
          <a:prstGeom prst="rect">
            <a:avLst/>
          </a:prstGeom>
          <a:noFill/>
          <a:ln/>
        </p:spPr>
        <p:txBody>
          <a:bodyPr wrap="square" lIns="0" tIns="0" rIns="0" bIns="0" rtlCol="0" anchor="t"/>
          <a:lstStyle/>
          <a:p>
            <a:pPr indent="0" marL="0">
              <a:buNone/>
            </a:pPr>
            <a:r>
              <a:rPr lang="en-US" sz="1200" i="1" dirty="0">
                <a:solidFill>
                  <a:srgbClr val="5A6472"/>
                </a:solidFill>
              </a:rPr>
              <a:t>Mapping baseline (manual): 53%. Real broker files: 55 / 55 hand-labelled columns.</a:t>
            </a:r>
            <a:endParaRPr lang="en-US" sz="1200" dirty="0"/>
          </a:p>
        </p:txBody>
      </p:sp>
      <p:sp>
        <p:nvSpPr>
          <p:cNvPr id="6" name="crit-0"/>
          <p:cNvSpPr/>
          <p:nvPr/>
        </p:nvSpPr>
        <p:spPr>
          <a:xfrm>
            <a:off x="7543800" y="1691640"/>
            <a:ext cx="4096512" cy="1188720"/>
          </a:xfrm>
          <a:prstGeom prst="roundRect">
            <a:avLst>
              <a:gd name="adj" fmla="val 6154"/>
            </a:avLst>
          </a:prstGeom>
          <a:solidFill>
            <a:srgbClr val="FDFCF9"/>
          </a:solidFill>
          <a:ln w="9525">
            <a:solidFill>
              <a:srgbClr val="D8D3C6"/>
            </a:solidFill>
            <a:prstDash val="solid"/>
          </a:ln>
        </p:spPr>
      </p:sp>
      <p:sp>
        <p:nvSpPr>
          <p:cNvPr id="7" name="Shape 4"/>
          <p:cNvSpPr/>
          <p:nvPr/>
        </p:nvSpPr>
        <p:spPr>
          <a:xfrm>
            <a:off x="7726680" y="1874520"/>
            <a:ext cx="457200" cy="457200"/>
          </a:xfrm>
          <a:prstGeom prst="ellipse">
            <a:avLst/>
          </a:prstGeom>
          <a:solidFill>
            <a:srgbClr val="D6E8E6"/>
          </a:solidFill>
          <a:ln w="12700">
            <a:solidFill>
              <a:srgbClr val="D6E8E6"/>
            </a:solidFill>
            <a:prstDash val="solid"/>
          </a:ln>
        </p:spPr>
      </p:sp>
      <p:pic>
        <p:nvPicPr>
          <p:cNvPr id="8" name="Image 0" descr="preencoded.png">    </p:cNvPr>
          <p:cNvPicPr>
            <a:picLocks noChangeAspect="1"/>
          </p:cNvPicPr>
          <p:nvPr/>
        </p:nvPicPr>
        <p:blipFill>
          <a:blip r:embed="rId2"/>
          <a:stretch>
            <a:fillRect/>
          </a:stretch>
        </p:blipFill>
        <p:spPr>
          <a:xfrm>
            <a:off x="7836408" y="1984248"/>
            <a:ext cx="237744" cy="237744"/>
          </a:xfrm>
          <a:prstGeom prst="rect">
            <a:avLst/>
          </a:prstGeom>
        </p:spPr>
      </p:pic>
      <p:sp>
        <p:nvSpPr>
          <p:cNvPr id="9" name="Text 5"/>
          <p:cNvSpPr txBox="1"/>
          <p:nvPr/>
        </p:nvSpPr>
        <p:spPr>
          <a:xfrm>
            <a:off x="8321040" y="1856232"/>
            <a:ext cx="3200400" cy="292608"/>
          </a:xfrm>
          <a:prstGeom prst="rect">
            <a:avLst/>
          </a:prstGeom>
          <a:noFill/>
          <a:ln/>
        </p:spPr>
        <p:txBody>
          <a:bodyPr wrap="square" lIns="0" tIns="0" rIns="0" bIns="0" rtlCol="0" anchor="t"/>
          <a:lstStyle/>
          <a:p>
            <a:pPr indent="0" marL="0">
              <a:buNone/>
            </a:pPr>
            <a:r>
              <a:rPr lang="en-US" sz="1400" b="1" dirty="0">
                <a:solidFill>
                  <a:srgbClr val="14213D"/>
                </a:solidFill>
              </a:rPr>
              <a:t>Agentic design (20%)</a:t>
            </a:r>
            <a:endParaRPr lang="en-US" sz="1400" dirty="0"/>
          </a:p>
        </p:txBody>
      </p:sp>
      <p:sp>
        <p:nvSpPr>
          <p:cNvPr id="10" name="Text 6"/>
          <p:cNvSpPr txBox="1"/>
          <p:nvPr/>
        </p:nvSpPr>
        <p:spPr>
          <a:xfrm>
            <a:off x="8321040" y="2167128"/>
            <a:ext cx="3200400" cy="658368"/>
          </a:xfrm>
          <a:prstGeom prst="rect">
            <a:avLst/>
          </a:prstGeom>
          <a:noFill/>
          <a:ln/>
        </p:spPr>
        <p:txBody>
          <a:bodyPr wrap="square" lIns="0" tIns="0" rIns="0" bIns="0" rtlCol="0" anchor="t"/>
          <a:lstStyle/>
          <a:p>
            <a:pPr indent="0" marL="0">
              <a:buNone/>
            </a:pPr>
            <a:r>
              <a:rPr lang="en-US" sz="1200" dirty="0">
                <a:solidFill>
                  <a:srgbClr val="3D4757"/>
                </a:solidFill>
              </a:rPr>
              <a:t>4 distinct LangGraph nodes, one typed state, checkpointed pause and resume</a:t>
            </a:r>
            <a:endParaRPr lang="en-US" sz="1200" dirty="0"/>
          </a:p>
        </p:txBody>
      </p:sp>
      <p:sp>
        <p:nvSpPr>
          <p:cNvPr id="11" name="crit-1"/>
          <p:cNvSpPr/>
          <p:nvPr/>
        </p:nvSpPr>
        <p:spPr>
          <a:xfrm>
            <a:off x="7543800" y="3063240"/>
            <a:ext cx="4096512" cy="1188720"/>
          </a:xfrm>
          <a:prstGeom prst="roundRect">
            <a:avLst>
              <a:gd name="adj" fmla="val 6154"/>
            </a:avLst>
          </a:prstGeom>
          <a:solidFill>
            <a:srgbClr val="FDFCF9"/>
          </a:solidFill>
          <a:ln w="9525">
            <a:solidFill>
              <a:srgbClr val="D8D3C6"/>
            </a:solidFill>
            <a:prstDash val="solid"/>
          </a:ln>
        </p:spPr>
      </p:sp>
      <p:sp>
        <p:nvSpPr>
          <p:cNvPr id="12" name="Shape 8"/>
          <p:cNvSpPr/>
          <p:nvPr/>
        </p:nvSpPr>
        <p:spPr>
          <a:xfrm>
            <a:off x="7726680" y="3246120"/>
            <a:ext cx="457200" cy="457200"/>
          </a:xfrm>
          <a:prstGeom prst="ellipse">
            <a:avLst/>
          </a:prstGeom>
          <a:solidFill>
            <a:srgbClr val="D6E8E6"/>
          </a:solidFill>
          <a:ln w="12700">
            <a:solidFill>
              <a:srgbClr val="D6E8E6"/>
            </a:solidFill>
            <a:prstDash val="solid"/>
          </a:ln>
        </p:spPr>
      </p:sp>
      <p:pic>
        <p:nvPicPr>
          <p:cNvPr id="13" name="Image 1" descr="preencoded.png">    </p:cNvPr>
          <p:cNvPicPr>
            <a:picLocks noChangeAspect="1"/>
          </p:cNvPicPr>
          <p:nvPr/>
        </p:nvPicPr>
        <p:blipFill>
          <a:blip r:embed="rId3"/>
          <a:stretch>
            <a:fillRect/>
          </a:stretch>
        </p:blipFill>
        <p:spPr>
          <a:xfrm>
            <a:off x="7836408" y="3355848"/>
            <a:ext cx="237744" cy="237744"/>
          </a:xfrm>
          <a:prstGeom prst="rect">
            <a:avLst/>
          </a:prstGeom>
        </p:spPr>
      </p:pic>
      <p:sp>
        <p:nvSpPr>
          <p:cNvPr id="14" name="Text 9"/>
          <p:cNvSpPr txBox="1"/>
          <p:nvPr/>
        </p:nvSpPr>
        <p:spPr>
          <a:xfrm>
            <a:off x="8321040" y="3227832"/>
            <a:ext cx="3200400" cy="292608"/>
          </a:xfrm>
          <a:prstGeom prst="rect">
            <a:avLst/>
          </a:prstGeom>
          <a:noFill/>
          <a:ln/>
        </p:spPr>
        <p:txBody>
          <a:bodyPr wrap="square" lIns="0" tIns="0" rIns="0" bIns="0" rtlCol="0" anchor="t"/>
          <a:lstStyle/>
          <a:p>
            <a:pPr indent="0" marL="0">
              <a:buNone/>
            </a:pPr>
            <a:r>
              <a:rPr lang="en-US" sz="1400" b="1" dirty="0">
                <a:solidFill>
                  <a:srgbClr val="14213D"/>
                </a:solidFill>
              </a:rPr>
              <a:t>Human-in-the-loop UX (10%)</a:t>
            </a:r>
            <a:endParaRPr lang="en-US" sz="1400" dirty="0"/>
          </a:p>
        </p:txBody>
      </p:sp>
      <p:sp>
        <p:nvSpPr>
          <p:cNvPr id="15" name="Text 10"/>
          <p:cNvSpPr txBox="1"/>
          <p:nvPr/>
        </p:nvSpPr>
        <p:spPr>
          <a:xfrm>
            <a:off x="8321040" y="3538728"/>
            <a:ext cx="3200400" cy="658368"/>
          </a:xfrm>
          <a:prstGeom prst="rect">
            <a:avLst/>
          </a:prstGeom>
          <a:noFill/>
          <a:ln/>
        </p:spPr>
        <p:txBody>
          <a:bodyPr wrap="square" lIns="0" tIns="0" rIns="0" bIns="0" rtlCol="0" anchor="t"/>
          <a:lstStyle/>
          <a:p>
            <a:pPr indent="0" marL="0">
              <a:buNone/>
            </a:pPr>
            <a:r>
              <a:rPr lang="en-US" sz="1200" dirty="0">
                <a:solidFill>
                  <a:srgbClr val="3D4757"/>
                </a:solidFill>
              </a:rPr>
              <a:t>Why / impact / before → after on every card; escalation with Assign Target</a:t>
            </a:r>
            <a:endParaRPr lang="en-US" sz="1200" dirty="0"/>
          </a:p>
        </p:txBody>
      </p:sp>
      <p:sp>
        <p:nvSpPr>
          <p:cNvPr id="16" name="crit-2"/>
          <p:cNvSpPr/>
          <p:nvPr/>
        </p:nvSpPr>
        <p:spPr>
          <a:xfrm>
            <a:off x="7543800" y="4434840"/>
            <a:ext cx="4096512" cy="1188720"/>
          </a:xfrm>
          <a:prstGeom prst="roundRect">
            <a:avLst>
              <a:gd name="adj" fmla="val 6154"/>
            </a:avLst>
          </a:prstGeom>
          <a:solidFill>
            <a:srgbClr val="FDFCF9"/>
          </a:solidFill>
          <a:ln w="9525">
            <a:solidFill>
              <a:srgbClr val="D8D3C6"/>
            </a:solidFill>
            <a:prstDash val="solid"/>
          </a:ln>
        </p:spPr>
      </p:sp>
      <p:sp>
        <p:nvSpPr>
          <p:cNvPr id="17" name="Shape 12"/>
          <p:cNvSpPr/>
          <p:nvPr/>
        </p:nvSpPr>
        <p:spPr>
          <a:xfrm>
            <a:off x="7726680" y="4617720"/>
            <a:ext cx="457200" cy="457200"/>
          </a:xfrm>
          <a:prstGeom prst="ellipse">
            <a:avLst/>
          </a:prstGeom>
          <a:solidFill>
            <a:srgbClr val="D6E8E6"/>
          </a:solidFill>
          <a:ln w="12700">
            <a:solidFill>
              <a:srgbClr val="D6E8E6"/>
            </a:solidFill>
            <a:prstDash val="solid"/>
          </a:ln>
        </p:spPr>
      </p:sp>
      <p:pic>
        <p:nvPicPr>
          <p:cNvPr id="18" name="Image 2" descr="preencoded.png">    </p:cNvPr>
          <p:cNvPicPr>
            <a:picLocks noChangeAspect="1"/>
          </p:cNvPicPr>
          <p:nvPr/>
        </p:nvPicPr>
        <p:blipFill>
          <a:blip r:embed="rId4"/>
          <a:stretch>
            <a:fillRect/>
          </a:stretch>
        </p:blipFill>
        <p:spPr>
          <a:xfrm>
            <a:off x="7836408" y="4727448"/>
            <a:ext cx="237744" cy="237744"/>
          </a:xfrm>
          <a:prstGeom prst="rect">
            <a:avLst/>
          </a:prstGeom>
        </p:spPr>
      </p:pic>
      <p:sp>
        <p:nvSpPr>
          <p:cNvPr id="19" name="Text 13"/>
          <p:cNvSpPr txBox="1"/>
          <p:nvPr/>
        </p:nvSpPr>
        <p:spPr>
          <a:xfrm>
            <a:off x="8321040" y="4599432"/>
            <a:ext cx="3200400" cy="292608"/>
          </a:xfrm>
          <a:prstGeom prst="rect">
            <a:avLst/>
          </a:prstGeom>
          <a:noFill/>
          <a:ln/>
        </p:spPr>
        <p:txBody>
          <a:bodyPr wrap="square" lIns="0" tIns="0" rIns="0" bIns="0" rtlCol="0" anchor="t"/>
          <a:lstStyle/>
          <a:p>
            <a:pPr indent="0" marL="0">
              <a:buNone/>
            </a:pPr>
            <a:r>
              <a:rPr lang="en-US" sz="1400" b="1" dirty="0">
                <a:solidFill>
                  <a:srgbClr val="14213D"/>
                </a:solidFill>
              </a:rPr>
              <a:t>Innovation (5%)</a:t>
            </a:r>
            <a:endParaRPr lang="en-US" sz="1400" dirty="0"/>
          </a:p>
        </p:txBody>
      </p:sp>
      <p:sp>
        <p:nvSpPr>
          <p:cNvPr id="20" name="Text 14"/>
          <p:cNvSpPr txBox="1"/>
          <p:nvPr/>
        </p:nvSpPr>
        <p:spPr>
          <a:xfrm>
            <a:off x="8321040" y="4910328"/>
            <a:ext cx="3200400" cy="658368"/>
          </a:xfrm>
          <a:prstGeom prst="rect">
            <a:avLst/>
          </a:prstGeom>
          <a:noFill/>
          <a:ln/>
        </p:spPr>
        <p:txBody>
          <a:bodyPr wrap="square" lIns="0" tIns="0" rIns="0" bIns="0" rtlCol="0" anchor="t"/>
          <a:lstStyle/>
          <a:p>
            <a:pPr indent="0" marL="0">
              <a:buNone/>
            </a:pPr>
            <a:r>
              <a:rPr lang="en-US" sz="1200" dirty="0">
                <a:solidFill>
                  <a:srgbClr val="3D4757"/>
                </a:solidFill>
              </a:rPr>
              <a:t>Vector memory · workflow stepper · xlsx + csv · iterative re-reasoning</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12 · VERIFIED ON THE PROVIDED SOVS</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Four real broker files, end to end, under 25 seconds each</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325880"/>
                <a:gridCol w="3749040"/>
                <a:gridCol w="1051560"/>
                <a:gridCol w="1600200"/>
                <a:gridCol w="868680"/>
                <a:gridCol w="2496312"/>
              </a:tblGrid>
              <a:tr h="502920">
                <a:tc>
                  <a:txBody>
                    <a:bodyPr/>
                    <a:lstStyle/>
                    <a:p>
                      <a:pPr indent="0" marL="0">
                        <a:buNone/>
                      </a:pPr>
                      <a:r>
                        <a:rPr lang="en-US" sz="1250" b="1" dirty="0">
                          <a:solidFill>
                            <a:srgbClr val="FFFFFF"/>
                          </a:solidFill>
                        </a:rPr>
                        <a:t>File</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Layout challenge</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Rows out</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Columns correct</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Time</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Validation</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14213D"/>
                    </a:solidFill>
                  </a:tcPr>
                </a:tc>
              </a:tr>
              <a:tr h="502920">
                <a:tc>
                  <a:txBody>
                    <a:bodyPr/>
                    <a:lstStyle/>
                    <a:p>
                      <a:pPr indent="0" marL="0">
                        <a:buNone/>
                      </a:pPr>
                      <a:r>
                        <a:rPr lang="en-US" sz="1250" dirty="0">
                          <a:solidFill>
                            <a:srgbClr val="3D4757"/>
                          </a:solidFill>
                        </a:rPr>
                        <a:t>SOV_B4ID</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Header on row 12, footnotes merged across sheet</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15</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15 / 15</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16 s</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Flags 1.5 storeys (kept)</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02920">
                <a:tc>
                  <a:txBody>
                    <a:bodyPr/>
                    <a:lstStyle/>
                    <a:p>
                      <a:pPr indent="0" marL="0">
                        <a:buNone/>
                      </a:pPr>
                      <a:r>
                        <a:rPr lang="en-US" sz="1250" dirty="0">
                          <a:solidFill>
                            <a:srgbClr val="3D4757"/>
                          </a:solidFill>
                        </a:rPr>
                        <a:t>SOV_H6D2</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Two-row banner, multi-line headers</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19</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15 / 15</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17 s</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Passed</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02920">
                <a:tc>
                  <a:txBody>
                    <a:bodyPr/>
                    <a:lstStyle/>
                    <a:p>
                      <a:pPr indent="0" marL="0">
                        <a:buNone/>
                      </a:pPr>
                      <a:r>
                        <a:rPr lang="en-US" sz="1250" dirty="0">
                          <a:solidFill>
                            <a:srgbClr val="3D4757"/>
                          </a:solidFill>
                        </a:rPr>
                        <a:t>SOV_K4T9</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7 tabs, data on row 6, 9999 years</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34</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12 / 12</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15 s</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Passed</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r h="502920">
                <a:tc>
                  <a:txBody>
                    <a:bodyPr/>
                    <a:lstStyle/>
                    <a:p>
                      <a:pPr indent="0" marL="0">
                        <a:buNone/>
                      </a:pPr>
                      <a:r>
                        <a:rPr lang="en-US" sz="1250" dirty="0">
                          <a:solidFill>
                            <a:srgbClr val="3D4757"/>
                          </a:solidFill>
                        </a:rPr>
                        <a:t>SOV_Q8B3</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8 tabs (3 hidden), locations on 3 tabs</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990</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13 / 13</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22 s</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c>
                  <a:txBody>
                    <a:bodyPr/>
                    <a:lstStyle/>
                    <a:p>
                      <a:pPr indent="0" marL="0">
                        <a:buNone/>
                      </a:pPr>
                      <a:r>
                        <a:rPr lang="en-US" sz="1250" dirty="0">
                          <a:solidFill>
                            <a:srgbClr val="3D4757"/>
                          </a:solidFill>
                        </a:rPr>
                        <a:t>Flags “Included in Bldg”</a:t>
                      </a:r>
                      <a:endParaRPr lang="en-US" sz="1250" dirty="0"/>
                    </a:p>
                  </a:txBody>
                  <a:tcPr marL="73152" marR="73152" marT="73152" marB="73152"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FDFCF9"/>
                    </a:solidFill>
                  </a:tcPr>
                </a:tc>
              </a:tr>
            </a:tbl>
          </a:graphicData>
        </a:graphic>
      </p:graphicFrame>
      <p:sp>
        <p:nvSpPr>
          <p:cNvPr id="5" name="Text 2"/>
          <p:cNvSpPr txBox="1"/>
          <p:nvPr/>
        </p:nvSpPr>
        <p:spPr>
          <a:xfrm>
            <a:off x="548640" y="4434840"/>
            <a:ext cx="3474720" cy="685800"/>
          </a:xfrm>
          <a:prstGeom prst="rect">
            <a:avLst/>
          </a:prstGeom>
          <a:noFill/>
          <a:ln/>
        </p:spPr>
        <p:txBody>
          <a:bodyPr wrap="square" lIns="0" tIns="0" rIns="0" bIns="0" rtlCol="0" anchor="t"/>
          <a:lstStyle/>
          <a:p>
            <a:pPr indent="0" marL="0">
              <a:buNone/>
            </a:pPr>
            <a:r>
              <a:rPr lang="en-US" sz="3600" b="1" dirty="0">
                <a:solidFill>
                  <a:srgbClr val="1D6F6F"/>
                </a:solidFill>
              </a:rPr>
              <a:t>55 / 55</a:t>
            </a:r>
            <a:endParaRPr lang="en-US" sz="3600" dirty="0"/>
          </a:p>
        </p:txBody>
      </p:sp>
      <p:sp>
        <p:nvSpPr>
          <p:cNvPr id="6" name="Text 3"/>
          <p:cNvSpPr txBox="1"/>
          <p:nvPr/>
        </p:nvSpPr>
        <p:spPr>
          <a:xfrm>
            <a:off x="548640" y="5120640"/>
            <a:ext cx="3383280" cy="594360"/>
          </a:xfrm>
          <a:prstGeom prst="rect">
            <a:avLst/>
          </a:prstGeom>
          <a:noFill/>
          <a:ln/>
        </p:spPr>
        <p:txBody>
          <a:bodyPr wrap="square" lIns="0" tIns="0" rIns="0" bIns="0" rtlCol="0" anchor="t"/>
          <a:lstStyle/>
          <a:p>
            <a:pPr indent="0" marL="0">
              <a:buNone/>
            </a:pPr>
            <a:r>
              <a:rPr lang="en-US" sz="1250" dirty="0">
                <a:solidFill>
                  <a:srgbClr val="3D4757"/>
                </a:solidFill>
              </a:rPr>
              <a:t>hand-labelled columns mapped correctly (51% before the fixes)</a:t>
            </a:r>
            <a:endParaRPr lang="en-US" sz="1250" dirty="0"/>
          </a:p>
        </p:txBody>
      </p:sp>
      <p:sp>
        <p:nvSpPr>
          <p:cNvPr id="7" name="Text 4"/>
          <p:cNvSpPr txBox="1"/>
          <p:nvPr/>
        </p:nvSpPr>
        <p:spPr>
          <a:xfrm>
            <a:off x="4297680" y="4434840"/>
            <a:ext cx="3474720" cy="685800"/>
          </a:xfrm>
          <a:prstGeom prst="rect">
            <a:avLst/>
          </a:prstGeom>
          <a:noFill/>
          <a:ln/>
        </p:spPr>
        <p:txBody>
          <a:bodyPr wrap="square" lIns="0" tIns="0" rIns="0" bIns="0" rtlCol="0" anchor="t"/>
          <a:lstStyle/>
          <a:p>
            <a:pPr indent="0" marL="0">
              <a:buNone/>
            </a:pPr>
            <a:r>
              <a:rPr lang="en-US" sz="3600" b="1" dirty="0">
                <a:solidFill>
                  <a:srgbClr val="1D6F6F"/>
                </a:solidFill>
              </a:rPr>
              <a:t>0</a:t>
            </a:r>
            <a:endParaRPr lang="en-US" sz="3600" dirty="0"/>
          </a:p>
        </p:txBody>
      </p:sp>
      <p:sp>
        <p:nvSpPr>
          <p:cNvPr id="8" name="Text 5"/>
          <p:cNvSpPr txBox="1"/>
          <p:nvPr/>
        </p:nvSpPr>
        <p:spPr>
          <a:xfrm>
            <a:off x="4297680" y="5120640"/>
            <a:ext cx="3383280" cy="594360"/>
          </a:xfrm>
          <a:prstGeom prst="rect">
            <a:avLst/>
          </a:prstGeom>
          <a:noFill/>
          <a:ln/>
        </p:spPr>
        <p:txBody>
          <a:bodyPr wrap="square" lIns="0" tIns="0" rIns="0" bIns="0" rtlCol="0" anchor="t"/>
          <a:lstStyle/>
          <a:p>
            <a:pPr indent="0" marL="0">
              <a:buNone/>
            </a:pPr>
            <a:r>
              <a:rPr lang="en-US" sz="1250" dirty="0">
                <a:solidFill>
                  <a:srgbClr val="3D4757"/>
                </a:solidFill>
              </a:rPr>
              <a:t>merged cells and 17 ordered fields in every output</a:t>
            </a:r>
            <a:endParaRPr lang="en-US" sz="1250" dirty="0"/>
          </a:p>
        </p:txBody>
      </p:sp>
      <p:sp>
        <p:nvSpPr>
          <p:cNvPr id="9" name="Text 6"/>
          <p:cNvSpPr txBox="1"/>
          <p:nvPr/>
        </p:nvSpPr>
        <p:spPr>
          <a:xfrm>
            <a:off x="8046720" y="4434840"/>
            <a:ext cx="3474720" cy="685800"/>
          </a:xfrm>
          <a:prstGeom prst="rect">
            <a:avLst/>
          </a:prstGeom>
          <a:noFill/>
          <a:ln/>
        </p:spPr>
        <p:txBody>
          <a:bodyPr wrap="square" lIns="0" tIns="0" rIns="0" bIns="0" rtlCol="0" anchor="t"/>
          <a:lstStyle/>
          <a:p>
            <a:pPr indent="0" marL="0">
              <a:buNone/>
            </a:pPr>
            <a:r>
              <a:rPr lang="en-US" sz="3600" b="1" dirty="0">
                <a:solidFill>
                  <a:srgbClr val="1D6F6F"/>
                </a:solidFill>
              </a:rPr>
              <a:t>2</a:t>
            </a:r>
            <a:endParaRPr lang="en-US" sz="3600" dirty="0"/>
          </a:p>
        </p:txBody>
      </p:sp>
      <p:sp>
        <p:nvSpPr>
          <p:cNvPr id="10" name="Text 7"/>
          <p:cNvSpPr txBox="1"/>
          <p:nvPr/>
        </p:nvSpPr>
        <p:spPr>
          <a:xfrm>
            <a:off x="8046720" y="5120640"/>
            <a:ext cx="3383280" cy="594360"/>
          </a:xfrm>
          <a:prstGeom prst="rect">
            <a:avLst/>
          </a:prstGeom>
          <a:noFill/>
          <a:ln/>
        </p:spPr>
        <p:txBody>
          <a:bodyPr wrap="square" lIns="0" tIns="0" rIns="0" bIns="0" rtlCol="0" anchor="t"/>
          <a:lstStyle/>
          <a:p>
            <a:pPr indent="0" marL="0">
              <a:buNone/>
            </a:pPr>
            <a:r>
              <a:rPr lang="en-US" sz="1250" dirty="0">
                <a:solidFill>
                  <a:srgbClr val="3D4757"/>
                </a:solidFill>
              </a:rPr>
              <a:t>real source problems surfaced instead of silently “fixed”</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13 · BUSINESS IMPACT (BRIEF §13)</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From hours per SOV to seconds plus a short review</a:t>
            </a:r>
            <a:endParaRPr lang="en-US" sz="3000" dirty="0"/>
          </a:p>
        </p:txBody>
      </p:sp>
      <p:sp>
        <p:nvSpPr>
          <p:cNvPr id="4" name="before"/>
          <p:cNvSpPr/>
          <p:nvPr/>
        </p:nvSpPr>
        <p:spPr>
          <a:xfrm>
            <a:off x="548640" y="1691640"/>
            <a:ext cx="3657600" cy="1874520"/>
          </a:xfrm>
          <a:prstGeom prst="roundRect">
            <a:avLst>
              <a:gd name="adj" fmla="val 3902"/>
            </a:avLst>
          </a:prstGeom>
          <a:solidFill>
            <a:srgbClr val="FFFFFF"/>
          </a:solidFill>
          <a:ln w="9525">
            <a:solidFill>
              <a:srgbClr val="D8D3C6"/>
            </a:solidFill>
            <a:prstDash val="solid"/>
          </a:ln>
        </p:spPr>
      </p:sp>
      <p:sp>
        <p:nvSpPr>
          <p:cNvPr id="5" name="Text 3"/>
          <p:cNvSpPr txBox="1"/>
          <p:nvPr/>
        </p:nvSpPr>
        <p:spPr>
          <a:xfrm>
            <a:off x="822960" y="1847088"/>
            <a:ext cx="3108960" cy="256032"/>
          </a:xfrm>
          <a:prstGeom prst="rect">
            <a:avLst/>
          </a:prstGeom>
          <a:noFill/>
          <a:ln/>
        </p:spPr>
        <p:txBody>
          <a:bodyPr wrap="square" lIns="0" tIns="0" rIns="0" bIns="0" rtlCol="0" anchor="t"/>
          <a:lstStyle/>
          <a:p>
            <a:pPr indent="0" marL="0">
              <a:buNone/>
            </a:pPr>
            <a:r>
              <a:rPr lang="en-US" sz="1100" b="1" spc="100" kern="0" dirty="0">
                <a:solidFill>
                  <a:srgbClr val="A33A2B"/>
                </a:solidFill>
              </a:rPr>
              <a:t>TODAY</a:t>
            </a:r>
            <a:endParaRPr lang="en-US" sz="1100" dirty="0"/>
          </a:p>
        </p:txBody>
      </p:sp>
      <p:sp>
        <p:nvSpPr>
          <p:cNvPr id="6" name="Text 4"/>
          <p:cNvSpPr txBox="1"/>
          <p:nvPr/>
        </p:nvSpPr>
        <p:spPr>
          <a:xfrm>
            <a:off x="822960" y="2103120"/>
            <a:ext cx="3108960" cy="731520"/>
          </a:xfrm>
          <a:prstGeom prst="rect">
            <a:avLst/>
          </a:prstGeom>
          <a:noFill/>
          <a:ln/>
        </p:spPr>
        <p:txBody>
          <a:bodyPr wrap="square" lIns="0" tIns="0" rIns="0" bIns="0" rtlCol="0" anchor="t"/>
          <a:lstStyle/>
          <a:p>
            <a:pPr indent="0" marL="0">
              <a:buNone/>
            </a:pPr>
            <a:r>
              <a:rPr lang="en-US" sz="4000" b="1" dirty="0">
                <a:solidFill>
                  <a:srgbClr val="A33A2B"/>
                </a:solidFill>
              </a:rPr>
              <a:t>Hours</a:t>
            </a:r>
            <a:endParaRPr lang="en-US" sz="4000" dirty="0"/>
          </a:p>
        </p:txBody>
      </p:sp>
      <p:sp>
        <p:nvSpPr>
          <p:cNvPr id="7" name="Text 5"/>
          <p:cNvSpPr txBox="1"/>
          <p:nvPr/>
        </p:nvSpPr>
        <p:spPr>
          <a:xfrm>
            <a:off x="822960" y="2880360"/>
            <a:ext cx="3200400" cy="548640"/>
          </a:xfrm>
          <a:prstGeom prst="rect">
            <a:avLst/>
          </a:prstGeom>
          <a:noFill/>
          <a:ln/>
        </p:spPr>
        <p:txBody>
          <a:bodyPr wrap="square" lIns="0" tIns="0" rIns="0" bIns="0" rtlCol="0" anchor="t"/>
          <a:lstStyle/>
          <a:p>
            <a:pPr indent="0" marL="0">
              <a:buNone/>
            </a:pPr>
            <a:r>
              <a:rPr lang="en-US" sz="1250" dirty="0">
                <a:solidFill>
                  <a:srgbClr val="3D4757"/>
                </a:solidFill>
              </a:rPr>
              <a:t>manual analyst time per SOV, 53% header accuracy</a:t>
            </a:r>
            <a:endParaRPr lang="en-US" sz="1250" dirty="0"/>
          </a:p>
        </p:txBody>
      </p:sp>
      <p:sp>
        <p:nvSpPr>
          <p:cNvPr id="8" name="after"/>
          <p:cNvSpPr/>
          <p:nvPr/>
        </p:nvSpPr>
        <p:spPr>
          <a:xfrm>
            <a:off x="548640" y="3794760"/>
            <a:ext cx="3657600" cy="1874520"/>
          </a:xfrm>
          <a:prstGeom prst="roundRect">
            <a:avLst>
              <a:gd name="adj" fmla="val 3902"/>
            </a:avLst>
          </a:prstGeom>
          <a:solidFill>
            <a:srgbClr val="14213D"/>
          </a:solidFill>
          <a:ln w="9525">
            <a:solidFill>
              <a:srgbClr val="14213D"/>
            </a:solidFill>
            <a:prstDash val="solid"/>
          </a:ln>
        </p:spPr>
      </p:sp>
      <p:sp>
        <p:nvSpPr>
          <p:cNvPr id="9" name="Text 7"/>
          <p:cNvSpPr txBox="1"/>
          <p:nvPr/>
        </p:nvSpPr>
        <p:spPr>
          <a:xfrm>
            <a:off x="822960" y="3950208"/>
            <a:ext cx="3108960" cy="256032"/>
          </a:xfrm>
          <a:prstGeom prst="rect">
            <a:avLst/>
          </a:prstGeom>
          <a:noFill/>
          <a:ln/>
        </p:spPr>
        <p:txBody>
          <a:bodyPr wrap="square" lIns="0" tIns="0" rIns="0" bIns="0" rtlCol="0" anchor="t"/>
          <a:lstStyle/>
          <a:p>
            <a:pPr indent="0" marL="0">
              <a:buNone/>
            </a:pPr>
            <a:r>
              <a:rPr lang="en-US" sz="1100" b="1" spc="100" kern="0" dirty="0">
                <a:solidFill>
                  <a:srgbClr val="D9A441"/>
                </a:solidFill>
              </a:rPr>
              <a:t>WITH THE AGENTS</a:t>
            </a:r>
            <a:endParaRPr lang="en-US" sz="1100" dirty="0"/>
          </a:p>
        </p:txBody>
      </p:sp>
      <p:sp>
        <p:nvSpPr>
          <p:cNvPr id="10" name="Text 8"/>
          <p:cNvSpPr txBox="1"/>
          <p:nvPr/>
        </p:nvSpPr>
        <p:spPr>
          <a:xfrm>
            <a:off x="822960" y="4206240"/>
            <a:ext cx="3108960" cy="731520"/>
          </a:xfrm>
          <a:prstGeom prst="rect">
            <a:avLst/>
          </a:prstGeom>
          <a:noFill/>
          <a:ln/>
        </p:spPr>
        <p:txBody>
          <a:bodyPr wrap="square" lIns="0" tIns="0" rIns="0" bIns="0" rtlCol="0" anchor="t"/>
          <a:lstStyle/>
          <a:p>
            <a:pPr indent="0" marL="0">
              <a:buNone/>
            </a:pPr>
            <a:r>
              <a:rPr lang="en-US" sz="4000" b="1" dirty="0">
                <a:solidFill>
                  <a:srgbClr val="FFFFFF"/>
                </a:solidFill>
              </a:rPr>
              <a:t>15–22 s</a:t>
            </a:r>
            <a:endParaRPr lang="en-US" sz="4000" dirty="0"/>
          </a:p>
        </p:txBody>
      </p:sp>
      <p:sp>
        <p:nvSpPr>
          <p:cNvPr id="11" name="Text 9"/>
          <p:cNvSpPr txBox="1"/>
          <p:nvPr/>
        </p:nvSpPr>
        <p:spPr>
          <a:xfrm>
            <a:off x="822960" y="4983480"/>
            <a:ext cx="3200400" cy="548640"/>
          </a:xfrm>
          <a:prstGeom prst="rect">
            <a:avLst/>
          </a:prstGeom>
          <a:noFill/>
          <a:ln/>
        </p:spPr>
        <p:txBody>
          <a:bodyPr wrap="square" lIns="0" tIns="0" rIns="0" bIns="0" rtlCol="0" anchor="t"/>
          <a:lstStyle/>
          <a:p>
            <a:pPr indent="0" marL="0">
              <a:buNone/>
            </a:pPr>
            <a:r>
              <a:rPr lang="en-US" sz="1250" dirty="0">
                <a:solidFill>
                  <a:srgbClr val="C9D3E0"/>
                </a:solidFill>
              </a:rPr>
              <a:t>per real SOV (target &lt; 60 s), then a focused human review</a:t>
            </a:r>
            <a:endParaRPr lang="en-US" sz="1250" dirty="0"/>
          </a:p>
        </p:txBody>
      </p:sp>
      <p:sp>
        <p:nvSpPr>
          <p:cNvPr id="12" name="Shape 10"/>
          <p:cNvSpPr/>
          <p:nvPr/>
        </p:nvSpPr>
        <p:spPr>
          <a:xfrm>
            <a:off x="4526280" y="1709928"/>
            <a:ext cx="457200" cy="457200"/>
          </a:xfrm>
          <a:prstGeom prst="ellipse">
            <a:avLst/>
          </a:prstGeom>
          <a:solidFill>
            <a:srgbClr val="D6E8E6"/>
          </a:solidFill>
          <a:ln w="12700">
            <a:solidFill>
              <a:srgbClr val="D6E8E6"/>
            </a:solidFill>
            <a:prstDash val="solid"/>
          </a:ln>
        </p:spPr>
      </p:sp>
      <p:pic>
        <p:nvPicPr>
          <p:cNvPr id="13" name="Image 0" descr="preencoded.png">    </p:cNvPr>
          <p:cNvPicPr>
            <a:picLocks noChangeAspect="1"/>
          </p:cNvPicPr>
          <p:nvPr/>
        </p:nvPicPr>
        <p:blipFill>
          <a:blip r:embed="rId1"/>
          <a:stretch>
            <a:fillRect/>
          </a:stretch>
        </p:blipFill>
        <p:spPr>
          <a:xfrm>
            <a:off x="4636008" y="1819656"/>
            <a:ext cx="237744" cy="237744"/>
          </a:xfrm>
          <a:prstGeom prst="rect">
            <a:avLst/>
          </a:prstGeom>
        </p:spPr>
      </p:pic>
      <p:sp>
        <p:nvSpPr>
          <p:cNvPr id="14" name="Text 11"/>
          <p:cNvSpPr txBox="1"/>
          <p:nvPr/>
        </p:nvSpPr>
        <p:spPr>
          <a:xfrm>
            <a:off x="5120640" y="1691640"/>
            <a:ext cx="2880360" cy="292608"/>
          </a:xfrm>
          <a:prstGeom prst="rect">
            <a:avLst/>
          </a:prstGeom>
          <a:noFill/>
          <a:ln/>
        </p:spPr>
        <p:txBody>
          <a:bodyPr wrap="square" lIns="0" tIns="0" rIns="0" bIns="0" rtlCol="0" anchor="t"/>
          <a:lstStyle/>
          <a:p>
            <a:pPr indent="0" marL="0">
              <a:buNone/>
            </a:pPr>
            <a:r>
              <a:rPr lang="en-US" sz="1400" b="1" dirty="0">
                <a:solidFill>
                  <a:srgbClr val="14213D"/>
                </a:solidFill>
              </a:rPr>
              <a:t>Speed</a:t>
            </a:r>
            <a:endParaRPr lang="en-US" sz="1400" dirty="0"/>
          </a:p>
        </p:txBody>
      </p:sp>
      <p:sp>
        <p:nvSpPr>
          <p:cNvPr id="15" name="Text 12"/>
          <p:cNvSpPr txBox="1"/>
          <p:nvPr/>
        </p:nvSpPr>
        <p:spPr>
          <a:xfrm>
            <a:off x="5120640" y="2002536"/>
            <a:ext cx="2880360" cy="914400"/>
          </a:xfrm>
          <a:prstGeom prst="rect">
            <a:avLst/>
          </a:prstGeom>
          <a:noFill/>
          <a:ln/>
        </p:spPr>
        <p:txBody>
          <a:bodyPr wrap="square" lIns="0" tIns="0" rIns="0" bIns="0" rtlCol="0" anchor="t"/>
          <a:lstStyle/>
          <a:p>
            <a:pPr indent="0" marL="0">
              <a:buNone/>
            </a:pPr>
            <a:r>
              <a:rPr lang="en-US" sz="1200" dirty="0">
                <a:solidFill>
                  <a:srgbClr val="3D4757"/>
                </a:solidFill>
              </a:rPr>
              <a:t>Pipeline in seconds; the reviewer only decides the items that need judgment (7 of 30 on SOV_Q8B3).</a:t>
            </a:r>
            <a:endParaRPr lang="en-US" sz="1200" dirty="0"/>
          </a:p>
        </p:txBody>
      </p:sp>
      <p:sp>
        <p:nvSpPr>
          <p:cNvPr id="16" name="Shape 13"/>
          <p:cNvSpPr/>
          <p:nvPr/>
        </p:nvSpPr>
        <p:spPr>
          <a:xfrm>
            <a:off x="8138160" y="1709928"/>
            <a:ext cx="457200" cy="457200"/>
          </a:xfrm>
          <a:prstGeom prst="ellipse">
            <a:avLst/>
          </a:prstGeom>
          <a:solidFill>
            <a:srgbClr val="D6E8E6"/>
          </a:solidFill>
          <a:ln w="12700">
            <a:solidFill>
              <a:srgbClr val="D6E8E6"/>
            </a:solidFill>
            <a:prstDash val="solid"/>
          </a:ln>
        </p:spPr>
      </p:sp>
      <p:pic>
        <p:nvPicPr>
          <p:cNvPr id="17" name="Image 1" descr="preencoded.png">    </p:cNvPr>
          <p:cNvPicPr>
            <a:picLocks noChangeAspect="1"/>
          </p:cNvPicPr>
          <p:nvPr/>
        </p:nvPicPr>
        <p:blipFill>
          <a:blip r:embed="rId2"/>
          <a:stretch>
            <a:fillRect/>
          </a:stretch>
        </p:blipFill>
        <p:spPr>
          <a:xfrm>
            <a:off x="8247888" y="1819656"/>
            <a:ext cx="237744" cy="237744"/>
          </a:xfrm>
          <a:prstGeom prst="rect">
            <a:avLst/>
          </a:prstGeom>
        </p:spPr>
      </p:pic>
      <p:sp>
        <p:nvSpPr>
          <p:cNvPr id="18" name="Text 14"/>
          <p:cNvSpPr txBox="1"/>
          <p:nvPr/>
        </p:nvSpPr>
        <p:spPr>
          <a:xfrm>
            <a:off x="8732520" y="1691640"/>
            <a:ext cx="2880360" cy="292608"/>
          </a:xfrm>
          <a:prstGeom prst="rect">
            <a:avLst/>
          </a:prstGeom>
          <a:noFill/>
          <a:ln/>
        </p:spPr>
        <p:txBody>
          <a:bodyPr wrap="square" lIns="0" tIns="0" rIns="0" bIns="0" rtlCol="0" anchor="t"/>
          <a:lstStyle/>
          <a:p>
            <a:pPr indent="0" marL="0">
              <a:buNone/>
            </a:pPr>
            <a:r>
              <a:rPr lang="en-US" sz="1400" b="1" dirty="0">
                <a:solidFill>
                  <a:srgbClr val="14213D"/>
                </a:solidFill>
              </a:rPr>
              <a:t>Scalability</a:t>
            </a:r>
            <a:endParaRPr lang="en-US" sz="1400" dirty="0"/>
          </a:p>
        </p:txBody>
      </p:sp>
      <p:sp>
        <p:nvSpPr>
          <p:cNvPr id="19" name="Text 15"/>
          <p:cNvSpPr txBox="1"/>
          <p:nvPr/>
        </p:nvSpPr>
        <p:spPr>
          <a:xfrm>
            <a:off x="8732520" y="2002536"/>
            <a:ext cx="2880360" cy="914400"/>
          </a:xfrm>
          <a:prstGeom prst="rect">
            <a:avLst/>
          </a:prstGeom>
          <a:noFill/>
          <a:ln/>
        </p:spPr>
        <p:txBody>
          <a:bodyPr wrap="square" lIns="0" tIns="0" rIns="0" bIns="0" rtlCol="0" anchor="t"/>
          <a:lstStyle/>
          <a:p>
            <a:pPr indent="0" marL="0">
              <a:buNone/>
            </a:pPr>
            <a:r>
              <a:rPr lang="en-US" sz="1200" dirty="0">
                <a:solidFill>
                  <a:srgbClr val="3D4757"/>
                </a:solidFill>
              </a:rPr>
              <a:t>No templates: new layouts are handled by scoring, synonyms, embeddings and value checks.</a:t>
            </a:r>
            <a:endParaRPr lang="en-US" sz="1200" dirty="0"/>
          </a:p>
        </p:txBody>
      </p:sp>
      <p:sp>
        <p:nvSpPr>
          <p:cNvPr id="20" name="Shape 16"/>
          <p:cNvSpPr/>
          <p:nvPr/>
        </p:nvSpPr>
        <p:spPr>
          <a:xfrm>
            <a:off x="4526280" y="3054096"/>
            <a:ext cx="457200" cy="457200"/>
          </a:xfrm>
          <a:prstGeom prst="ellipse">
            <a:avLst/>
          </a:prstGeom>
          <a:solidFill>
            <a:srgbClr val="D6E8E6"/>
          </a:solidFill>
          <a:ln w="12700">
            <a:solidFill>
              <a:srgbClr val="D6E8E6"/>
            </a:solidFill>
            <a:prstDash val="solid"/>
          </a:ln>
        </p:spPr>
      </p:sp>
      <p:pic>
        <p:nvPicPr>
          <p:cNvPr id="21" name="Image 2" descr="preencoded.png">    </p:cNvPr>
          <p:cNvPicPr>
            <a:picLocks noChangeAspect="1"/>
          </p:cNvPicPr>
          <p:nvPr/>
        </p:nvPicPr>
        <p:blipFill>
          <a:blip r:embed="rId3"/>
          <a:stretch>
            <a:fillRect/>
          </a:stretch>
        </p:blipFill>
        <p:spPr>
          <a:xfrm>
            <a:off x="4636008" y="3163824"/>
            <a:ext cx="237744" cy="237744"/>
          </a:xfrm>
          <a:prstGeom prst="rect">
            <a:avLst/>
          </a:prstGeom>
        </p:spPr>
      </p:pic>
      <p:sp>
        <p:nvSpPr>
          <p:cNvPr id="22" name="Text 17"/>
          <p:cNvSpPr txBox="1"/>
          <p:nvPr/>
        </p:nvSpPr>
        <p:spPr>
          <a:xfrm>
            <a:off x="5120640" y="3035808"/>
            <a:ext cx="2880360" cy="292608"/>
          </a:xfrm>
          <a:prstGeom prst="rect">
            <a:avLst/>
          </a:prstGeom>
          <a:noFill/>
          <a:ln/>
        </p:spPr>
        <p:txBody>
          <a:bodyPr wrap="square" lIns="0" tIns="0" rIns="0" bIns="0" rtlCol="0" anchor="t"/>
          <a:lstStyle/>
          <a:p>
            <a:pPr indent="0" marL="0">
              <a:buNone/>
            </a:pPr>
            <a:r>
              <a:rPr lang="en-US" sz="1400" b="1" dirty="0">
                <a:solidFill>
                  <a:srgbClr val="14213D"/>
                </a:solidFill>
              </a:rPr>
              <a:t>Consistency</a:t>
            </a:r>
            <a:endParaRPr lang="en-US" sz="1400" dirty="0"/>
          </a:p>
        </p:txBody>
      </p:sp>
      <p:sp>
        <p:nvSpPr>
          <p:cNvPr id="23" name="Text 18"/>
          <p:cNvSpPr txBox="1"/>
          <p:nvPr/>
        </p:nvSpPr>
        <p:spPr>
          <a:xfrm>
            <a:off x="5120640" y="3346704"/>
            <a:ext cx="2880360" cy="914400"/>
          </a:xfrm>
          <a:prstGeom prst="rect">
            <a:avLst/>
          </a:prstGeom>
          <a:noFill/>
          <a:ln/>
        </p:spPr>
        <p:txBody>
          <a:bodyPr wrap="square" lIns="0" tIns="0" rIns="0" bIns="0" rtlCol="0" anchor="t"/>
          <a:lstStyle/>
          <a:p>
            <a:pPr indent="0" marL="0">
              <a:buNone/>
            </a:pPr>
            <a:r>
              <a:rPr lang="en-US" sz="1200" dirty="0">
                <a:solidFill>
                  <a:srgbClr val="3D4757"/>
                </a:solidFill>
              </a:rPr>
              <a:t>Same rules and thresholds for every analyst, file and time zone.</a:t>
            </a:r>
            <a:endParaRPr lang="en-US" sz="1200" dirty="0"/>
          </a:p>
        </p:txBody>
      </p:sp>
      <p:sp>
        <p:nvSpPr>
          <p:cNvPr id="24" name="Shape 19"/>
          <p:cNvSpPr/>
          <p:nvPr/>
        </p:nvSpPr>
        <p:spPr>
          <a:xfrm>
            <a:off x="8138160" y="3054096"/>
            <a:ext cx="457200" cy="457200"/>
          </a:xfrm>
          <a:prstGeom prst="ellipse">
            <a:avLst/>
          </a:prstGeom>
          <a:solidFill>
            <a:srgbClr val="D6E8E6"/>
          </a:solidFill>
          <a:ln w="12700">
            <a:solidFill>
              <a:srgbClr val="D6E8E6"/>
            </a:solidFill>
            <a:prstDash val="solid"/>
          </a:ln>
        </p:spPr>
      </p:sp>
      <p:pic>
        <p:nvPicPr>
          <p:cNvPr id="25" name="Image 3" descr="preencoded.png">    </p:cNvPr>
          <p:cNvPicPr>
            <a:picLocks noChangeAspect="1"/>
          </p:cNvPicPr>
          <p:nvPr/>
        </p:nvPicPr>
        <p:blipFill>
          <a:blip r:embed="rId4"/>
          <a:stretch>
            <a:fillRect/>
          </a:stretch>
        </p:blipFill>
        <p:spPr>
          <a:xfrm>
            <a:off x="8247888" y="3163824"/>
            <a:ext cx="237744" cy="237744"/>
          </a:xfrm>
          <a:prstGeom prst="rect">
            <a:avLst/>
          </a:prstGeom>
        </p:spPr>
      </p:pic>
      <p:sp>
        <p:nvSpPr>
          <p:cNvPr id="26" name="Text 20"/>
          <p:cNvSpPr txBox="1"/>
          <p:nvPr/>
        </p:nvSpPr>
        <p:spPr>
          <a:xfrm>
            <a:off x="8732520" y="3035808"/>
            <a:ext cx="2880360" cy="292608"/>
          </a:xfrm>
          <a:prstGeom prst="rect">
            <a:avLst/>
          </a:prstGeom>
          <a:noFill/>
          <a:ln/>
        </p:spPr>
        <p:txBody>
          <a:bodyPr wrap="square" lIns="0" tIns="0" rIns="0" bIns="0" rtlCol="0" anchor="t"/>
          <a:lstStyle/>
          <a:p>
            <a:pPr indent="0" marL="0">
              <a:buNone/>
            </a:pPr>
            <a:r>
              <a:rPr lang="en-US" sz="1400" b="1" dirty="0">
                <a:solidFill>
                  <a:srgbClr val="14213D"/>
                </a:solidFill>
              </a:rPr>
              <a:t>Auditability</a:t>
            </a:r>
            <a:endParaRPr lang="en-US" sz="1400" dirty="0"/>
          </a:p>
        </p:txBody>
      </p:sp>
      <p:sp>
        <p:nvSpPr>
          <p:cNvPr id="27" name="Text 21"/>
          <p:cNvSpPr txBox="1"/>
          <p:nvPr/>
        </p:nvSpPr>
        <p:spPr>
          <a:xfrm>
            <a:off x="8732520" y="3346704"/>
            <a:ext cx="2880360" cy="914400"/>
          </a:xfrm>
          <a:prstGeom prst="rect">
            <a:avLst/>
          </a:prstGeom>
          <a:noFill/>
          <a:ln/>
        </p:spPr>
        <p:txBody>
          <a:bodyPr wrap="square" lIns="0" tIns="0" rIns="0" bIns="0" rtlCol="0" anchor="t"/>
          <a:lstStyle/>
          <a:p>
            <a:pPr indent="0" marL="0">
              <a:buNone/>
            </a:pPr>
            <a:r>
              <a:rPr lang="en-US" sz="1200" dirty="0">
                <a:solidFill>
                  <a:srgbClr val="3D4757"/>
                </a:solidFill>
              </a:rPr>
              <a:t>Every rename and change logged with rationale, confidence and approver.</a:t>
            </a:r>
            <a:endParaRPr lang="en-US" sz="1200" dirty="0"/>
          </a:p>
        </p:txBody>
      </p:sp>
      <p:sp>
        <p:nvSpPr>
          <p:cNvPr id="28" name="Shape 22"/>
          <p:cNvSpPr/>
          <p:nvPr/>
        </p:nvSpPr>
        <p:spPr>
          <a:xfrm>
            <a:off x="4526280" y="4398264"/>
            <a:ext cx="457200" cy="457200"/>
          </a:xfrm>
          <a:prstGeom prst="ellipse">
            <a:avLst/>
          </a:prstGeom>
          <a:solidFill>
            <a:srgbClr val="D6E8E6"/>
          </a:solidFill>
          <a:ln w="12700">
            <a:solidFill>
              <a:srgbClr val="D6E8E6"/>
            </a:solidFill>
            <a:prstDash val="solid"/>
          </a:ln>
        </p:spPr>
      </p:sp>
      <p:pic>
        <p:nvPicPr>
          <p:cNvPr id="29" name="Image 4" descr="preencoded.png">    </p:cNvPr>
          <p:cNvPicPr>
            <a:picLocks noChangeAspect="1"/>
          </p:cNvPicPr>
          <p:nvPr/>
        </p:nvPicPr>
        <p:blipFill>
          <a:blip r:embed="rId5"/>
          <a:stretch>
            <a:fillRect/>
          </a:stretch>
        </p:blipFill>
        <p:spPr>
          <a:xfrm>
            <a:off x="4636008" y="4507992"/>
            <a:ext cx="237744" cy="237744"/>
          </a:xfrm>
          <a:prstGeom prst="rect">
            <a:avLst/>
          </a:prstGeom>
        </p:spPr>
      </p:pic>
      <p:sp>
        <p:nvSpPr>
          <p:cNvPr id="30" name="Text 23"/>
          <p:cNvSpPr txBox="1"/>
          <p:nvPr/>
        </p:nvSpPr>
        <p:spPr>
          <a:xfrm>
            <a:off x="5120640" y="4379976"/>
            <a:ext cx="2880360" cy="292608"/>
          </a:xfrm>
          <a:prstGeom prst="rect">
            <a:avLst/>
          </a:prstGeom>
          <a:noFill/>
          <a:ln/>
        </p:spPr>
        <p:txBody>
          <a:bodyPr wrap="square" lIns="0" tIns="0" rIns="0" bIns="0" rtlCol="0" anchor="t"/>
          <a:lstStyle/>
          <a:p>
            <a:pPr indent="0" marL="0">
              <a:buNone/>
            </a:pPr>
            <a:r>
              <a:rPr lang="en-US" sz="1400" b="1" dirty="0">
                <a:solidFill>
                  <a:srgbClr val="14213D"/>
                </a:solidFill>
              </a:rPr>
              <a:t>Downstream reliability</a:t>
            </a:r>
            <a:endParaRPr lang="en-US" sz="1400" dirty="0"/>
          </a:p>
        </p:txBody>
      </p:sp>
      <p:sp>
        <p:nvSpPr>
          <p:cNvPr id="31" name="Text 24"/>
          <p:cNvSpPr txBox="1"/>
          <p:nvPr/>
        </p:nvSpPr>
        <p:spPr>
          <a:xfrm>
            <a:off x="5120640" y="4690872"/>
            <a:ext cx="2880360" cy="914400"/>
          </a:xfrm>
          <a:prstGeom prst="rect">
            <a:avLst/>
          </a:prstGeom>
          <a:noFill/>
          <a:ln/>
        </p:spPr>
        <p:txBody>
          <a:bodyPr wrap="square" lIns="0" tIns="0" rIns="0" bIns="0" rtlCol="0" anchor="t"/>
          <a:lstStyle/>
          <a:p>
            <a:pPr indent="0" marL="0">
              <a:buNone/>
            </a:pPr>
            <a:r>
              <a:rPr lang="en-US" sz="1200" dirty="0">
                <a:solidFill>
                  <a:srgbClr val="3D4757"/>
                </a:solidFill>
              </a:rPr>
              <a:t>Exactly 17 typed fields; problems flagged instead of hidden.</a:t>
            </a:r>
            <a:endParaRPr lang="en-US" sz="1200" dirty="0"/>
          </a:p>
        </p:txBody>
      </p:sp>
      <p:sp>
        <p:nvSpPr>
          <p:cNvPr id="32" name="Shape 25"/>
          <p:cNvSpPr/>
          <p:nvPr/>
        </p:nvSpPr>
        <p:spPr>
          <a:xfrm>
            <a:off x="8138160" y="4398264"/>
            <a:ext cx="457200" cy="457200"/>
          </a:xfrm>
          <a:prstGeom prst="ellipse">
            <a:avLst/>
          </a:prstGeom>
          <a:solidFill>
            <a:srgbClr val="D6E8E6"/>
          </a:solidFill>
          <a:ln w="12700">
            <a:solidFill>
              <a:srgbClr val="D6E8E6"/>
            </a:solidFill>
            <a:prstDash val="solid"/>
          </a:ln>
        </p:spPr>
      </p:sp>
      <p:pic>
        <p:nvPicPr>
          <p:cNvPr id="33" name="Image 5" descr="preencoded.png">    </p:cNvPr>
          <p:cNvPicPr>
            <a:picLocks noChangeAspect="1"/>
          </p:cNvPicPr>
          <p:nvPr/>
        </p:nvPicPr>
        <p:blipFill>
          <a:blip r:embed="rId6"/>
          <a:stretch>
            <a:fillRect/>
          </a:stretch>
        </p:blipFill>
        <p:spPr>
          <a:xfrm>
            <a:off x="8247888" y="4507992"/>
            <a:ext cx="237744" cy="237744"/>
          </a:xfrm>
          <a:prstGeom prst="rect">
            <a:avLst/>
          </a:prstGeom>
        </p:spPr>
      </p:pic>
      <p:sp>
        <p:nvSpPr>
          <p:cNvPr id="34" name="Text 26"/>
          <p:cNvSpPr txBox="1"/>
          <p:nvPr/>
        </p:nvSpPr>
        <p:spPr>
          <a:xfrm>
            <a:off x="8732520" y="4379976"/>
            <a:ext cx="2880360" cy="292608"/>
          </a:xfrm>
          <a:prstGeom prst="rect">
            <a:avLst/>
          </a:prstGeom>
          <a:noFill/>
          <a:ln/>
        </p:spPr>
        <p:txBody>
          <a:bodyPr wrap="square" lIns="0" tIns="0" rIns="0" bIns="0" rtlCol="0" anchor="t"/>
          <a:lstStyle/>
          <a:p>
            <a:pPr indent="0" marL="0">
              <a:buNone/>
            </a:pPr>
            <a:r>
              <a:rPr lang="en-US" sz="1400" b="1" dirty="0">
                <a:solidFill>
                  <a:srgbClr val="14213D"/>
                </a:solidFill>
              </a:rPr>
              <a:t>Compounding accuracy</a:t>
            </a:r>
            <a:endParaRPr lang="en-US" sz="1400" dirty="0"/>
          </a:p>
        </p:txBody>
      </p:sp>
      <p:sp>
        <p:nvSpPr>
          <p:cNvPr id="35" name="Text 27"/>
          <p:cNvSpPr txBox="1"/>
          <p:nvPr/>
        </p:nvSpPr>
        <p:spPr>
          <a:xfrm>
            <a:off x="8732520" y="4690872"/>
            <a:ext cx="2880360" cy="914400"/>
          </a:xfrm>
          <a:prstGeom prst="rect">
            <a:avLst/>
          </a:prstGeom>
          <a:noFill/>
          <a:ln/>
        </p:spPr>
        <p:txBody>
          <a:bodyPr wrap="square" lIns="0" tIns="0" rIns="0" bIns="0" rtlCol="0" anchor="t"/>
          <a:lstStyle/>
          <a:p>
            <a:pPr indent="0" marL="0">
              <a:buNone/>
            </a:pPr>
            <a:r>
              <a:rPr lang="en-US" sz="1200" dirty="0">
                <a:solidFill>
                  <a:srgbClr val="3D4757"/>
                </a:solidFill>
              </a:rPr>
              <a:t>Approved mappings are remembered, so recurring broker headers resolve instantly.</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14 · LIVE DEMONSTRATION (BRIEF §11)</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Seven stages in ten minutes, on two provided SOVs</a:t>
            </a:r>
            <a:endParaRPr lang="en-US" sz="3000" dirty="0"/>
          </a:p>
        </p:txBody>
      </p:sp>
      <p:sp>
        <p:nvSpPr>
          <p:cNvPr id="4" name="Shape 2"/>
          <p:cNvSpPr/>
          <p:nvPr/>
        </p:nvSpPr>
        <p:spPr>
          <a:xfrm>
            <a:off x="548640" y="1645920"/>
            <a:ext cx="420624" cy="420624"/>
          </a:xfrm>
          <a:prstGeom prst="roundRect">
            <a:avLst>
              <a:gd name="adj" fmla="val 13043"/>
            </a:avLst>
          </a:prstGeom>
          <a:solidFill>
            <a:srgbClr val="14213D"/>
          </a:solidFill>
          <a:ln w="12700">
            <a:solidFill>
              <a:srgbClr val="14213D"/>
            </a:solidFill>
            <a:prstDash val="solid"/>
          </a:ln>
        </p:spPr>
      </p:sp>
      <p:sp>
        <p:nvSpPr>
          <p:cNvPr id="5" name="Text 3"/>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400" b="1" dirty="0">
                <a:solidFill>
                  <a:srgbClr val="D9A441"/>
                </a:solidFill>
              </a:rPr>
              <a:t>1</a:t>
            </a:r>
            <a:endParaRPr lang="en-US" sz="1400" dirty="0"/>
          </a:p>
        </p:txBody>
      </p:sp>
      <p:sp>
        <p:nvSpPr>
          <p:cNvPr id="6" name="Text 4"/>
          <p:cNvSpPr txBox="1"/>
          <p:nvPr/>
        </p:nvSpPr>
        <p:spPr>
          <a:xfrm>
            <a:off x="1143000" y="1645920"/>
            <a:ext cx="3017520" cy="420624"/>
          </a:xfrm>
          <a:prstGeom prst="rect">
            <a:avLst/>
          </a:prstGeom>
          <a:noFill/>
          <a:ln/>
        </p:spPr>
        <p:txBody>
          <a:bodyPr wrap="square" lIns="0" tIns="0" rIns="0" bIns="0" rtlCol="0" anchor="ctr"/>
          <a:lstStyle/>
          <a:p>
            <a:pPr indent="0" marL="0">
              <a:buNone/>
            </a:pPr>
            <a:r>
              <a:rPr lang="en-US" sz="1400" b="1" dirty="0">
                <a:solidFill>
                  <a:srgbClr val="14213D"/>
                </a:solidFill>
              </a:rPr>
              <a:t>File upload &amp; sheet detection</a:t>
            </a:r>
            <a:endParaRPr lang="en-US" sz="1400" dirty="0"/>
          </a:p>
        </p:txBody>
      </p:sp>
      <p:sp>
        <p:nvSpPr>
          <p:cNvPr id="7" name="Text 5"/>
          <p:cNvSpPr txBox="1"/>
          <p:nvPr/>
        </p:nvSpPr>
        <p:spPr>
          <a:xfrm>
            <a:off x="4343400" y="1645920"/>
            <a:ext cx="5120640" cy="420624"/>
          </a:xfrm>
          <a:prstGeom prst="rect">
            <a:avLst/>
          </a:prstGeom>
          <a:noFill/>
          <a:ln/>
        </p:spPr>
        <p:txBody>
          <a:bodyPr wrap="square" lIns="0" tIns="0" rIns="0" bIns="0" rtlCol="0" anchor="ctr"/>
          <a:lstStyle/>
          <a:p>
            <a:pPr indent="0" marL="0">
              <a:buNone/>
            </a:pPr>
            <a:r>
              <a:rPr lang="en-US" sz="1300" dirty="0">
                <a:solidFill>
                  <a:srgbClr val="3D4757"/>
                </a:solidFill>
              </a:rPr>
              <a:t>K4T9: 7 tabs → Locations, header row 6</a:t>
            </a:r>
            <a:endParaRPr lang="en-US" sz="1300" dirty="0"/>
          </a:p>
        </p:txBody>
      </p:sp>
      <p:sp>
        <p:nvSpPr>
          <p:cNvPr id="8" name="Shape 6"/>
          <p:cNvSpPr/>
          <p:nvPr/>
        </p:nvSpPr>
        <p:spPr>
          <a:xfrm>
            <a:off x="9902952" y="1691640"/>
            <a:ext cx="1737360" cy="329184"/>
          </a:xfrm>
          <a:prstGeom prst="roundRect">
            <a:avLst>
              <a:gd name="adj" fmla="val 13889"/>
            </a:avLst>
          </a:prstGeom>
          <a:solidFill>
            <a:srgbClr val="D6E8E6"/>
          </a:solidFill>
          <a:ln w="12700">
            <a:solidFill>
              <a:srgbClr val="D6E8E6"/>
            </a:solidFill>
            <a:prstDash val="solid"/>
          </a:ln>
        </p:spPr>
      </p:sp>
      <p:sp>
        <p:nvSpPr>
          <p:cNvPr id="9" name="Text 7"/>
          <p:cNvSpPr txBox="1"/>
          <p:nvPr/>
        </p:nvSpPr>
        <p:spPr>
          <a:xfrm>
            <a:off x="9902952" y="1691640"/>
            <a:ext cx="1737360" cy="329184"/>
          </a:xfrm>
          <a:prstGeom prst="rect">
            <a:avLst/>
          </a:prstGeom>
          <a:noFill/>
          <a:ln/>
        </p:spPr>
        <p:txBody>
          <a:bodyPr wrap="square" lIns="0" tIns="0" rIns="0" bIns="0" rtlCol="0" anchor="ctr"/>
          <a:lstStyle/>
          <a:p>
            <a:pPr algn="ctr" indent="0" marL="0">
              <a:buNone/>
            </a:pPr>
            <a:r>
              <a:rPr lang="en-US" sz="1100" b="1" dirty="0">
                <a:solidFill>
                  <a:srgbClr val="1D6F6F"/>
                </a:solidFill>
              </a:rPr>
              <a:t>Sheet Detection</a:t>
            </a:r>
            <a:endParaRPr lang="en-US" sz="1100" dirty="0"/>
          </a:p>
        </p:txBody>
      </p:sp>
      <p:sp>
        <p:nvSpPr>
          <p:cNvPr id="10" name="Shape 8"/>
          <p:cNvSpPr/>
          <p:nvPr/>
        </p:nvSpPr>
        <p:spPr>
          <a:xfrm>
            <a:off x="548640" y="2249424"/>
            <a:ext cx="420624" cy="420624"/>
          </a:xfrm>
          <a:prstGeom prst="roundRect">
            <a:avLst>
              <a:gd name="adj" fmla="val 13043"/>
            </a:avLst>
          </a:prstGeom>
          <a:solidFill>
            <a:srgbClr val="14213D"/>
          </a:solidFill>
          <a:ln w="12700">
            <a:solidFill>
              <a:srgbClr val="14213D"/>
            </a:solidFill>
            <a:prstDash val="solid"/>
          </a:ln>
        </p:spPr>
      </p:sp>
      <p:sp>
        <p:nvSpPr>
          <p:cNvPr id="11" name="Text 9"/>
          <p:cNvSpPr txBox="1"/>
          <p:nvPr/>
        </p:nvSpPr>
        <p:spPr>
          <a:xfrm>
            <a:off x="548640" y="2249424"/>
            <a:ext cx="420624" cy="420624"/>
          </a:xfrm>
          <a:prstGeom prst="rect">
            <a:avLst/>
          </a:prstGeom>
          <a:noFill/>
          <a:ln/>
        </p:spPr>
        <p:txBody>
          <a:bodyPr wrap="square" lIns="0" tIns="0" rIns="0" bIns="0" rtlCol="0" anchor="ctr"/>
          <a:lstStyle/>
          <a:p>
            <a:pPr algn="ctr" indent="0" marL="0">
              <a:buNone/>
            </a:pPr>
            <a:r>
              <a:rPr lang="en-US" sz="1400" b="1" dirty="0">
                <a:solidFill>
                  <a:srgbClr val="D9A441"/>
                </a:solidFill>
              </a:rPr>
              <a:t>2</a:t>
            </a:r>
            <a:endParaRPr lang="en-US" sz="1400" dirty="0"/>
          </a:p>
        </p:txBody>
      </p:sp>
      <p:sp>
        <p:nvSpPr>
          <p:cNvPr id="12" name="Text 10"/>
          <p:cNvSpPr txBox="1"/>
          <p:nvPr/>
        </p:nvSpPr>
        <p:spPr>
          <a:xfrm>
            <a:off x="1143000" y="2249424"/>
            <a:ext cx="3017520" cy="420624"/>
          </a:xfrm>
          <a:prstGeom prst="rect">
            <a:avLst/>
          </a:prstGeom>
          <a:noFill/>
          <a:ln/>
        </p:spPr>
        <p:txBody>
          <a:bodyPr wrap="square" lIns="0" tIns="0" rIns="0" bIns="0" rtlCol="0" anchor="ctr"/>
          <a:lstStyle/>
          <a:p>
            <a:pPr indent="0" marL="0">
              <a:buNone/>
            </a:pPr>
            <a:r>
              <a:rPr lang="en-US" sz="1400" b="1" dirty="0">
                <a:solidFill>
                  <a:srgbClr val="14213D"/>
                </a:solidFill>
              </a:rPr>
              <a:t>Schema detection</a:t>
            </a:r>
            <a:endParaRPr lang="en-US" sz="1400" dirty="0"/>
          </a:p>
        </p:txBody>
      </p:sp>
      <p:sp>
        <p:nvSpPr>
          <p:cNvPr id="13" name="Text 11"/>
          <p:cNvSpPr txBox="1"/>
          <p:nvPr/>
        </p:nvSpPr>
        <p:spPr>
          <a:xfrm>
            <a:off x="4343400" y="2249424"/>
            <a:ext cx="5120640" cy="420624"/>
          </a:xfrm>
          <a:prstGeom prst="rect">
            <a:avLst/>
          </a:prstGeom>
          <a:noFill/>
          <a:ln/>
        </p:spPr>
        <p:txBody>
          <a:bodyPr wrap="square" lIns="0" tIns="0" rIns="0" bIns="0" rtlCol="0" anchor="ctr"/>
          <a:lstStyle/>
          <a:p>
            <a:pPr indent="0" marL="0">
              <a:buNone/>
            </a:pPr>
            <a:r>
              <a:rPr lang="en-US" sz="1300" dirty="0">
                <a:solidFill>
                  <a:srgbClr val="3D4757"/>
                </a:solidFill>
              </a:rPr>
              <a:t>Mapping JSON; Location Name → City, 0.84, semantic</a:t>
            </a:r>
            <a:endParaRPr lang="en-US" sz="1300" dirty="0"/>
          </a:p>
        </p:txBody>
      </p:sp>
      <p:sp>
        <p:nvSpPr>
          <p:cNvPr id="14" name="Shape 12"/>
          <p:cNvSpPr/>
          <p:nvPr/>
        </p:nvSpPr>
        <p:spPr>
          <a:xfrm>
            <a:off x="9902952" y="2295144"/>
            <a:ext cx="1737360" cy="329184"/>
          </a:xfrm>
          <a:prstGeom prst="roundRect">
            <a:avLst>
              <a:gd name="adj" fmla="val 13889"/>
            </a:avLst>
          </a:prstGeom>
          <a:solidFill>
            <a:srgbClr val="D6E8E6"/>
          </a:solidFill>
          <a:ln w="12700">
            <a:solidFill>
              <a:srgbClr val="D6E8E6"/>
            </a:solidFill>
            <a:prstDash val="solid"/>
          </a:ln>
        </p:spPr>
      </p:sp>
      <p:sp>
        <p:nvSpPr>
          <p:cNvPr id="15" name="Text 13"/>
          <p:cNvSpPr txBox="1"/>
          <p:nvPr/>
        </p:nvSpPr>
        <p:spPr>
          <a:xfrm>
            <a:off x="9902952" y="2295144"/>
            <a:ext cx="1737360" cy="329184"/>
          </a:xfrm>
          <a:prstGeom prst="rect">
            <a:avLst/>
          </a:prstGeom>
          <a:noFill/>
          <a:ln/>
        </p:spPr>
        <p:txBody>
          <a:bodyPr wrap="square" lIns="0" tIns="0" rIns="0" bIns="0" rtlCol="0" anchor="ctr"/>
          <a:lstStyle/>
          <a:p>
            <a:pPr algn="ctr" indent="0" marL="0">
              <a:buNone/>
            </a:pPr>
            <a:r>
              <a:rPr lang="en-US" sz="1100" b="1" dirty="0">
                <a:solidFill>
                  <a:srgbClr val="1D6F6F"/>
                </a:solidFill>
              </a:rPr>
              <a:t>Schema Mapping</a:t>
            </a:r>
            <a:endParaRPr lang="en-US" sz="1100" dirty="0"/>
          </a:p>
        </p:txBody>
      </p:sp>
      <p:sp>
        <p:nvSpPr>
          <p:cNvPr id="16" name="Shape 14"/>
          <p:cNvSpPr/>
          <p:nvPr/>
        </p:nvSpPr>
        <p:spPr>
          <a:xfrm>
            <a:off x="548640" y="2852928"/>
            <a:ext cx="420624" cy="420624"/>
          </a:xfrm>
          <a:prstGeom prst="roundRect">
            <a:avLst>
              <a:gd name="adj" fmla="val 13043"/>
            </a:avLst>
          </a:prstGeom>
          <a:solidFill>
            <a:srgbClr val="14213D"/>
          </a:solidFill>
          <a:ln w="12700">
            <a:solidFill>
              <a:srgbClr val="14213D"/>
            </a:solidFill>
            <a:prstDash val="solid"/>
          </a:ln>
        </p:spPr>
      </p:sp>
      <p:sp>
        <p:nvSpPr>
          <p:cNvPr id="17" name="Text 15"/>
          <p:cNvSpPr txBox="1"/>
          <p:nvPr/>
        </p:nvSpPr>
        <p:spPr>
          <a:xfrm>
            <a:off x="548640" y="2852928"/>
            <a:ext cx="420624" cy="420624"/>
          </a:xfrm>
          <a:prstGeom prst="rect">
            <a:avLst/>
          </a:prstGeom>
          <a:noFill/>
          <a:ln/>
        </p:spPr>
        <p:txBody>
          <a:bodyPr wrap="square" lIns="0" tIns="0" rIns="0" bIns="0" rtlCol="0" anchor="ctr"/>
          <a:lstStyle/>
          <a:p>
            <a:pPr algn="ctr" indent="0" marL="0">
              <a:buNone/>
            </a:pPr>
            <a:r>
              <a:rPr lang="en-US" sz="1400" b="1" dirty="0">
                <a:solidFill>
                  <a:srgbClr val="D9A441"/>
                </a:solidFill>
              </a:rPr>
              <a:t>3</a:t>
            </a:r>
            <a:endParaRPr lang="en-US" sz="1400" dirty="0"/>
          </a:p>
        </p:txBody>
      </p:sp>
      <p:sp>
        <p:nvSpPr>
          <p:cNvPr id="18" name="Text 16"/>
          <p:cNvSpPr txBox="1"/>
          <p:nvPr/>
        </p:nvSpPr>
        <p:spPr>
          <a:xfrm>
            <a:off x="1143000" y="2852928"/>
            <a:ext cx="3017520" cy="420624"/>
          </a:xfrm>
          <a:prstGeom prst="rect">
            <a:avLst/>
          </a:prstGeom>
          <a:noFill/>
          <a:ln/>
        </p:spPr>
        <p:txBody>
          <a:bodyPr wrap="square" lIns="0" tIns="0" rIns="0" bIns="0" rtlCol="0" anchor="ctr"/>
          <a:lstStyle/>
          <a:p>
            <a:pPr indent="0" marL="0">
              <a:buNone/>
            </a:pPr>
            <a:r>
              <a:rPr lang="en-US" sz="1400" b="1" dirty="0">
                <a:solidFill>
                  <a:srgbClr val="14213D"/>
                </a:solidFill>
              </a:rPr>
              <a:t>Data quality report</a:t>
            </a:r>
            <a:endParaRPr lang="en-US" sz="1400" dirty="0"/>
          </a:p>
        </p:txBody>
      </p:sp>
      <p:sp>
        <p:nvSpPr>
          <p:cNvPr id="19" name="Text 17"/>
          <p:cNvSpPr txBox="1"/>
          <p:nvPr/>
        </p:nvSpPr>
        <p:spPr>
          <a:xfrm>
            <a:off x="4343400" y="2852928"/>
            <a:ext cx="5120640" cy="420624"/>
          </a:xfrm>
          <a:prstGeom prst="rect">
            <a:avLst/>
          </a:prstGeom>
          <a:noFill/>
          <a:ln/>
        </p:spPr>
        <p:txBody>
          <a:bodyPr wrap="square" lIns="0" tIns="0" rIns="0" bIns="0" rtlCol="0" anchor="ctr"/>
          <a:lstStyle/>
          <a:p>
            <a:pPr indent="0" marL="0">
              <a:buNone/>
            </a:pPr>
            <a:r>
              <a:rPr lang="en-US" sz="1300" dirty="0">
                <a:solidFill>
                  <a:srgbClr val="3D4757"/>
                </a:solidFill>
              </a:rPr>
              <a:t>Q8B3: completeness per field, 15 issues by type</a:t>
            </a:r>
            <a:endParaRPr lang="en-US" sz="1300" dirty="0"/>
          </a:p>
        </p:txBody>
      </p:sp>
      <p:sp>
        <p:nvSpPr>
          <p:cNvPr id="20" name="Shape 18"/>
          <p:cNvSpPr/>
          <p:nvPr/>
        </p:nvSpPr>
        <p:spPr>
          <a:xfrm>
            <a:off x="9902952" y="2898648"/>
            <a:ext cx="1737360" cy="329184"/>
          </a:xfrm>
          <a:prstGeom prst="roundRect">
            <a:avLst>
              <a:gd name="adj" fmla="val 13889"/>
            </a:avLst>
          </a:prstGeom>
          <a:solidFill>
            <a:srgbClr val="D6E8E6"/>
          </a:solidFill>
          <a:ln w="12700">
            <a:solidFill>
              <a:srgbClr val="D6E8E6"/>
            </a:solidFill>
            <a:prstDash val="solid"/>
          </a:ln>
        </p:spPr>
      </p:sp>
      <p:sp>
        <p:nvSpPr>
          <p:cNvPr id="21" name="Text 19"/>
          <p:cNvSpPr txBox="1"/>
          <p:nvPr/>
        </p:nvSpPr>
        <p:spPr>
          <a:xfrm>
            <a:off x="9902952" y="2898648"/>
            <a:ext cx="1737360" cy="329184"/>
          </a:xfrm>
          <a:prstGeom prst="rect">
            <a:avLst/>
          </a:prstGeom>
          <a:noFill/>
          <a:ln/>
        </p:spPr>
        <p:txBody>
          <a:bodyPr wrap="square" lIns="0" tIns="0" rIns="0" bIns="0" rtlCol="0" anchor="ctr"/>
          <a:lstStyle/>
          <a:p>
            <a:pPr algn="ctr" indent="0" marL="0">
              <a:buNone/>
            </a:pPr>
            <a:r>
              <a:rPr lang="en-US" sz="1100" b="1" dirty="0">
                <a:solidFill>
                  <a:srgbClr val="1D6F6F"/>
                </a:solidFill>
              </a:rPr>
              <a:t>Data Quality</a:t>
            </a:r>
            <a:endParaRPr lang="en-US" sz="1100" dirty="0"/>
          </a:p>
        </p:txBody>
      </p:sp>
      <p:sp>
        <p:nvSpPr>
          <p:cNvPr id="22" name="Shape 20"/>
          <p:cNvSpPr/>
          <p:nvPr/>
        </p:nvSpPr>
        <p:spPr>
          <a:xfrm>
            <a:off x="548640" y="3456432"/>
            <a:ext cx="420624" cy="420624"/>
          </a:xfrm>
          <a:prstGeom prst="roundRect">
            <a:avLst>
              <a:gd name="adj" fmla="val 13043"/>
            </a:avLst>
          </a:prstGeom>
          <a:solidFill>
            <a:srgbClr val="14213D"/>
          </a:solidFill>
          <a:ln w="12700">
            <a:solidFill>
              <a:srgbClr val="14213D"/>
            </a:solidFill>
            <a:prstDash val="solid"/>
          </a:ln>
        </p:spPr>
      </p:sp>
      <p:sp>
        <p:nvSpPr>
          <p:cNvPr id="23" name="Text 21"/>
          <p:cNvSpPr txBox="1"/>
          <p:nvPr/>
        </p:nvSpPr>
        <p:spPr>
          <a:xfrm>
            <a:off x="548640" y="3456432"/>
            <a:ext cx="420624" cy="420624"/>
          </a:xfrm>
          <a:prstGeom prst="rect">
            <a:avLst/>
          </a:prstGeom>
          <a:noFill/>
          <a:ln/>
        </p:spPr>
        <p:txBody>
          <a:bodyPr wrap="square" lIns="0" tIns="0" rIns="0" bIns="0" rtlCol="0" anchor="ctr"/>
          <a:lstStyle/>
          <a:p>
            <a:pPr algn="ctr" indent="0" marL="0">
              <a:buNone/>
            </a:pPr>
            <a:r>
              <a:rPr lang="en-US" sz="1400" b="1" dirty="0">
                <a:solidFill>
                  <a:srgbClr val="D9A441"/>
                </a:solidFill>
              </a:rPr>
              <a:t>4</a:t>
            </a:r>
            <a:endParaRPr lang="en-US" sz="1400" dirty="0"/>
          </a:p>
        </p:txBody>
      </p:sp>
      <p:sp>
        <p:nvSpPr>
          <p:cNvPr id="24" name="Text 22"/>
          <p:cNvSpPr txBox="1"/>
          <p:nvPr/>
        </p:nvSpPr>
        <p:spPr>
          <a:xfrm>
            <a:off x="1143000" y="3456432"/>
            <a:ext cx="3017520" cy="420624"/>
          </a:xfrm>
          <a:prstGeom prst="rect">
            <a:avLst/>
          </a:prstGeom>
          <a:noFill/>
          <a:ln/>
        </p:spPr>
        <p:txBody>
          <a:bodyPr wrap="square" lIns="0" tIns="0" rIns="0" bIns="0" rtlCol="0" anchor="ctr"/>
          <a:lstStyle/>
          <a:p>
            <a:pPr indent="0" marL="0">
              <a:buNone/>
            </a:pPr>
            <a:r>
              <a:rPr lang="en-US" sz="1400" b="1" dirty="0">
                <a:solidFill>
                  <a:srgbClr val="14213D"/>
                </a:solidFill>
              </a:rPr>
              <a:t>Recommendations</a:t>
            </a:r>
            <a:endParaRPr lang="en-US" sz="1400" dirty="0"/>
          </a:p>
        </p:txBody>
      </p:sp>
      <p:sp>
        <p:nvSpPr>
          <p:cNvPr id="25" name="Text 23"/>
          <p:cNvSpPr txBox="1"/>
          <p:nvPr/>
        </p:nvSpPr>
        <p:spPr>
          <a:xfrm>
            <a:off x="4343400" y="3456432"/>
            <a:ext cx="5120640" cy="420624"/>
          </a:xfrm>
          <a:prstGeom prst="rect">
            <a:avLst/>
          </a:prstGeom>
          <a:noFill/>
          <a:ln/>
        </p:spPr>
        <p:txBody>
          <a:bodyPr wrap="square" lIns="0" tIns="0" rIns="0" bIns="0" rtlCol="0" anchor="ctr"/>
          <a:lstStyle/>
          <a:p>
            <a:pPr indent="0" marL="0">
              <a:buNone/>
            </a:pPr>
            <a:r>
              <a:rPr lang="en-US" sz="1300" dirty="0">
                <a:solidFill>
                  <a:srgbClr val="3D4757"/>
                </a:solidFill>
              </a:rPr>
              <a:t>Mapping · data correction · standardisation</a:t>
            </a:r>
            <a:endParaRPr lang="en-US" sz="1300" dirty="0"/>
          </a:p>
        </p:txBody>
      </p:sp>
      <p:sp>
        <p:nvSpPr>
          <p:cNvPr id="26" name="Shape 24"/>
          <p:cNvSpPr/>
          <p:nvPr/>
        </p:nvSpPr>
        <p:spPr>
          <a:xfrm>
            <a:off x="9902952" y="3502152"/>
            <a:ext cx="1737360" cy="329184"/>
          </a:xfrm>
          <a:prstGeom prst="roundRect">
            <a:avLst>
              <a:gd name="adj" fmla="val 13889"/>
            </a:avLst>
          </a:prstGeom>
          <a:solidFill>
            <a:srgbClr val="D6E8E6"/>
          </a:solidFill>
          <a:ln w="12700">
            <a:solidFill>
              <a:srgbClr val="D6E8E6"/>
            </a:solidFill>
            <a:prstDash val="solid"/>
          </a:ln>
        </p:spPr>
      </p:sp>
      <p:sp>
        <p:nvSpPr>
          <p:cNvPr id="27" name="Text 25"/>
          <p:cNvSpPr txBox="1"/>
          <p:nvPr/>
        </p:nvSpPr>
        <p:spPr>
          <a:xfrm>
            <a:off x="9902952" y="3502152"/>
            <a:ext cx="1737360" cy="329184"/>
          </a:xfrm>
          <a:prstGeom prst="rect">
            <a:avLst/>
          </a:prstGeom>
          <a:noFill/>
          <a:ln/>
        </p:spPr>
        <p:txBody>
          <a:bodyPr wrap="square" lIns="0" tIns="0" rIns="0" bIns="0" rtlCol="0" anchor="ctr"/>
          <a:lstStyle/>
          <a:p>
            <a:pPr algn="ctr" indent="0" marL="0">
              <a:buNone/>
            </a:pPr>
            <a:r>
              <a:rPr lang="en-US" sz="1100" b="1" dirty="0">
                <a:solidFill>
                  <a:srgbClr val="1D6F6F"/>
                </a:solidFill>
              </a:rPr>
              <a:t>Review</a:t>
            </a:r>
            <a:endParaRPr lang="en-US" sz="1100" dirty="0"/>
          </a:p>
        </p:txBody>
      </p:sp>
      <p:sp>
        <p:nvSpPr>
          <p:cNvPr id="28" name="Shape 26"/>
          <p:cNvSpPr/>
          <p:nvPr/>
        </p:nvSpPr>
        <p:spPr>
          <a:xfrm>
            <a:off x="548640" y="4059936"/>
            <a:ext cx="420624" cy="420624"/>
          </a:xfrm>
          <a:prstGeom prst="roundRect">
            <a:avLst>
              <a:gd name="adj" fmla="val 13043"/>
            </a:avLst>
          </a:prstGeom>
          <a:solidFill>
            <a:srgbClr val="14213D"/>
          </a:solidFill>
          <a:ln w="12700">
            <a:solidFill>
              <a:srgbClr val="14213D"/>
            </a:solidFill>
            <a:prstDash val="solid"/>
          </a:ln>
        </p:spPr>
      </p:sp>
      <p:sp>
        <p:nvSpPr>
          <p:cNvPr id="29" name="Text 27"/>
          <p:cNvSpPr txBox="1"/>
          <p:nvPr/>
        </p:nvSpPr>
        <p:spPr>
          <a:xfrm>
            <a:off x="548640" y="4059936"/>
            <a:ext cx="420624" cy="420624"/>
          </a:xfrm>
          <a:prstGeom prst="rect">
            <a:avLst/>
          </a:prstGeom>
          <a:noFill/>
          <a:ln/>
        </p:spPr>
        <p:txBody>
          <a:bodyPr wrap="square" lIns="0" tIns="0" rIns="0" bIns="0" rtlCol="0" anchor="ctr"/>
          <a:lstStyle/>
          <a:p>
            <a:pPr algn="ctr" indent="0" marL="0">
              <a:buNone/>
            </a:pPr>
            <a:r>
              <a:rPr lang="en-US" sz="1400" b="1" dirty="0">
                <a:solidFill>
                  <a:srgbClr val="D9A441"/>
                </a:solidFill>
              </a:rPr>
              <a:t>5</a:t>
            </a:r>
            <a:endParaRPr lang="en-US" sz="1400" dirty="0"/>
          </a:p>
        </p:txBody>
      </p:sp>
      <p:sp>
        <p:nvSpPr>
          <p:cNvPr id="30" name="Text 28"/>
          <p:cNvSpPr txBox="1"/>
          <p:nvPr/>
        </p:nvSpPr>
        <p:spPr>
          <a:xfrm>
            <a:off x="1143000" y="4059936"/>
            <a:ext cx="3017520" cy="420624"/>
          </a:xfrm>
          <a:prstGeom prst="rect">
            <a:avLst/>
          </a:prstGeom>
          <a:noFill/>
          <a:ln/>
        </p:spPr>
        <p:txBody>
          <a:bodyPr wrap="square" lIns="0" tIns="0" rIns="0" bIns="0" rtlCol="0" anchor="ctr"/>
          <a:lstStyle/>
          <a:p>
            <a:pPr indent="0" marL="0">
              <a:buNone/>
            </a:pPr>
            <a:r>
              <a:rPr lang="en-US" sz="1400" b="1" dirty="0">
                <a:solidFill>
                  <a:srgbClr val="14213D"/>
                </a:solidFill>
              </a:rPr>
              <a:t>Human approval</a:t>
            </a:r>
            <a:endParaRPr lang="en-US" sz="1400" dirty="0"/>
          </a:p>
        </p:txBody>
      </p:sp>
      <p:sp>
        <p:nvSpPr>
          <p:cNvPr id="31" name="Text 29"/>
          <p:cNvSpPr txBox="1"/>
          <p:nvPr/>
        </p:nvSpPr>
        <p:spPr>
          <a:xfrm>
            <a:off x="4343400" y="4059936"/>
            <a:ext cx="5120640" cy="420624"/>
          </a:xfrm>
          <a:prstGeom prst="rect">
            <a:avLst/>
          </a:prstGeom>
          <a:noFill/>
          <a:ln/>
        </p:spPr>
        <p:txBody>
          <a:bodyPr wrap="square" lIns="0" tIns="0" rIns="0" bIns="0" rtlCol="0" anchor="ctr"/>
          <a:lstStyle/>
          <a:p>
            <a:pPr indent="0" marL="0">
              <a:buNone/>
            </a:pPr>
            <a:r>
              <a:rPr lang="en-US" sz="1300" dirty="0">
                <a:solidFill>
                  <a:srgbClr val="3D4757"/>
                </a:solidFill>
              </a:rPr>
              <a:t>Approve one; reject TOTAL with a note → escalated</a:t>
            </a:r>
            <a:endParaRPr lang="en-US" sz="1300" dirty="0"/>
          </a:p>
        </p:txBody>
      </p:sp>
      <p:sp>
        <p:nvSpPr>
          <p:cNvPr id="32" name="Shape 30"/>
          <p:cNvSpPr/>
          <p:nvPr/>
        </p:nvSpPr>
        <p:spPr>
          <a:xfrm>
            <a:off x="9902952" y="4105656"/>
            <a:ext cx="1737360" cy="329184"/>
          </a:xfrm>
          <a:prstGeom prst="roundRect">
            <a:avLst>
              <a:gd name="adj" fmla="val 13889"/>
            </a:avLst>
          </a:prstGeom>
          <a:solidFill>
            <a:srgbClr val="D6E8E6"/>
          </a:solidFill>
          <a:ln w="12700">
            <a:solidFill>
              <a:srgbClr val="D6E8E6"/>
            </a:solidFill>
            <a:prstDash val="solid"/>
          </a:ln>
        </p:spPr>
      </p:sp>
      <p:sp>
        <p:nvSpPr>
          <p:cNvPr id="33" name="Text 31"/>
          <p:cNvSpPr txBox="1"/>
          <p:nvPr/>
        </p:nvSpPr>
        <p:spPr>
          <a:xfrm>
            <a:off x="9902952" y="4105656"/>
            <a:ext cx="1737360" cy="329184"/>
          </a:xfrm>
          <a:prstGeom prst="rect">
            <a:avLst/>
          </a:prstGeom>
          <a:noFill/>
          <a:ln/>
        </p:spPr>
        <p:txBody>
          <a:bodyPr wrap="square" lIns="0" tIns="0" rIns="0" bIns="0" rtlCol="0" anchor="ctr"/>
          <a:lstStyle/>
          <a:p>
            <a:pPr algn="ctr" indent="0" marL="0">
              <a:buNone/>
            </a:pPr>
            <a:r>
              <a:rPr lang="en-US" sz="1100" b="1" dirty="0">
                <a:solidFill>
                  <a:srgbClr val="1D6F6F"/>
                </a:solidFill>
              </a:rPr>
              <a:t>Review</a:t>
            </a:r>
            <a:endParaRPr lang="en-US" sz="1100" dirty="0"/>
          </a:p>
        </p:txBody>
      </p:sp>
      <p:sp>
        <p:nvSpPr>
          <p:cNvPr id="34" name="Shape 32"/>
          <p:cNvSpPr/>
          <p:nvPr/>
        </p:nvSpPr>
        <p:spPr>
          <a:xfrm>
            <a:off x="548640" y="4663440"/>
            <a:ext cx="420624" cy="420624"/>
          </a:xfrm>
          <a:prstGeom prst="roundRect">
            <a:avLst>
              <a:gd name="adj" fmla="val 13043"/>
            </a:avLst>
          </a:prstGeom>
          <a:solidFill>
            <a:srgbClr val="14213D"/>
          </a:solidFill>
          <a:ln w="12700">
            <a:solidFill>
              <a:srgbClr val="14213D"/>
            </a:solidFill>
            <a:prstDash val="solid"/>
          </a:ln>
        </p:spPr>
      </p:sp>
      <p:sp>
        <p:nvSpPr>
          <p:cNvPr id="35" name="Text 33"/>
          <p:cNvSpPr txBox="1"/>
          <p:nvPr/>
        </p:nvSpPr>
        <p:spPr>
          <a:xfrm>
            <a:off x="548640" y="4663440"/>
            <a:ext cx="420624" cy="420624"/>
          </a:xfrm>
          <a:prstGeom prst="rect">
            <a:avLst/>
          </a:prstGeom>
          <a:noFill/>
          <a:ln/>
        </p:spPr>
        <p:txBody>
          <a:bodyPr wrap="square" lIns="0" tIns="0" rIns="0" bIns="0" rtlCol="0" anchor="ctr"/>
          <a:lstStyle/>
          <a:p>
            <a:pPr algn="ctr" indent="0" marL="0">
              <a:buNone/>
            </a:pPr>
            <a:r>
              <a:rPr lang="en-US" sz="1400" b="1" dirty="0">
                <a:solidFill>
                  <a:srgbClr val="D9A441"/>
                </a:solidFill>
              </a:rPr>
              <a:t>6</a:t>
            </a:r>
            <a:endParaRPr lang="en-US" sz="1400" dirty="0"/>
          </a:p>
        </p:txBody>
      </p:sp>
      <p:sp>
        <p:nvSpPr>
          <p:cNvPr id="36" name="Text 34"/>
          <p:cNvSpPr txBox="1"/>
          <p:nvPr/>
        </p:nvSpPr>
        <p:spPr>
          <a:xfrm>
            <a:off x="1143000" y="4663440"/>
            <a:ext cx="3017520" cy="420624"/>
          </a:xfrm>
          <a:prstGeom prst="rect">
            <a:avLst/>
          </a:prstGeom>
          <a:noFill/>
          <a:ln/>
        </p:spPr>
        <p:txBody>
          <a:bodyPr wrap="square" lIns="0" tIns="0" rIns="0" bIns="0" rtlCol="0" anchor="ctr"/>
          <a:lstStyle/>
          <a:p>
            <a:pPr indent="0" marL="0">
              <a:buNone/>
            </a:pPr>
            <a:r>
              <a:rPr lang="en-US" sz="1400" b="1" dirty="0">
                <a:solidFill>
                  <a:srgbClr val="14213D"/>
                </a:solidFill>
              </a:rPr>
              <a:t>Transformation &amp; audit</a:t>
            </a:r>
            <a:endParaRPr lang="en-US" sz="1400" dirty="0"/>
          </a:p>
        </p:txBody>
      </p:sp>
      <p:sp>
        <p:nvSpPr>
          <p:cNvPr id="37" name="Text 35"/>
          <p:cNvSpPr txBox="1"/>
          <p:nvPr/>
        </p:nvSpPr>
        <p:spPr>
          <a:xfrm>
            <a:off x="4343400" y="4663440"/>
            <a:ext cx="5120640" cy="420624"/>
          </a:xfrm>
          <a:prstGeom prst="rect">
            <a:avLst/>
          </a:prstGeom>
          <a:noFill/>
          <a:ln/>
        </p:spPr>
        <p:txBody>
          <a:bodyPr wrap="square" lIns="0" tIns="0" rIns="0" bIns="0" rtlCol="0" anchor="ctr"/>
          <a:lstStyle/>
          <a:p>
            <a:pPr indent="0" marL="0">
              <a:buNone/>
            </a:pPr>
            <a:r>
              <a:rPr lang="en-US" sz="1300" dirty="0">
                <a:solidFill>
                  <a:srgbClr val="3D4757"/>
                </a:solidFill>
              </a:rPr>
              <a:t>Apply; cleaned rows beside the audit trail</a:t>
            </a:r>
            <a:endParaRPr lang="en-US" sz="1300" dirty="0"/>
          </a:p>
        </p:txBody>
      </p:sp>
      <p:sp>
        <p:nvSpPr>
          <p:cNvPr id="38" name="Shape 36"/>
          <p:cNvSpPr/>
          <p:nvPr/>
        </p:nvSpPr>
        <p:spPr>
          <a:xfrm>
            <a:off x="9902952" y="4709160"/>
            <a:ext cx="1737360" cy="329184"/>
          </a:xfrm>
          <a:prstGeom prst="roundRect">
            <a:avLst>
              <a:gd name="adj" fmla="val 13889"/>
            </a:avLst>
          </a:prstGeom>
          <a:solidFill>
            <a:srgbClr val="D6E8E6"/>
          </a:solidFill>
          <a:ln w="12700">
            <a:solidFill>
              <a:srgbClr val="D6E8E6"/>
            </a:solidFill>
            <a:prstDash val="solid"/>
          </a:ln>
        </p:spPr>
      </p:sp>
      <p:sp>
        <p:nvSpPr>
          <p:cNvPr id="39" name="Text 37"/>
          <p:cNvSpPr txBox="1"/>
          <p:nvPr/>
        </p:nvSpPr>
        <p:spPr>
          <a:xfrm>
            <a:off x="9902952" y="4709160"/>
            <a:ext cx="1737360" cy="329184"/>
          </a:xfrm>
          <a:prstGeom prst="rect">
            <a:avLst/>
          </a:prstGeom>
          <a:noFill/>
          <a:ln/>
        </p:spPr>
        <p:txBody>
          <a:bodyPr wrap="square" lIns="0" tIns="0" rIns="0" bIns="0" rtlCol="0" anchor="ctr"/>
          <a:lstStyle/>
          <a:p>
            <a:pPr algn="ctr" indent="0" marL="0">
              <a:buNone/>
            </a:pPr>
            <a:r>
              <a:rPr lang="en-US" sz="1100" b="1" dirty="0">
                <a:solidFill>
                  <a:srgbClr val="1D6F6F"/>
                </a:solidFill>
              </a:rPr>
              <a:t>Final Output</a:t>
            </a:r>
            <a:endParaRPr lang="en-US" sz="1100" dirty="0"/>
          </a:p>
        </p:txBody>
      </p:sp>
      <p:sp>
        <p:nvSpPr>
          <p:cNvPr id="40" name="Shape 38"/>
          <p:cNvSpPr/>
          <p:nvPr/>
        </p:nvSpPr>
        <p:spPr>
          <a:xfrm>
            <a:off x="548640" y="5266944"/>
            <a:ext cx="420624" cy="420624"/>
          </a:xfrm>
          <a:prstGeom prst="roundRect">
            <a:avLst>
              <a:gd name="adj" fmla="val 13043"/>
            </a:avLst>
          </a:prstGeom>
          <a:solidFill>
            <a:srgbClr val="14213D"/>
          </a:solidFill>
          <a:ln w="12700">
            <a:solidFill>
              <a:srgbClr val="14213D"/>
            </a:solidFill>
            <a:prstDash val="solid"/>
          </a:ln>
        </p:spPr>
      </p:sp>
      <p:sp>
        <p:nvSpPr>
          <p:cNvPr id="41" name="Text 39"/>
          <p:cNvSpPr txBox="1"/>
          <p:nvPr/>
        </p:nvSpPr>
        <p:spPr>
          <a:xfrm>
            <a:off x="548640" y="5266944"/>
            <a:ext cx="420624" cy="420624"/>
          </a:xfrm>
          <a:prstGeom prst="rect">
            <a:avLst/>
          </a:prstGeom>
          <a:noFill/>
          <a:ln/>
        </p:spPr>
        <p:txBody>
          <a:bodyPr wrap="square" lIns="0" tIns="0" rIns="0" bIns="0" rtlCol="0" anchor="ctr"/>
          <a:lstStyle/>
          <a:p>
            <a:pPr algn="ctr" indent="0" marL="0">
              <a:buNone/>
            </a:pPr>
            <a:r>
              <a:rPr lang="en-US" sz="1400" b="1" dirty="0">
                <a:solidFill>
                  <a:srgbClr val="D9A441"/>
                </a:solidFill>
              </a:rPr>
              <a:t>7</a:t>
            </a:r>
            <a:endParaRPr lang="en-US" sz="1400" dirty="0"/>
          </a:p>
        </p:txBody>
      </p:sp>
      <p:sp>
        <p:nvSpPr>
          <p:cNvPr id="42" name="Text 40"/>
          <p:cNvSpPr txBox="1"/>
          <p:nvPr/>
        </p:nvSpPr>
        <p:spPr>
          <a:xfrm>
            <a:off x="1143000" y="5266944"/>
            <a:ext cx="3017520" cy="420624"/>
          </a:xfrm>
          <a:prstGeom prst="rect">
            <a:avLst/>
          </a:prstGeom>
          <a:noFill/>
          <a:ln/>
        </p:spPr>
        <p:txBody>
          <a:bodyPr wrap="square" lIns="0" tIns="0" rIns="0" bIns="0" rtlCol="0" anchor="ctr"/>
          <a:lstStyle/>
          <a:p>
            <a:pPr indent="0" marL="0">
              <a:buNone/>
            </a:pPr>
            <a:r>
              <a:rPr lang="en-US" sz="1400" b="1" dirty="0">
                <a:solidFill>
                  <a:srgbClr val="14213D"/>
                </a:solidFill>
              </a:rPr>
              <a:t>Download &amp; conformance</a:t>
            </a:r>
            <a:endParaRPr lang="en-US" sz="1400" dirty="0"/>
          </a:p>
        </p:txBody>
      </p:sp>
      <p:sp>
        <p:nvSpPr>
          <p:cNvPr id="43" name="Text 41"/>
          <p:cNvSpPr txBox="1"/>
          <p:nvPr/>
        </p:nvSpPr>
        <p:spPr>
          <a:xfrm>
            <a:off x="4343400" y="5266944"/>
            <a:ext cx="5120640" cy="420624"/>
          </a:xfrm>
          <a:prstGeom prst="rect">
            <a:avLst/>
          </a:prstGeom>
          <a:noFill/>
          <a:ln/>
        </p:spPr>
        <p:txBody>
          <a:bodyPr wrap="square" lIns="0" tIns="0" rIns="0" bIns="0" rtlCol="0" anchor="ctr"/>
          <a:lstStyle/>
          <a:p>
            <a:pPr indent="0" marL="0">
              <a:buNone/>
            </a:pPr>
            <a:r>
              <a:rPr lang="en-US" sz="1300" dirty="0">
                <a:solidFill>
                  <a:srgbClr val="3D4757"/>
                </a:solidFill>
              </a:rPr>
              <a:t>17 ✓ headers, types per field, 0 ✓ merged cells</a:t>
            </a:r>
            <a:endParaRPr lang="en-US" sz="1300" dirty="0"/>
          </a:p>
        </p:txBody>
      </p:sp>
      <p:sp>
        <p:nvSpPr>
          <p:cNvPr id="44" name="Shape 42"/>
          <p:cNvSpPr/>
          <p:nvPr/>
        </p:nvSpPr>
        <p:spPr>
          <a:xfrm>
            <a:off x="9902952" y="5312664"/>
            <a:ext cx="1737360" cy="329184"/>
          </a:xfrm>
          <a:prstGeom prst="roundRect">
            <a:avLst>
              <a:gd name="adj" fmla="val 13889"/>
            </a:avLst>
          </a:prstGeom>
          <a:solidFill>
            <a:srgbClr val="D6E8E6"/>
          </a:solidFill>
          <a:ln w="12700">
            <a:solidFill>
              <a:srgbClr val="D6E8E6"/>
            </a:solidFill>
            <a:prstDash val="solid"/>
          </a:ln>
        </p:spPr>
      </p:sp>
      <p:sp>
        <p:nvSpPr>
          <p:cNvPr id="45" name="Text 43"/>
          <p:cNvSpPr txBox="1"/>
          <p:nvPr/>
        </p:nvSpPr>
        <p:spPr>
          <a:xfrm>
            <a:off x="9902952" y="5312664"/>
            <a:ext cx="1737360" cy="329184"/>
          </a:xfrm>
          <a:prstGeom prst="rect">
            <a:avLst/>
          </a:prstGeom>
          <a:noFill/>
          <a:ln/>
        </p:spPr>
        <p:txBody>
          <a:bodyPr wrap="square" lIns="0" tIns="0" rIns="0" bIns="0" rtlCol="0" anchor="ctr"/>
          <a:lstStyle/>
          <a:p>
            <a:pPr algn="ctr" indent="0" marL="0">
              <a:buNone/>
            </a:pPr>
            <a:r>
              <a:rPr lang="en-US" sz="1100" b="1" dirty="0">
                <a:solidFill>
                  <a:srgbClr val="1D6F6F"/>
                </a:solidFill>
              </a:rPr>
              <a:t>Final Output</a:t>
            </a:r>
            <a:endParaRPr lang="en-US" sz="1100" dirty="0"/>
          </a:p>
        </p:txBody>
      </p:sp>
      <p:sp>
        <p:nvSpPr>
          <p:cNvPr id="46" name="Text 44"/>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200" dirty="0">
                <a:solidFill>
                  <a:srgbClr val="5A6472"/>
                </a:solidFill>
              </a:rPr>
              <a:t>Run sheet, commands and expected values: DEMO.md · deterministic mode for predictable timing</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15 · SECURITY &amp; DATA HANDLING</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Built for sensitive commercial data</a:t>
            </a:r>
            <a:endParaRPr lang="en-US" sz="3000" dirty="0"/>
          </a:p>
        </p:txBody>
      </p:sp>
      <p:sp>
        <p:nvSpPr>
          <p:cNvPr id="4" name="sec-0"/>
          <p:cNvSpPr/>
          <p:nvPr/>
        </p:nvSpPr>
        <p:spPr>
          <a:xfrm>
            <a:off x="548640" y="1691640"/>
            <a:ext cx="3566160" cy="3154680"/>
          </a:xfrm>
          <a:prstGeom prst="roundRect">
            <a:avLst>
              <a:gd name="adj" fmla="val 2319"/>
            </a:avLst>
          </a:prstGeom>
          <a:solidFill>
            <a:srgbClr val="FDFCF9"/>
          </a:solidFill>
          <a:ln w="9525">
            <a:solidFill>
              <a:srgbClr val="D8D3C6"/>
            </a:solidFill>
            <a:prstDash val="solid"/>
          </a:ln>
        </p:spPr>
      </p:sp>
      <p:sp>
        <p:nvSpPr>
          <p:cNvPr id="5" name="Shape 3"/>
          <p:cNvSpPr/>
          <p:nvPr/>
        </p:nvSpPr>
        <p:spPr>
          <a:xfrm>
            <a:off x="822960" y="1920240"/>
            <a:ext cx="512064" cy="512064"/>
          </a:xfrm>
          <a:prstGeom prst="ellipse">
            <a:avLst/>
          </a:prstGeom>
          <a:solidFill>
            <a:srgbClr val="D6E8E6"/>
          </a:solidFill>
          <a:ln w="12700">
            <a:solidFill>
              <a:srgbClr val="D6E8E6"/>
            </a:solidFill>
            <a:prstDash val="solid"/>
          </a:ln>
        </p:spPr>
      </p:sp>
      <p:pic>
        <p:nvPicPr>
          <p:cNvPr id="6" name="Image 0" descr="preencoded.png">    </p:cNvPr>
          <p:cNvPicPr>
            <a:picLocks noChangeAspect="1"/>
          </p:cNvPicPr>
          <p:nvPr/>
        </p:nvPicPr>
        <p:blipFill>
          <a:blip r:embed="rId1"/>
          <a:stretch>
            <a:fillRect/>
          </a:stretch>
        </p:blipFill>
        <p:spPr>
          <a:xfrm>
            <a:off x="945855" y="2043135"/>
            <a:ext cx="266273" cy="266273"/>
          </a:xfrm>
          <a:prstGeom prst="rect">
            <a:avLst/>
          </a:prstGeom>
        </p:spPr>
      </p:pic>
      <p:sp>
        <p:nvSpPr>
          <p:cNvPr id="7" name="Text 4"/>
          <p:cNvSpPr txBox="1"/>
          <p:nvPr/>
        </p:nvSpPr>
        <p:spPr>
          <a:xfrm>
            <a:off x="822960" y="2606040"/>
            <a:ext cx="3108960" cy="365760"/>
          </a:xfrm>
          <a:prstGeom prst="rect">
            <a:avLst/>
          </a:prstGeom>
          <a:noFill/>
          <a:ln/>
        </p:spPr>
        <p:txBody>
          <a:bodyPr wrap="square" lIns="0" tIns="0" rIns="0" bIns="0" rtlCol="0" anchor="t"/>
          <a:lstStyle/>
          <a:p>
            <a:pPr indent="0" marL="0">
              <a:buNone/>
            </a:pPr>
            <a:r>
              <a:rPr lang="en-US" sz="1600" b="1" dirty="0">
                <a:solidFill>
                  <a:srgbClr val="14213D"/>
                </a:solidFill>
              </a:rPr>
              <a:t>Where data goes</a:t>
            </a:r>
            <a:endParaRPr lang="en-US" sz="1600" dirty="0"/>
          </a:p>
        </p:txBody>
      </p:sp>
      <p:sp>
        <p:nvSpPr>
          <p:cNvPr id="8" name="Text 5"/>
          <p:cNvSpPr txBox="1"/>
          <p:nvPr/>
        </p:nvSpPr>
        <p:spPr>
          <a:xfrm>
            <a:off x="822960" y="3063240"/>
            <a:ext cx="306324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757"/>
                </a:solidFill>
              </a:rPr>
              <a:t>Runs fully local with LLM_PROVIDER=ollama and no cloud keys</a:t>
            </a:r>
            <a:endParaRPr lang="en-US" sz="1250" dirty="0"/>
          </a:p>
          <a:p>
            <a:pPr marL="342900" indent="-342900">
              <a:spcAft>
                <a:spcPts val="600"/>
              </a:spcAft>
              <a:buSzPct val="100000"/>
              <a:buChar char="•"/>
            </a:pPr>
            <a:r>
              <a:rPr lang="en-US" sz="1250" dirty="0">
                <a:solidFill>
                  <a:srgbClr val="3D4757"/>
                </a:solidFill>
              </a:rPr>
              <a:t>LLM_PROVIDER=none: no LLM calls at all</a:t>
            </a:r>
            <a:endParaRPr lang="en-US" sz="1250" dirty="0"/>
          </a:p>
          <a:p>
            <a:pPr marL="342900" indent="-342900">
              <a:spcAft>
                <a:spcPts val="600"/>
              </a:spcAft>
              <a:buSzPct val="100000"/>
              <a:buChar char="•"/>
            </a:pPr>
            <a:r>
              <a:rPr lang="en-US" sz="1250" dirty="0">
                <a:solidFill>
                  <a:srgbClr val="3D4757"/>
                </a:solidFill>
              </a:rPr>
              <a:t>Cloud fallback only when a key is configured</a:t>
            </a:r>
            <a:endParaRPr lang="en-US" sz="1250" dirty="0"/>
          </a:p>
        </p:txBody>
      </p:sp>
      <p:sp>
        <p:nvSpPr>
          <p:cNvPr id="9" name="sec-1"/>
          <p:cNvSpPr/>
          <p:nvPr/>
        </p:nvSpPr>
        <p:spPr>
          <a:xfrm>
            <a:off x="4297680" y="1691640"/>
            <a:ext cx="3566160" cy="3154680"/>
          </a:xfrm>
          <a:prstGeom prst="roundRect">
            <a:avLst>
              <a:gd name="adj" fmla="val 2319"/>
            </a:avLst>
          </a:prstGeom>
          <a:solidFill>
            <a:srgbClr val="FDFCF9"/>
          </a:solidFill>
          <a:ln w="9525">
            <a:solidFill>
              <a:srgbClr val="D8D3C6"/>
            </a:solidFill>
            <a:prstDash val="solid"/>
          </a:ln>
        </p:spPr>
      </p:sp>
      <p:sp>
        <p:nvSpPr>
          <p:cNvPr id="10" name="Shape 7"/>
          <p:cNvSpPr/>
          <p:nvPr/>
        </p:nvSpPr>
        <p:spPr>
          <a:xfrm>
            <a:off x="4572000" y="1920240"/>
            <a:ext cx="512064" cy="512064"/>
          </a:xfrm>
          <a:prstGeom prst="ellipse">
            <a:avLst/>
          </a:prstGeom>
          <a:solidFill>
            <a:srgbClr val="D6E8E6"/>
          </a:solidFill>
          <a:ln w="12700">
            <a:solidFill>
              <a:srgbClr val="D6E8E6"/>
            </a:solidFill>
            <a:prstDash val="solid"/>
          </a:ln>
        </p:spPr>
      </p:sp>
      <p:pic>
        <p:nvPicPr>
          <p:cNvPr id="11" name="Image 1" descr="preencoded.png">    </p:cNvPr>
          <p:cNvPicPr>
            <a:picLocks noChangeAspect="1"/>
          </p:cNvPicPr>
          <p:nvPr/>
        </p:nvPicPr>
        <p:blipFill>
          <a:blip r:embed="rId2"/>
          <a:stretch>
            <a:fillRect/>
          </a:stretch>
        </p:blipFill>
        <p:spPr>
          <a:xfrm>
            <a:off x="4694895" y="2043135"/>
            <a:ext cx="266273" cy="266273"/>
          </a:xfrm>
          <a:prstGeom prst="rect">
            <a:avLst/>
          </a:prstGeom>
        </p:spPr>
      </p:pic>
      <p:sp>
        <p:nvSpPr>
          <p:cNvPr id="12" name="Text 8"/>
          <p:cNvSpPr txBox="1"/>
          <p:nvPr/>
        </p:nvSpPr>
        <p:spPr>
          <a:xfrm>
            <a:off x="4572000" y="2606040"/>
            <a:ext cx="3108960" cy="365760"/>
          </a:xfrm>
          <a:prstGeom prst="rect">
            <a:avLst/>
          </a:prstGeom>
          <a:noFill/>
          <a:ln/>
        </p:spPr>
        <p:txBody>
          <a:bodyPr wrap="square" lIns="0" tIns="0" rIns="0" bIns="0" rtlCol="0" anchor="t"/>
          <a:lstStyle/>
          <a:p>
            <a:pPr indent="0" marL="0">
              <a:buNone/>
            </a:pPr>
            <a:r>
              <a:rPr lang="en-US" sz="1600" b="1" dirty="0">
                <a:solidFill>
                  <a:srgbClr val="14213D"/>
                </a:solidFill>
              </a:rPr>
              <a:t>What the LLM sees</a:t>
            </a:r>
            <a:endParaRPr lang="en-US" sz="1600" dirty="0"/>
          </a:p>
        </p:txBody>
      </p:sp>
      <p:sp>
        <p:nvSpPr>
          <p:cNvPr id="13" name="Text 9"/>
          <p:cNvSpPr txBox="1"/>
          <p:nvPr/>
        </p:nvSpPr>
        <p:spPr>
          <a:xfrm>
            <a:off x="4572000" y="3063240"/>
            <a:ext cx="306324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757"/>
                </a:solidFill>
              </a:rPr>
              <a:t>Headers, field definitions, counts</a:t>
            </a:r>
            <a:endParaRPr lang="en-US" sz="1250" dirty="0"/>
          </a:p>
          <a:p>
            <a:pPr marL="342900" indent="-342900">
              <a:spcAft>
                <a:spcPts val="600"/>
              </a:spcAft>
              <a:buSzPct val="100000"/>
              <a:buChar char="•"/>
            </a:pPr>
            <a:r>
              <a:rPr lang="en-US" sz="1250" dirty="0">
                <a:solidFill>
                  <a:srgbClr val="3D4757"/>
                </a:solidFill>
              </a:rPr>
              <a:t>Masked samples: digits → 9, e-mails removed, 32 characters max</a:t>
            </a:r>
            <a:endParaRPr lang="en-US" sz="1250" dirty="0"/>
          </a:p>
          <a:p>
            <a:pPr marL="342900" indent="-342900">
              <a:spcAft>
                <a:spcPts val="600"/>
              </a:spcAft>
              <a:buSzPct val="100000"/>
              <a:buChar char="•"/>
            </a:pPr>
            <a:r>
              <a:rPr lang="en-US" sz="1250" dirty="0">
                <a:solidFill>
                  <a:srgbClr val="3D4757"/>
                </a:solidFill>
              </a:rPr>
              <a:t>Never whole rows, never the workbook</a:t>
            </a:r>
            <a:endParaRPr lang="en-US" sz="1250" dirty="0"/>
          </a:p>
        </p:txBody>
      </p:sp>
      <p:sp>
        <p:nvSpPr>
          <p:cNvPr id="14" name="sec-2"/>
          <p:cNvSpPr/>
          <p:nvPr/>
        </p:nvSpPr>
        <p:spPr>
          <a:xfrm>
            <a:off x="8046720" y="1691640"/>
            <a:ext cx="3566160" cy="3154680"/>
          </a:xfrm>
          <a:prstGeom prst="roundRect">
            <a:avLst>
              <a:gd name="adj" fmla="val 2319"/>
            </a:avLst>
          </a:prstGeom>
          <a:solidFill>
            <a:srgbClr val="FDFCF9"/>
          </a:solidFill>
          <a:ln w="9525">
            <a:solidFill>
              <a:srgbClr val="D8D3C6"/>
            </a:solidFill>
            <a:prstDash val="solid"/>
          </a:ln>
        </p:spPr>
      </p:sp>
      <p:sp>
        <p:nvSpPr>
          <p:cNvPr id="15" name="Shape 11"/>
          <p:cNvSpPr/>
          <p:nvPr/>
        </p:nvSpPr>
        <p:spPr>
          <a:xfrm>
            <a:off x="8321040" y="1920240"/>
            <a:ext cx="512064" cy="512064"/>
          </a:xfrm>
          <a:prstGeom prst="ellipse">
            <a:avLst/>
          </a:prstGeom>
          <a:solidFill>
            <a:srgbClr val="D6E8E6"/>
          </a:solidFill>
          <a:ln w="12700">
            <a:solidFill>
              <a:srgbClr val="D6E8E6"/>
            </a:solidFill>
            <a:prstDash val="solid"/>
          </a:ln>
        </p:spPr>
      </p:sp>
      <p:pic>
        <p:nvPicPr>
          <p:cNvPr id="16" name="Image 2" descr="preencoded.png">    </p:cNvPr>
          <p:cNvPicPr>
            <a:picLocks noChangeAspect="1"/>
          </p:cNvPicPr>
          <p:nvPr/>
        </p:nvPicPr>
        <p:blipFill>
          <a:blip r:embed="rId3"/>
          <a:stretch>
            <a:fillRect/>
          </a:stretch>
        </p:blipFill>
        <p:spPr>
          <a:xfrm>
            <a:off x="8443935" y="2043135"/>
            <a:ext cx="266273" cy="266273"/>
          </a:xfrm>
          <a:prstGeom prst="rect">
            <a:avLst/>
          </a:prstGeom>
        </p:spPr>
      </p:pic>
      <p:sp>
        <p:nvSpPr>
          <p:cNvPr id="17" name="Text 12"/>
          <p:cNvSpPr txBox="1"/>
          <p:nvPr/>
        </p:nvSpPr>
        <p:spPr>
          <a:xfrm>
            <a:off x="8321040" y="2606040"/>
            <a:ext cx="3108960" cy="365760"/>
          </a:xfrm>
          <a:prstGeom prst="rect">
            <a:avLst/>
          </a:prstGeom>
          <a:noFill/>
          <a:ln/>
        </p:spPr>
        <p:txBody>
          <a:bodyPr wrap="square" lIns="0" tIns="0" rIns="0" bIns="0" rtlCol="0" anchor="t"/>
          <a:lstStyle/>
          <a:p>
            <a:pPr indent="0" marL="0">
              <a:buNone/>
            </a:pPr>
            <a:r>
              <a:rPr lang="en-US" sz="1600" b="1" dirty="0">
                <a:solidFill>
                  <a:srgbClr val="14213D"/>
                </a:solidFill>
              </a:rPr>
              <a:t>Control &amp; traceability</a:t>
            </a:r>
            <a:endParaRPr lang="en-US" sz="1600" dirty="0"/>
          </a:p>
        </p:txBody>
      </p:sp>
      <p:sp>
        <p:nvSpPr>
          <p:cNvPr id="18" name="Text 13"/>
          <p:cNvSpPr txBox="1"/>
          <p:nvPr/>
        </p:nvSpPr>
        <p:spPr>
          <a:xfrm>
            <a:off x="8321040" y="3063240"/>
            <a:ext cx="306324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D4757"/>
                </a:solidFill>
              </a:rPr>
              <a:t>API keys only in .env (git-ignored)</a:t>
            </a:r>
            <a:endParaRPr lang="en-US" sz="1250" dirty="0"/>
          </a:p>
          <a:p>
            <a:pPr marL="342900" indent="-342900">
              <a:spcAft>
                <a:spcPts val="600"/>
              </a:spcAft>
              <a:buSzPct val="100000"/>
              <a:buChar char="•"/>
            </a:pPr>
            <a:r>
              <a:rPr lang="en-US" sz="1250" dirty="0">
                <a:solidFill>
                  <a:srgbClr val="3D4757"/>
                </a:solidFill>
              </a:rPr>
              <a:t>Whitelist of 12 functions; nothing evaluated dynamically</a:t>
            </a:r>
            <a:endParaRPr lang="en-US" sz="1250" dirty="0"/>
          </a:p>
          <a:p>
            <a:pPr marL="342900" indent="-342900">
              <a:spcAft>
                <a:spcPts val="600"/>
              </a:spcAft>
              <a:buSzPct val="100000"/>
              <a:buChar char="•"/>
            </a:pPr>
            <a:r>
              <a:rPr lang="en-US" sz="1250" dirty="0">
                <a:solidFill>
                  <a:srgbClr val="3D4757"/>
                </a:solidFill>
              </a:rPr>
              <a:t>Audit_Log.xlsx for every approved change</a:t>
            </a:r>
            <a:endParaRPr lang="en-US" sz="1250" dirty="0"/>
          </a:p>
        </p:txBody>
      </p:sp>
      <p:sp>
        <p:nvSpPr>
          <p:cNvPr id="19" name="Text 14"/>
          <p:cNvSpPr txBox="1"/>
          <p:nvPr/>
        </p:nvSpPr>
        <p:spPr>
          <a:xfrm>
            <a:off x="548640" y="5120640"/>
            <a:ext cx="11094415" cy="457200"/>
          </a:xfrm>
          <a:prstGeom prst="rect">
            <a:avLst/>
          </a:prstGeom>
          <a:noFill/>
          <a:ln/>
        </p:spPr>
        <p:txBody>
          <a:bodyPr wrap="square" lIns="0" tIns="0" rIns="0" bIns="0" rtlCol="0" anchor="t"/>
          <a:lstStyle/>
          <a:p>
            <a:pPr indent="0" marL="0">
              <a:buNone/>
            </a:pPr>
            <a:r>
              <a:rPr lang="en-US" sz="1250" dirty="0">
                <a:solidFill>
                  <a:srgbClr val="5A6472"/>
                </a:solidFill>
              </a:rPr>
              <a:t>Matches the brief's redaction guide: the anonymised test files keep headers, values and structure, and our pipeline needs nothing more.</a:t>
            </a:r>
            <a:endParaRPr lang="en-US" sz="125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8A5A0B"/>
                </a:solidFill>
              </a:rPr>
              <a:t>16 · HONEST LIMITS &amp; NEXT STEPS</a:t>
            </a:r>
            <a:endParaRPr lang="en-US" sz="1200" dirty="0"/>
          </a:p>
        </p:txBody>
      </p:sp>
      <p:sp>
        <p:nvSpPr>
          <p:cNvPr id="3" name="Text 0"/>
          <p:cNvSpPr/>
          <p:nvPr>
            <p:ph idx="101" type="title" hasCustomPrompt="1"/>
          </p:nvPr>
        </p:nvSpPr>
        <p:spPr>
          <a:xfrm>
            <a:off x="548640" y="713232"/>
            <a:ext cx="11094415" cy="658368"/>
          </a:xfrm>
          <a:prstGeom prst="rect">
            <a:avLst/>
          </a:prstGeom>
          <a:noFill/>
          <a:ln/>
        </p:spPr>
        <p:txBody>
          <a:bodyPr wrap="square" lIns="0" tIns="0" rIns="0" bIns="0" rtlCol="0" anchor="t"/>
          <a:lstStyle/>
          <a:p>
            <a:pPr algn="l" indent="0" marL="0">
              <a:buNone/>
            </a:pPr>
            <a:r>
              <a:rPr lang="en-US" sz="3000" b="1" dirty="0">
                <a:solidFill>
                  <a:srgbClr val="14213D"/>
                </a:solidFill>
              </a:rPr>
              <a:t>What we would do next</a:t>
            </a:r>
            <a:endParaRPr lang="en-US" sz="3000" dirty="0"/>
          </a:p>
        </p:txBody>
      </p:sp>
      <p:sp>
        <p:nvSpPr>
          <p:cNvPr id="4" name="limits"/>
          <p:cNvSpPr/>
          <p:nvPr/>
        </p:nvSpPr>
        <p:spPr>
          <a:xfrm>
            <a:off x="548640" y="1691640"/>
            <a:ext cx="5394960" cy="3063240"/>
          </a:xfrm>
          <a:prstGeom prst="roundRect">
            <a:avLst>
              <a:gd name="adj" fmla="val 2388"/>
            </a:avLst>
          </a:prstGeom>
          <a:solidFill>
            <a:srgbClr val="FFFFFF"/>
          </a:solidFill>
          <a:ln w="9525">
            <a:solidFill>
              <a:srgbClr val="D8D3C6"/>
            </a:solidFill>
            <a:prstDash val="solid"/>
          </a:ln>
        </p:spPr>
      </p:sp>
      <p:sp>
        <p:nvSpPr>
          <p:cNvPr id="5" name="Shape 3"/>
          <p:cNvSpPr/>
          <p:nvPr/>
        </p:nvSpPr>
        <p:spPr>
          <a:xfrm>
            <a:off x="822960" y="1920240"/>
            <a:ext cx="457200" cy="457200"/>
          </a:xfrm>
          <a:prstGeom prst="ellipse">
            <a:avLst/>
          </a:prstGeom>
          <a:solidFill>
            <a:srgbClr val="D6E8E6"/>
          </a:solidFill>
          <a:ln w="12700">
            <a:solidFill>
              <a:srgbClr val="D6E8E6"/>
            </a:solidFill>
            <a:prstDash val="solid"/>
          </a:ln>
        </p:spPr>
      </p:sp>
      <p:pic>
        <p:nvPicPr>
          <p:cNvPr id="6" name="Image 0" descr="preencoded.png">    </p:cNvPr>
          <p:cNvPicPr>
            <a:picLocks noChangeAspect="1"/>
          </p:cNvPicPr>
          <p:nvPr/>
        </p:nvPicPr>
        <p:blipFill>
          <a:blip r:embed="rId1"/>
          <a:stretch>
            <a:fillRect/>
          </a:stretch>
        </p:blipFill>
        <p:spPr>
          <a:xfrm>
            <a:off x="932688" y="2029968"/>
            <a:ext cx="237744" cy="237744"/>
          </a:xfrm>
          <a:prstGeom prst="rect">
            <a:avLst/>
          </a:prstGeom>
        </p:spPr>
      </p:pic>
      <p:sp>
        <p:nvSpPr>
          <p:cNvPr id="7" name="Text 4"/>
          <p:cNvSpPr txBox="1"/>
          <p:nvPr/>
        </p:nvSpPr>
        <p:spPr>
          <a:xfrm>
            <a:off x="1417320" y="1938528"/>
            <a:ext cx="4206240" cy="411480"/>
          </a:xfrm>
          <a:prstGeom prst="rect">
            <a:avLst/>
          </a:prstGeom>
          <a:noFill/>
          <a:ln/>
        </p:spPr>
        <p:txBody>
          <a:bodyPr wrap="square" lIns="0" tIns="0" rIns="0" bIns="0" rtlCol="0" anchor="ctr"/>
          <a:lstStyle/>
          <a:p>
            <a:pPr indent="0" marL="0">
              <a:buNone/>
            </a:pPr>
            <a:r>
              <a:rPr lang="en-US" sz="1600" b="1" dirty="0">
                <a:solidFill>
                  <a:srgbClr val="14213D"/>
                </a:solidFill>
              </a:rPr>
              <a:t>Known limits</a:t>
            </a:r>
            <a:endParaRPr lang="en-US" sz="1600" dirty="0"/>
          </a:p>
        </p:txBody>
      </p:sp>
      <p:sp>
        <p:nvSpPr>
          <p:cNvPr id="8" name="Text 5"/>
          <p:cNvSpPr txBox="1"/>
          <p:nvPr/>
        </p:nvSpPr>
        <p:spPr>
          <a:xfrm>
            <a:off x="822960" y="2606040"/>
            <a:ext cx="48463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757"/>
                </a:solidFill>
              </a:rPr>
              <a:t>Masking keeps words, so a company name in a text cell can reach the LLM</a:t>
            </a:r>
            <a:endParaRPr lang="en-US" sz="1400" dirty="0"/>
          </a:p>
          <a:p>
            <a:pPr marL="342900" indent="-342900">
              <a:spcAft>
                <a:spcPts val="800"/>
              </a:spcAft>
              <a:buSzPct val="100000"/>
              <a:buChar char="•"/>
            </a:pPr>
            <a:r>
              <a:rPr lang="en-US" sz="1400" dirty="0">
                <a:solidFill>
                  <a:srgbClr val="3D4757"/>
                </a:solidFill>
              </a:rPr>
              <a:t>Merged multi-tab output has no “source sheet” marker (an 18th column would break the schema)</a:t>
            </a:r>
            <a:endParaRPr lang="en-US" sz="1400" dirty="0"/>
          </a:p>
          <a:p>
            <a:pPr marL="342900" indent="-342900">
              <a:spcAft>
                <a:spcPts val="800"/>
              </a:spcAft>
              <a:buSzPct val="100000"/>
              <a:buChar char="•"/>
            </a:pPr>
            <a:r>
              <a:rPr lang="en-US" sz="1400" dirty="0">
                <a:solidFill>
                  <a:srgbClr val="3D4757"/>
                </a:solidFill>
              </a:rPr>
              <a:t>Uploads are kept locally until cleared by the operator</a:t>
            </a:r>
            <a:endParaRPr lang="en-US" sz="1400" dirty="0"/>
          </a:p>
        </p:txBody>
      </p:sp>
      <p:sp>
        <p:nvSpPr>
          <p:cNvPr id="9" name="next"/>
          <p:cNvSpPr/>
          <p:nvPr/>
        </p:nvSpPr>
        <p:spPr>
          <a:xfrm>
            <a:off x="6245352" y="1691640"/>
            <a:ext cx="5394960" cy="3063240"/>
          </a:xfrm>
          <a:prstGeom prst="roundRect">
            <a:avLst>
              <a:gd name="adj" fmla="val 2388"/>
            </a:avLst>
          </a:prstGeom>
          <a:solidFill>
            <a:srgbClr val="FFFFFF"/>
          </a:solidFill>
          <a:ln w="9525">
            <a:solidFill>
              <a:srgbClr val="D8D3C6"/>
            </a:solidFill>
            <a:prstDash val="solid"/>
          </a:ln>
        </p:spPr>
      </p:sp>
      <p:sp>
        <p:nvSpPr>
          <p:cNvPr id="10" name="Shape 7"/>
          <p:cNvSpPr/>
          <p:nvPr/>
        </p:nvSpPr>
        <p:spPr>
          <a:xfrm>
            <a:off x="6519672" y="1920240"/>
            <a:ext cx="457200" cy="457200"/>
          </a:xfrm>
          <a:prstGeom prst="ellipse">
            <a:avLst/>
          </a:prstGeom>
          <a:solidFill>
            <a:srgbClr val="D6E8E6"/>
          </a:solidFill>
          <a:ln w="12700">
            <a:solidFill>
              <a:srgbClr val="D6E8E6"/>
            </a:solidFill>
            <a:prstDash val="solid"/>
          </a:ln>
        </p:spPr>
      </p:sp>
      <p:pic>
        <p:nvPicPr>
          <p:cNvPr id="11" name="Image 1" descr="preencoded.png">    </p:cNvPr>
          <p:cNvPicPr>
            <a:picLocks noChangeAspect="1"/>
          </p:cNvPicPr>
          <p:nvPr/>
        </p:nvPicPr>
        <p:blipFill>
          <a:blip r:embed="rId2"/>
          <a:stretch>
            <a:fillRect/>
          </a:stretch>
        </p:blipFill>
        <p:spPr>
          <a:xfrm>
            <a:off x="6629400" y="2029968"/>
            <a:ext cx="237744" cy="237744"/>
          </a:xfrm>
          <a:prstGeom prst="rect">
            <a:avLst/>
          </a:prstGeom>
        </p:spPr>
      </p:pic>
      <p:sp>
        <p:nvSpPr>
          <p:cNvPr id="12" name="Text 8"/>
          <p:cNvSpPr txBox="1"/>
          <p:nvPr/>
        </p:nvSpPr>
        <p:spPr>
          <a:xfrm>
            <a:off x="7114032" y="1938528"/>
            <a:ext cx="4206240" cy="411480"/>
          </a:xfrm>
          <a:prstGeom prst="rect">
            <a:avLst/>
          </a:prstGeom>
          <a:noFill/>
          <a:ln/>
        </p:spPr>
        <p:txBody>
          <a:bodyPr wrap="square" lIns="0" tIns="0" rIns="0" bIns="0" rtlCol="0" anchor="ctr"/>
          <a:lstStyle/>
          <a:p>
            <a:pPr indent="0" marL="0">
              <a:buNone/>
            </a:pPr>
            <a:r>
              <a:rPr lang="en-US" sz="1600" b="1" dirty="0">
                <a:solidFill>
                  <a:srgbClr val="14213D"/>
                </a:solidFill>
              </a:rPr>
              <a:t>Next steps</a:t>
            </a:r>
            <a:endParaRPr lang="en-US" sz="1600" dirty="0"/>
          </a:p>
        </p:txBody>
      </p:sp>
      <p:sp>
        <p:nvSpPr>
          <p:cNvPr id="13" name="Text 9"/>
          <p:cNvSpPr txBox="1"/>
          <p:nvPr/>
        </p:nvSpPr>
        <p:spPr>
          <a:xfrm>
            <a:off x="6519672" y="2606040"/>
            <a:ext cx="484632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D4757"/>
                </a:solidFill>
              </a:rPr>
              <a:t>Named-entity redaction before any cloud LLM call</a:t>
            </a:r>
            <a:endParaRPr lang="en-US" sz="1400" dirty="0"/>
          </a:p>
          <a:p>
            <a:pPr marL="342900" indent="-342900">
              <a:spcAft>
                <a:spcPts val="800"/>
              </a:spcAft>
              <a:buSzPct val="100000"/>
              <a:buChar char="•"/>
            </a:pPr>
            <a:r>
              <a:rPr lang="en-US" sz="1400" dirty="0">
                <a:solidFill>
                  <a:srgbClr val="3D4757"/>
                </a:solidFill>
              </a:rPr>
              <a:t>FastAPI service + queue workers for batch volumes</a:t>
            </a:r>
            <a:endParaRPr lang="en-US" sz="1400" dirty="0"/>
          </a:p>
          <a:p>
            <a:pPr marL="342900" indent="-342900">
              <a:spcAft>
                <a:spcPts val="800"/>
              </a:spcAft>
              <a:buSzPct val="100000"/>
              <a:buChar char="•"/>
            </a:pPr>
            <a:r>
              <a:rPr lang="en-US" sz="1400" dirty="0">
                <a:solidFill>
                  <a:srgbClr val="3D4757"/>
                </a:solidFill>
              </a:rPr>
              <a:t>pgvector memory partitioned per broker</a:t>
            </a:r>
            <a:endParaRPr lang="en-US" sz="1400" dirty="0"/>
          </a:p>
          <a:p>
            <a:pPr marL="342900" indent="-342900">
              <a:spcAft>
                <a:spcPts val="800"/>
              </a:spcAft>
              <a:buSzPct val="100000"/>
              <a:buChar char="•"/>
            </a:pPr>
            <a:r>
              <a:rPr lang="en-US" sz="1400" dirty="0">
                <a:solidFill>
                  <a:srgbClr val="3D4757"/>
                </a:solidFill>
              </a:rPr>
              <a:t>Source-sheet lineage in the audit log</a:t>
            </a:r>
            <a:endParaRPr lang="en-US" sz="1400" dirty="0"/>
          </a:p>
        </p:txBody>
      </p:sp>
      <p:sp>
        <p:nvSpPr>
          <p:cNvPr id="14" name="Shape 10"/>
          <p:cNvSpPr/>
          <p:nvPr/>
        </p:nvSpPr>
        <p:spPr>
          <a:xfrm>
            <a:off x="548640" y="5029200"/>
            <a:ext cx="11094415" cy="731520"/>
          </a:xfrm>
          <a:prstGeom prst="roundRect">
            <a:avLst>
              <a:gd name="adj" fmla="val 10000"/>
            </a:avLst>
          </a:prstGeom>
          <a:solidFill>
            <a:srgbClr val="D6E8E6"/>
          </a:solidFill>
          <a:ln w="12700">
            <a:solidFill>
              <a:srgbClr val="D6E8E6"/>
            </a:solidFill>
            <a:prstDash val="solid"/>
          </a:ln>
        </p:spPr>
      </p:sp>
      <p:sp>
        <p:nvSpPr>
          <p:cNvPr id="15" name="Text 11"/>
          <p:cNvSpPr txBox="1"/>
          <p:nvPr/>
        </p:nvSpPr>
        <p:spPr>
          <a:xfrm>
            <a:off x="822960" y="5029200"/>
            <a:ext cx="10545775" cy="731520"/>
          </a:xfrm>
          <a:prstGeom prst="rect">
            <a:avLst/>
          </a:prstGeom>
          <a:noFill/>
          <a:ln/>
        </p:spPr>
        <p:txBody>
          <a:bodyPr wrap="square" lIns="0" tIns="0" rIns="0" bIns="0" rtlCol="0" anchor="ctr"/>
          <a:lstStyle/>
          <a:p>
            <a:pPr indent="0" marL="0">
              <a:buNone/>
            </a:pPr>
            <a:r>
              <a:rPr lang="en-US" sz="1400" b="1" dirty="0">
                <a:solidFill>
                  <a:srgbClr val="1D6F6F"/>
                </a:solidFill>
              </a:rPr>
              <a:t>None of these limits touches C-01 to C-07: every change is still approved, explained, audited and conformant.</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10896"/>
          </a:xfrm>
          <a:prstGeom prst="rect">
            <a:avLst/>
          </a:prstGeom>
          <a:noFill/>
          <a:ln/>
        </p:spPr>
        <p:txBody>
          <a:bodyPr wrap="square" lIns="0" tIns="0" rIns="0" bIns="0" rtlCol="0" anchor="ctr"/>
          <a:lstStyle/>
          <a:p>
            <a:pPr indent="0" marL="0">
              <a:buNone/>
            </a:pPr>
            <a:r>
              <a:rPr lang="en-US" sz="1200" b="1" spc="200" kern="0" dirty="0">
                <a:solidFill>
                  <a:srgbClr val="D9A441"/>
                </a:solidFill>
              </a:rPr>
              <a:t>THANK YOU · QUESTIONS</a:t>
            </a:r>
            <a:endParaRPr lang="en-US" sz="1200" dirty="0"/>
          </a:p>
        </p:txBody>
      </p:sp>
      <p:sp>
        <p:nvSpPr>
          <p:cNvPr id="3" name="Text 0"/>
          <p:cNvSpPr/>
          <p:nvPr>
            <p:ph idx="101" type="title" hasCustomPrompt="1"/>
          </p:nvPr>
        </p:nvSpPr>
        <p:spPr>
          <a:xfrm>
            <a:off x="548640" y="1371600"/>
            <a:ext cx="6949440" cy="1920240"/>
          </a:xfrm>
          <a:prstGeom prst="rect">
            <a:avLst/>
          </a:prstGeom>
          <a:noFill/>
          <a:ln/>
        </p:spPr>
        <p:txBody>
          <a:bodyPr wrap="square" lIns="0" tIns="0" rIns="0" bIns="0" rtlCol="0" anchor="t"/>
          <a:lstStyle/>
          <a:p>
            <a:pPr algn="l" indent="0" marL="0">
              <a:buNone/>
            </a:pPr>
            <a:r>
              <a:rPr lang="en-US" sz="3200" b="1" dirty="0">
                <a:solidFill>
                  <a:srgbClr val="FFFFFF"/>
                </a:solidFill>
              </a:rPr>
              <a:t>AI </a:t>
            </a:r>
            <a:pPr algn="l" indent="0" marL="0">
              <a:buNone/>
            </a:pPr>
            <a:r>
              <a:rPr lang="en-US" sz="3200" b="1" dirty="0">
                <a:solidFill>
                  <a:srgbClr val="D9A441"/>
                </a:solidFill>
              </a:rPr>
              <a:t>proposes. </a:t>
            </a:r>
            <a:pPr algn="l" indent="0" marL="0">
              <a:buNone/>
            </a:pPr>
            <a:r>
              <a:rPr lang="en-US" sz="3200" b="1" dirty="0">
                <a:solidFill>
                  <a:srgbClr val="FFFFFF"/>
                </a:solidFill>
              </a:rPr>
              <a:t>Code </a:t>
            </a:r>
            <a:pPr algn="l" indent="0" marL="0">
              <a:buNone/>
            </a:pPr>
            <a:r>
              <a:rPr lang="en-US" sz="3200" b="1" dirty="0">
                <a:solidFill>
                  <a:srgbClr val="D9A441"/>
                </a:solidFill>
              </a:rPr>
              <a:t>verifies.</a:t>
            </a:r>
            <a:endParaRPr lang="en-US" sz="4400" dirty="0"/>
          </a:p>
          <a:p>
            <a:pPr algn="l" indent="0" marL="0">
              <a:buNone/>
            </a:pPr>
            <a:r>
              <a:rPr lang="en-US" sz="3200" b="1" dirty="0">
                <a:solidFill>
                  <a:srgbClr val="FFFFFF"/>
                </a:solidFill>
              </a:rPr>
              <a:t>Humans </a:t>
            </a:r>
            <a:pPr algn="l" indent="0" marL="0">
              <a:buNone/>
            </a:pPr>
            <a:r>
              <a:rPr lang="en-US" sz="3200" b="1" dirty="0">
                <a:solidFill>
                  <a:srgbClr val="D9A441"/>
                </a:solidFill>
              </a:rPr>
              <a:t>approve. </a:t>
            </a:r>
            <a:endParaRPr lang="en-US" sz="4400" dirty="0"/>
          </a:p>
          <a:p>
            <a:pPr algn="l" indent="0" marL="0">
              <a:buNone/>
            </a:pPr>
            <a:r>
              <a:rPr lang="en-US" sz="3200" b="1" dirty="0">
                <a:solidFill>
                  <a:srgbClr val="FFFFFF"/>
                </a:solidFill>
              </a:rPr>
              <a:t>Everything is </a:t>
            </a:r>
            <a:pPr algn="l" indent="0" marL="0">
              <a:buNone/>
            </a:pPr>
            <a:r>
              <a:rPr lang="en-US" sz="3200" b="1" dirty="0">
                <a:solidFill>
                  <a:srgbClr val="D9A441"/>
                </a:solidFill>
              </a:rPr>
              <a:t>audited.</a:t>
            </a:r>
            <a:endParaRPr lang="en-US" sz="4400" dirty="0"/>
          </a:p>
        </p:txBody>
      </p:sp>
      <p:sp>
        <p:nvSpPr>
          <p:cNvPr id="4" name="Text 2"/>
          <p:cNvSpPr txBox="1"/>
          <p:nvPr/>
        </p:nvSpPr>
        <p:spPr>
          <a:xfrm>
            <a:off x="548640" y="4206240"/>
            <a:ext cx="2560320" cy="256032"/>
          </a:xfrm>
          <a:prstGeom prst="rect">
            <a:avLst/>
          </a:prstGeom>
          <a:noFill/>
          <a:ln/>
        </p:spPr>
        <p:txBody>
          <a:bodyPr wrap="square" lIns="0" tIns="0" rIns="0" bIns="0" rtlCol="0" anchor="t"/>
          <a:lstStyle/>
          <a:p>
            <a:pPr indent="0" marL="0">
              <a:buNone/>
            </a:pPr>
            <a:r>
              <a:rPr lang="en-US" sz="1100" b="1" spc="100" kern="0" dirty="0">
                <a:solidFill>
                  <a:srgbClr val="D9A441"/>
                </a:solidFill>
              </a:rPr>
              <a:t>RUN THE DEMO</a:t>
            </a:r>
            <a:endParaRPr lang="en-US" sz="1100" dirty="0"/>
          </a:p>
        </p:txBody>
      </p:sp>
      <p:sp>
        <p:nvSpPr>
          <p:cNvPr id="5" name="Text 3"/>
          <p:cNvSpPr txBox="1"/>
          <p:nvPr/>
        </p:nvSpPr>
        <p:spPr>
          <a:xfrm>
            <a:off x="548640" y="4480560"/>
            <a:ext cx="2651760" cy="347472"/>
          </a:xfrm>
          <a:prstGeom prst="rect">
            <a:avLst/>
          </a:prstGeom>
          <a:noFill/>
          <a:ln/>
        </p:spPr>
        <p:txBody>
          <a:bodyPr wrap="square" lIns="0" tIns="0" rIns="0" bIns="0" rtlCol="0" anchor="t"/>
          <a:lstStyle/>
          <a:p>
            <a:pPr indent="0" marL="0">
              <a:buNone/>
            </a:pPr>
            <a:r>
              <a:rPr lang="en-US" sz="1600" b="1" dirty="0">
                <a:solidFill>
                  <a:srgbClr val="FFFFFF"/>
                </a:solidFill>
              </a:rPr>
              <a:t>DEMO.md</a:t>
            </a:r>
            <a:endParaRPr lang="en-US" sz="1600" dirty="0"/>
          </a:p>
        </p:txBody>
      </p:sp>
      <p:sp>
        <p:nvSpPr>
          <p:cNvPr id="6" name="Text 4"/>
          <p:cNvSpPr txBox="1"/>
          <p:nvPr/>
        </p:nvSpPr>
        <p:spPr>
          <a:xfrm>
            <a:off x="3291840" y="4206240"/>
            <a:ext cx="2560320" cy="256032"/>
          </a:xfrm>
          <a:prstGeom prst="rect">
            <a:avLst/>
          </a:prstGeom>
          <a:noFill/>
          <a:ln/>
        </p:spPr>
        <p:txBody>
          <a:bodyPr wrap="square" lIns="0" tIns="0" rIns="0" bIns="0" rtlCol="0" anchor="t"/>
          <a:lstStyle/>
          <a:p>
            <a:pPr indent="0" marL="0">
              <a:buNone/>
            </a:pPr>
            <a:r>
              <a:rPr lang="en-US" sz="1100" b="1" spc="100" kern="0" dirty="0">
                <a:solidFill>
                  <a:srgbClr val="D9A441"/>
                </a:solidFill>
              </a:rPr>
              <a:t>DESIGN</a:t>
            </a:r>
            <a:endParaRPr lang="en-US" sz="1100" dirty="0"/>
          </a:p>
        </p:txBody>
      </p:sp>
      <p:sp>
        <p:nvSpPr>
          <p:cNvPr id="7" name="Text 5"/>
          <p:cNvSpPr txBox="1"/>
          <p:nvPr/>
        </p:nvSpPr>
        <p:spPr>
          <a:xfrm>
            <a:off x="3291840" y="4480560"/>
            <a:ext cx="2651760" cy="347472"/>
          </a:xfrm>
          <a:prstGeom prst="rect">
            <a:avLst/>
          </a:prstGeom>
          <a:noFill/>
          <a:ln/>
        </p:spPr>
        <p:txBody>
          <a:bodyPr wrap="square" lIns="0" tIns="0" rIns="0" bIns="0" rtlCol="0" anchor="t"/>
          <a:lstStyle/>
          <a:p>
            <a:pPr indent="0" marL="0">
              <a:buNone/>
            </a:pPr>
            <a:r>
              <a:rPr lang="en-US" sz="1600" b="1" dirty="0">
                <a:solidFill>
                  <a:srgbClr val="FFFFFF"/>
                </a:solidFill>
              </a:rPr>
              <a:t>hld.md · lld.md</a:t>
            </a:r>
            <a:endParaRPr lang="en-US" sz="1600" dirty="0"/>
          </a:p>
        </p:txBody>
      </p:sp>
      <p:sp>
        <p:nvSpPr>
          <p:cNvPr id="8" name="Text 6"/>
          <p:cNvSpPr txBox="1"/>
          <p:nvPr/>
        </p:nvSpPr>
        <p:spPr>
          <a:xfrm>
            <a:off x="6035040" y="4206240"/>
            <a:ext cx="2560320" cy="256032"/>
          </a:xfrm>
          <a:prstGeom prst="rect">
            <a:avLst/>
          </a:prstGeom>
          <a:noFill/>
          <a:ln/>
        </p:spPr>
        <p:txBody>
          <a:bodyPr wrap="square" lIns="0" tIns="0" rIns="0" bIns="0" rtlCol="0" anchor="t"/>
          <a:lstStyle/>
          <a:p>
            <a:pPr indent="0" marL="0">
              <a:buNone/>
            </a:pPr>
            <a:r>
              <a:rPr lang="en-US" sz="1100" b="1" spc="100" kern="0" dirty="0">
                <a:solidFill>
                  <a:srgbClr val="D9A441"/>
                </a:solidFill>
              </a:rPr>
              <a:t>DEEP DIVES</a:t>
            </a:r>
            <a:endParaRPr lang="en-US" sz="1100" dirty="0"/>
          </a:p>
        </p:txBody>
      </p:sp>
      <p:sp>
        <p:nvSpPr>
          <p:cNvPr id="9" name="Text 7"/>
          <p:cNvSpPr txBox="1"/>
          <p:nvPr/>
        </p:nvSpPr>
        <p:spPr>
          <a:xfrm>
            <a:off x="6035040" y="4480560"/>
            <a:ext cx="2651760" cy="347472"/>
          </a:xfrm>
          <a:prstGeom prst="rect">
            <a:avLst/>
          </a:prstGeom>
          <a:noFill/>
          <a:ln/>
        </p:spPr>
        <p:txBody>
          <a:bodyPr wrap="square" lIns="0" tIns="0" rIns="0" bIns="0" rtlCol="0" anchor="t"/>
          <a:lstStyle/>
          <a:p>
            <a:pPr indent="0" marL="0">
              <a:buNone/>
            </a:pPr>
            <a:r>
              <a:rPr lang="en-US" sz="1600" b="1" dirty="0">
                <a:solidFill>
                  <a:srgbClr val="FFFFFF"/>
                </a:solidFill>
              </a:rPr>
              <a:t>guide.html · algo.html</a:t>
            </a:r>
            <a:endParaRPr lang="en-US" sz="1600" dirty="0"/>
          </a:p>
        </p:txBody>
      </p:sp>
      <p:sp>
        <p:nvSpPr>
          <p:cNvPr id="10" name="Text 8"/>
          <p:cNvSpPr txBox="1"/>
          <p:nvPr/>
        </p:nvSpPr>
        <p:spPr>
          <a:xfrm>
            <a:off x="548640" y="5760720"/>
            <a:ext cx="7315200" cy="320040"/>
          </a:xfrm>
          <a:prstGeom prst="rect">
            <a:avLst/>
          </a:prstGeom>
          <a:noFill/>
          <a:ln/>
        </p:spPr>
        <p:txBody>
          <a:bodyPr wrap="square" lIns="0" tIns="0" rIns="0" bIns="0" rtlCol="0" anchor="t"/>
          <a:lstStyle/>
          <a:p>
            <a:pPr indent="0" marL="0">
              <a:buNone/>
            </a:pPr>
            <a:r>
              <a:rPr lang="en-US" sz="1200" dirty="0">
                <a:solidFill>
                  <a:srgbClr val="C9D3E0"/>
                </a:solidFill>
              </a:rPr>
              <a:t>Cache Me If You Can · Dishan Sarkar · Akhand Awasthi · BIT Mesra</a:t>
            </a:r>
            <a:endParaRPr lang="en-US" sz="1200" dirty="0"/>
          </a:p>
        </p:txBody>
      </p:sp>
      <p:sp>
        <p:nvSpPr>
          <p:cNvPr id="11" name="grid-0-0"/>
          <p:cNvSpPr/>
          <p:nvPr/>
        </p:nvSpPr>
        <p:spPr>
          <a:xfrm>
            <a:off x="8366760" y="1417320"/>
            <a:ext cx="457200" cy="457200"/>
          </a:xfrm>
          <a:prstGeom prst="roundRect">
            <a:avLst>
              <a:gd name="adj" fmla="val 10000"/>
            </a:avLst>
          </a:prstGeom>
          <a:solidFill>
            <a:srgbClr val="D9A441"/>
          </a:solidFill>
          <a:ln w="12700">
            <a:solidFill>
              <a:srgbClr val="D9A441"/>
            </a:solidFill>
            <a:prstDash val="solid"/>
          </a:ln>
        </p:spPr>
      </p:sp>
      <p:sp>
        <p:nvSpPr>
          <p:cNvPr id="12" name="grid-0-1"/>
          <p:cNvSpPr/>
          <p:nvPr/>
        </p:nvSpPr>
        <p:spPr>
          <a:xfrm>
            <a:off x="8933688" y="1417320"/>
            <a:ext cx="457200" cy="457200"/>
          </a:xfrm>
          <a:prstGeom prst="roundRect">
            <a:avLst>
              <a:gd name="adj" fmla="val 10000"/>
            </a:avLst>
          </a:prstGeom>
          <a:solidFill>
            <a:srgbClr val="D9A441"/>
          </a:solidFill>
          <a:ln w="12700">
            <a:solidFill>
              <a:srgbClr val="D9A441"/>
            </a:solidFill>
            <a:prstDash val="solid"/>
          </a:ln>
        </p:spPr>
      </p:sp>
      <p:sp>
        <p:nvSpPr>
          <p:cNvPr id="13" name="grid-0-2"/>
          <p:cNvSpPr/>
          <p:nvPr/>
        </p:nvSpPr>
        <p:spPr>
          <a:xfrm>
            <a:off x="9500616" y="1417320"/>
            <a:ext cx="457200" cy="457200"/>
          </a:xfrm>
          <a:prstGeom prst="roundRect">
            <a:avLst>
              <a:gd name="adj" fmla="val 10000"/>
            </a:avLst>
          </a:prstGeom>
          <a:solidFill>
            <a:srgbClr val="D9A441"/>
          </a:solidFill>
          <a:ln w="12700">
            <a:solidFill>
              <a:srgbClr val="D9A441"/>
            </a:solidFill>
            <a:prstDash val="solid"/>
          </a:ln>
        </p:spPr>
      </p:sp>
      <p:sp>
        <p:nvSpPr>
          <p:cNvPr id="14" name="grid-0-3"/>
          <p:cNvSpPr/>
          <p:nvPr/>
        </p:nvSpPr>
        <p:spPr>
          <a:xfrm>
            <a:off x="10067544" y="1417320"/>
            <a:ext cx="457200" cy="457200"/>
          </a:xfrm>
          <a:prstGeom prst="roundRect">
            <a:avLst>
              <a:gd name="adj" fmla="val 10000"/>
            </a:avLst>
          </a:prstGeom>
          <a:solidFill>
            <a:srgbClr val="D9A441"/>
          </a:solidFill>
          <a:ln w="12700">
            <a:solidFill>
              <a:srgbClr val="D9A441"/>
            </a:solidFill>
            <a:prstDash val="solid"/>
          </a:ln>
        </p:spPr>
      </p:sp>
      <p:sp>
        <p:nvSpPr>
          <p:cNvPr id="15" name="grid-0-4"/>
          <p:cNvSpPr/>
          <p:nvPr/>
        </p:nvSpPr>
        <p:spPr>
          <a:xfrm>
            <a:off x="10634472" y="1417320"/>
            <a:ext cx="457200" cy="457200"/>
          </a:xfrm>
          <a:prstGeom prst="roundRect">
            <a:avLst>
              <a:gd name="adj" fmla="val 10000"/>
            </a:avLst>
          </a:prstGeom>
          <a:solidFill>
            <a:srgbClr val="D9A441"/>
          </a:solidFill>
          <a:ln w="12700">
            <a:solidFill>
              <a:srgbClr val="D9A441"/>
            </a:solidFill>
            <a:prstDash val="solid"/>
          </a:ln>
        </p:spPr>
      </p:sp>
      <p:sp>
        <p:nvSpPr>
          <p:cNvPr id="16" name="grid-0-5"/>
          <p:cNvSpPr/>
          <p:nvPr/>
        </p:nvSpPr>
        <p:spPr>
          <a:xfrm>
            <a:off x="11201400" y="1417320"/>
            <a:ext cx="457200" cy="457200"/>
          </a:xfrm>
          <a:prstGeom prst="roundRect">
            <a:avLst>
              <a:gd name="adj" fmla="val 10000"/>
            </a:avLst>
          </a:prstGeom>
          <a:solidFill>
            <a:srgbClr val="D9A441"/>
          </a:solidFill>
          <a:ln w="12700">
            <a:solidFill>
              <a:srgbClr val="D9A441"/>
            </a:solidFill>
            <a:prstDash val="solid"/>
          </a:ln>
        </p:spPr>
      </p:sp>
      <p:sp>
        <p:nvSpPr>
          <p:cNvPr id="17" name="grid-1-0"/>
          <p:cNvSpPr/>
          <p:nvPr/>
        </p:nvSpPr>
        <p:spPr>
          <a:xfrm>
            <a:off x="8366760" y="1984248"/>
            <a:ext cx="457200" cy="457200"/>
          </a:xfrm>
          <a:prstGeom prst="roundRect">
            <a:avLst>
              <a:gd name="adj" fmla="val 10000"/>
            </a:avLst>
          </a:prstGeom>
          <a:solidFill>
            <a:srgbClr val="6FB3AB"/>
          </a:solidFill>
          <a:ln w="12700">
            <a:solidFill>
              <a:srgbClr val="6FB3AB"/>
            </a:solidFill>
            <a:prstDash val="solid"/>
          </a:ln>
        </p:spPr>
      </p:sp>
      <p:sp>
        <p:nvSpPr>
          <p:cNvPr id="18" name="grid-1-1"/>
          <p:cNvSpPr/>
          <p:nvPr/>
        </p:nvSpPr>
        <p:spPr>
          <a:xfrm>
            <a:off x="8933688" y="1984248"/>
            <a:ext cx="457200" cy="457200"/>
          </a:xfrm>
          <a:prstGeom prst="roundRect">
            <a:avLst>
              <a:gd name="adj" fmla="val 10000"/>
            </a:avLst>
          </a:prstGeom>
          <a:solidFill>
            <a:srgbClr val="4E9A93"/>
          </a:solidFill>
          <a:ln w="12700">
            <a:solidFill>
              <a:srgbClr val="4E9A93"/>
            </a:solidFill>
            <a:prstDash val="solid"/>
          </a:ln>
        </p:spPr>
      </p:sp>
      <p:sp>
        <p:nvSpPr>
          <p:cNvPr id="19" name="grid-1-2"/>
          <p:cNvSpPr/>
          <p:nvPr/>
        </p:nvSpPr>
        <p:spPr>
          <a:xfrm>
            <a:off x="9500616" y="1984248"/>
            <a:ext cx="457200" cy="457200"/>
          </a:xfrm>
          <a:prstGeom prst="roundRect">
            <a:avLst>
              <a:gd name="adj" fmla="val 10000"/>
            </a:avLst>
          </a:prstGeom>
          <a:solidFill>
            <a:srgbClr val="D3D9E3"/>
          </a:solidFill>
          <a:ln w="12700">
            <a:solidFill>
              <a:srgbClr val="D3D9E3"/>
            </a:solidFill>
            <a:prstDash val="solid"/>
          </a:ln>
        </p:spPr>
      </p:sp>
      <p:sp>
        <p:nvSpPr>
          <p:cNvPr id="20" name="grid-1-3"/>
          <p:cNvSpPr/>
          <p:nvPr/>
        </p:nvSpPr>
        <p:spPr>
          <a:xfrm>
            <a:off x="10067544" y="1984248"/>
            <a:ext cx="457200" cy="457200"/>
          </a:xfrm>
          <a:prstGeom prst="roundRect">
            <a:avLst>
              <a:gd name="adj" fmla="val 10000"/>
            </a:avLst>
          </a:prstGeom>
          <a:solidFill>
            <a:srgbClr val="6FB3AB"/>
          </a:solidFill>
          <a:ln w="12700">
            <a:solidFill>
              <a:srgbClr val="6FB3AB"/>
            </a:solidFill>
            <a:prstDash val="solid"/>
          </a:ln>
        </p:spPr>
      </p:sp>
      <p:sp>
        <p:nvSpPr>
          <p:cNvPr id="21" name="grid-1-4"/>
          <p:cNvSpPr/>
          <p:nvPr/>
        </p:nvSpPr>
        <p:spPr>
          <a:xfrm>
            <a:off x="10634472" y="1984248"/>
            <a:ext cx="457200" cy="457200"/>
          </a:xfrm>
          <a:prstGeom prst="roundRect">
            <a:avLst>
              <a:gd name="adj" fmla="val 10000"/>
            </a:avLst>
          </a:prstGeom>
          <a:solidFill>
            <a:srgbClr val="4E9A93"/>
          </a:solidFill>
          <a:ln w="12700">
            <a:solidFill>
              <a:srgbClr val="4E9A93"/>
            </a:solidFill>
            <a:prstDash val="solid"/>
          </a:ln>
        </p:spPr>
      </p:sp>
      <p:sp>
        <p:nvSpPr>
          <p:cNvPr id="22" name="grid-1-5"/>
          <p:cNvSpPr/>
          <p:nvPr/>
        </p:nvSpPr>
        <p:spPr>
          <a:xfrm>
            <a:off x="11201400" y="1984248"/>
            <a:ext cx="457200" cy="457200"/>
          </a:xfrm>
          <a:prstGeom prst="roundRect">
            <a:avLst>
              <a:gd name="adj" fmla="val 10000"/>
            </a:avLst>
          </a:prstGeom>
          <a:solidFill>
            <a:srgbClr val="D3D9E3"/>
          </a:solidFill>
          <a:ln w="12700">
            <a:solidFill>
              <a:srgbClr val="D3D9E3"/>
            </a:solidFill>
            <a:prstDash val="solid"/>
          </a:ln>
        </p:spPr>
      </p:sp>
      <p:sp>
        <p:nvSpPr>
          <p:cNvPr id="23" name="grid-2-0"/>
          <p:cNvSpPr/>
          <p:nvPr/>
        </p:nvSpPr>
        <p:spPr>
          <a:xfrm>
            <a:off x="8366760" y="2551176"/>
            <a:ext cx="457200" cy="457200"/>
          </a:xfrm>
          <a:prstGeom prst="roundRect">
            <a:avLst>
              <a:gd name="adj" fmla="val 10000"/>
            </a:avLst>
          </a:prstGeom>
          <a:solidFill>
            <a:srgbClr val="6FB3AB"/>
          </a:solidFill>
          <a:ln w="12700">
            <a:solidFill>
              <a:srgbClr val="6FB3AB"/>
            </a:solidFill>
            <a:prstDash val="solid"/>
          </a:ln>
        </p:spPr>
      </p:sp>
      <p:sp>
        <p:nvSpPr>
          <p:cNvPr id="24" name="grid-2-1"/>
          <p:cNvSpPr/>
          <p:nvPr/>
        </p:nvSpPr>
        <p:spPr>
          <a:xfrm>
            <a:off x="8933688" y="2551176"/>
            <a:ext cx="457200" cy="457200"/>
          </a:xfrm>
          <a:prstGeom prst="roundRect">
            <a:avLst>
              <a:gd name="adj" fmla="val 10000"/>
            </a:avLst>
          </a:prstGeom>
          <a:solidFill>
            <a:srgbClr val="4E9A93"/>
          </a:solidFill>
          <a:ln w="12700">
            <a:solidFill>
              <a:srgbClr val="4E9A93"/>
            </a:solidFill>
            <a:prstDash val="solid"/>
          </a:ln>
        </p:spPr>
      </p:sp>
      <p:sp>
        <p:nvSpPr>
          <p:cNvPr id="25" name="grid-2-2"/>
          <p:cNvSpPr/>
          <p:nvPr/>
        </p:nvSpPr>
        <p:spPr>
          <a:xfrm>
            <a:off x="9500616" y="2551176"/>
            <a:ext cx="457200" cy="457200"/>
          </a:xfrm>
          <a:prstGeom prst="roundRect">
            <a:avLst>
              <a:gd name="adj" fmla="val 10000"/>
            </a:avLst>
          </a:prstGeom>
          <a:solidFill>
            <a:srgbClr val="D3D9E3"/>
          </a:solidFill>
          <a:ln w="12700">
            <a:solidFill>
              <a:srgbClr val="D3D9E3"/>
            </a:solidFill>
            <a:prstDash val="solid"/>
          </a:ln>
        </p:spPr>
      </p:sp>
      <p:sp>
        <p:nvSpPr>
          <p:cNvPr id="26" name="grid-2-3"/>
          <p:cNvSpPr/>
          <p:nvPr/>
        </p:nvSpPr>
        <p:spPr>
          <a:xfrm>
            <a:off x="10067544" y="2551176"/>
            <a:ext cx="457200" cy="457200"/>
          </a:xfrm>
          <a:prstGeom prst="roundRect">
            <a:avLst>
              <a:gd name="adj" fmla="val 10000"/>
            </a:avLst>
          </a:prstGeom>
          <a:solidFill>
            <a:srgbClr val="6FB3AB"/>
          </a:solidFill>
          <a:ln w="12700">
            <a:solidFill>
              <a:srgbClr val="6FB3AB"/>
            </a:solidFill>
            <a:prstDash val="solid"/>
          </a:ln>
        </p:spPr>
      </p:sp>
      <p:sp>
        <p:nvSpPr>
          <p:cNvPr id="27" name="grid-2-4"/>
          <p:cNvSpPr/>
          <p:nvPr/>
        </p:nvSpPr>
        <p:spPr>
          <a:xfrm>
            <a:off x="10634472" y="2551176"/>
            <a:ext cx="457200" cy="457200"/>
          </a:xfrm>
          <a:prstGeom prst="roundRect">
            <a:avLst>
              <a:gd name="adj" fmla="val 10000"/>
            </a:avLst>
          </a:prstGeom>
          <a:solidFill>
            <a:srgbClr val="4E9A93"/>
          </a:solidFill>
          <a:ln w="12700">
            <a:solidFill>
              <a:srgbClr val="4E9A93"/>
            </a:solidFill>
            <a:prstDash val="solid"/>
          </a:ln>
        </p:spPr>
      </p:sp>
      <p:sp>
        <p:nvSpPr>
          <p:cNvPr id="28" name="grid-2-5"/>
          <p:cNvSpPr/>
          <p:nvPr/>
        </p:nvSpPr>
        <p:spPr>
          <a:xfrm>
            <a:off x="11201400" y="2551176"/>
            <a:ext cx="457200" cy="457200"/>
          </a:xfrm>
          <a:prstGeom prst="roundRect">
            <a:avLst>
              <a:gd name="adj" fmla="val 10000"/>
            </a:avLst>
          </a:prstGeom>
          <a:solidFill>
            <a:srgbClr val="D3D9E3"/>
          </a:solidFill>
          <a:ln w="12700">
            <a:solidFill>
              <a:srgbClr val="D3D9E3"/>
            </a:solidFill>
            <a:prstDash val="solid"/>
          </a:ln>
        </p:spPr>
      </p:sp>
      <p:sp>
        <p:nvSpPr>
          <p:cNvPr id="29" name="grid-3-0"/>
          <p:cNvSpPr/>
          <p:nvPr/>
        </p:nvSpPr>
        <p:spPr>
          <a:xfrm>
            <a:off x="8366760" y="3118104"/>
            <a:ext cx="457200" cy="457200"/>
          </a:xfrm>
          <a:prstGeom prst="roundRect">
            <a:avLst>
              <a:gd name="adj" fmla="val 10000"/>
            </a:avLst>
          </a:prstGeom>
          <a:solidFill>
            <a:srgbClr val="6FB3AB"/>
          </a:solidFill>
          <a:ln w="12700">
            <a:solidFill>
              <a:srgbClr val="6FB3AB"/>
            </a:solidFill>
            <a:prstDash val="solid"/>
          </a:ln>
        </p:spPr>
      </p:sp>
      <p:sp>
        <p:nvSpPr>
          <p:cNvPr id="30" name="grid-3-1"/>
          <p:cNvSpPr/>
          <p:nvPr/>
        </p:nvSpPr>
        <p:spPr>
          <a:xfrm>
            <a:off x="8933688" y="3118104"/>
            <a:ext cx="457200" cy="457200"/>
          </a:xfrm>
          <a:prstGeom prst="roundRect">
            <a:avLst>
              <a:gd name="adj" fmla="val 10000"/>
            </a:avLst>
          </a:prstGeom>
          <a:solidFill>
            <a:srgbClr val="4E9A93"/>
          </a:solidFill>
          <a:ln w="12700">
            <a:solidFill>
              <a:srgbClr val="4E9A93"/>
            </a:solidFill>
            <a:prstDash val="solid"/>
          </a:ln>
        </p:spPr>
      </p:sp>
      <p:sp>
        <p:nvSpPr>
          <p:cNvPr id="31" name="grid-3-2"/>
          <p:cNvSpPr/>
          <p:nvPr/>
        </p:nvSpPr>
        <p:spPr>
          <a:xfrm>
            <a:off x="9500616" y="3118104"/>
            <a:ext cx="457200" cy="457200"/>
          </a:xfrm>
          <a:prstGeom prst="roundRect">
            <a:avLst>
              <a:gd name="adj" fmla="val 10000"/>
            </a:avLst>
          </a:prstGeom>
          <a:solidFill>
            <a:srgbClr val="D3D9E3"/>
          </a:solidFill>
          <a:ln w="12700">
            <a:solidFill>
              <a:srgbClr val="D3D9E3"/>
            </a:solidFill>
            <a:prstDash val="solid"/>
          </a:ln>
        </p:spPr>
      </p:sp>
      <p:sp>
        <p:nvSpPr>
          <p:cNvPr id="32" name="grid-3-3"/>
          <p:cNvSpPr/>
          <p:nvPr/>
        </p:nvSpPr>
        <p:spPr>
          <a:xfrm>
            <a:off x="10067544" y="3118104"/>
            <a:ext cx="457200" cy="457200"/>
          </a:xfrm>
          <a:prstGeom prst="roundRect">
            <a:avLst>
              <a:gd name="adj" fmla="val 10000"/>
            </a:avLst>
          </a:prstGeom>
          <a:solidFill>
            <a:srgbClr val="6FB3AB"/>
          </a:solidFill>
          <a:ln w="12700">
            <a:solidFill>
              <a:srgbClr val="6FB3AB"/>
            </a:solidFill>
            <a:prstDash val="solid"/>
          </a:ln>
        </p:spPr>
      </p:sp>
      <p:sp>
        <p:nvSpPr>
          <p:cNvPr id="33" name="grid-3-4"/>
          <p:cNvSpPr/>
          <p:nvPr/>
        </p:nvSpPr>
        <p:spPr>
          <a:xfrm>
            <a:off x="10634472" y="3118104"/>
            <a:ext cx="457200" cy="457200"/>
          </a:xfrm>
          <a:prstGeom prst="roundRect">
            <a:avLst>
              <a:gd name="adj" fmla="val 10000"/>
            </a:avLst>
          </a:prstGeom>
          <a:solidFill>
            <a:srgbClr val="4E9A93"/>
          </a:solidFill>
          <a:ln w="12700">
            <a:solidFill>
              <a:srgbClr val="4E9A93"/>
            </a:solidFill>
            <a:prstDash val="solid"/>
          </a:ln>
        </p:spPr>
      </p:sp>
      <p:sp>
        <p:nvSpPr>
          <p:cNvPr id="34" name="grid-3-5"/>
          <p:cNvSpPr/>
          <p:nvPr/>
        </p:nvSpPr>
        <p:spPr>
          <a:xfrm>
            <a:off x="11201400" y="3118104"/>
            <a:ext cx="457200" cy="457200"/>
          </a:xfrm>
          <a:prstGeom prst="roundRect">
            <a:avLst>
              <a:gd name="adj" fmla="val 10000"/>
            </a:avLst>
          </a:prstGeom>
          <a:solidFill>
            <a:srgbClr val="D3D9E3"/>
          </a:solidFill>
          <a:ln w="12700">
            <a:solidFill>
              <a:srgbClr val="D3D9E3"/>
            </a:solidFill>
            <a:prstDash val="solid"/>
          </a:ln>
        </p:spPr>
      </p:sp>
      <p:sp>
        <p:nvSpPr>
          <p:cNvPr id="35" name="grid-4-0"/>
          <p:cNvSpPr/>
          <p:nvPr/>
        </p:nvSpPr>
        <p:spPr>
          <a:xfrm>
            <a:off x="8366760" y="3685032"/>
            <a:ext cx="457200" cy="457200"/>
          </a:xfrm>
          <a:prstGeom prst="roundRect">
            <a:avLst>
              <a:gd name="adj" fmla="val 10000"/>
            </a:avLst>
          </a:prstGeom>
          <a:solidFill>
            <a:srgbClr val="6FB3AB"/>
          </a:solidFill>
          <a:ln w="12700">
            <a:solidFill>
              <a:srgbClr val="6FB3AB"/>
            </a:solidFill>
            <a:prstDash val="solid"/>
          </a:ln>
        </p:spPr>
      </p:sp>
      <p:sp>
        <p:nvSpPr>
          <p:cNvPr id="36" name="grid-4-1"/>
          <p:cNvSpPr/>
          <p:nvPr/>
        </p:nvSpPr>
        <p:spPr>
          <a:xfrm>
            <a:off x="8933688" y="3685032"/>
            <a:ext cx="457200" cy="457200"/>
          </a:xfrm>
          <a:prstGeom prst="roundRect">
            <a:avLst>
              <a:gd name="adj" fmla="val 10000"/>
            </a:avLst>
          </a:prstGeom>
          <a:solidFill>
            <a:srgbClr val="4E9A93"/>
          </a:solidFill>
          <a:ln w="12700">
            <a:solidFill>
              <a:srgbClr val="4E9A93"/>
            </a:solidFill>
            <a:prstDash val="solid"/>
          </a:ln>
        </p:spPr>
      </p:sp>
      <p:sp>
        <p:nvSpPr>
          <p:cNvPr id="37" name="grid-4-2"/>
          <p:cNvSpPr/>
          <p:nvPr/>
        </p:nvSpPr>
        <p:spPr>
          <a:xfrm>
            <a:off x="9500616" y="3685032"/>
            <a:ext cx="457200" cy="457200"/>
          </a:xfrm>
          <a:prstGeom prst="roundRect">
            <a:avLst>
              <a:gd name="adj" fmla="val 10000"/>
            </a:avLst>
          </a:prstGeom>
          <a:solidFill>
            <a:srgbClr val="D3D9E3"/>
          </a:solidFill>
          <a:ln w="12700">
            <a:solidFill>
              <a:srgbClr val="D3D9E3"/>
            </a:solidFill>
            <a:prstDash val="solid"/>
          </a:ln>
        </p:spPr>
      </p:sp>
      <p:sp>
        <p:nvSpPr>
          <p:cNvPr id="38" name="grid-4-3"/>
          <p:cNvSpPr/>
          <p:nvPr/>
        </p:nvSpPr>
        <p:spPr>
          <a:xfrm>
            <a:off x="10067544" y="3685032"/>
            <a:ext cx="457200" cy="457200"/>
          </a:xfrm>
          <a:prstGeom prst="roundRect">
            <a:avLst>
              <a:gd name="adj" fmla="val 10000"/>
            </a:avLst>
          </a:prstGeom>
          <a:solidFill>
            <a:srgbClr val="6FB3AB"/>
          </a:solidFill>
          <a:ln w="12700">
            <a:solidFill>
              <a:srgbClr val="6FB3AB"/>
            </a:solidFill>
            <a:prstDash val="solid"/>
          </a:ln>
        </p:spPr>
      </p:sp>
      <p:sp>
        <p:nvSpPr>
          <p:cNvPr id="39" name="grid-4-4"/>
          <p:cNvSpPr/>
          <p:nvPr/>
        </p:nvSpPr>
        <p:spPr>
          <a:xfrm>
            <a:off x="10634472" y="3685032"/>
            <a:ext cx="457200" cy="457200"/>
          </a:xfrm>
          <a:prstGeom prst="roundRect">
            <a:avLst>
              <a:gd name="adj" fmla="val 10000"/>
            </a:avLst>
          </a:prstGeom>
          <a:solidFill>
            <a:srgbClr val="4E9A93"/>
          </a:solidFill>
          <a:ln w="12700">
            <a:solidFill>
              <a:srgbClr val="4E9A93"/>
            </a:solidFill>
            <a:prstDash val="solid"/>
          </a:ln>
        </p:spPr>
      </p:sp>
      <p:sp>
        <p:nvSpPr>
          <p:cNvPr id="40" name="grid-4-5"/>
          <p:cNvSpPr/>
          <p:nvPr/>
        </p:nvSpPr>
        <p:spPr>
          <a:xfrm>
            <a:off x="11201400" y="3685032"/>
            <a:ext cx="457200" cy="457200"/>
          </a:xfrm>
          <a:prstGeom prst="roundRect">
            <a:avLst>
              <a:gd name="adj" fmla="val 10000"/>
            </a:avLst>
          </a:prstGeom>
          <a:solidFill>
            <a:srgbClr val="D3D9E3"/>
          </a:solidFill>
          <a:ln w="12700">
            <a:solidFill>
              <a:srgbClr val="D3D9E3"/>
            </a:solidFill>
            <a:prstDash val="solid"/>
          </a:ln>
        </p:spPr>
      </p:sp>
      <p:sp>
        <p:nvSpPr>
          <p:cNvPr id="41" name="grid-5-0"/>
          <p:cNvSpPr/>
          <p:nvPr/>
        </p:nvSpPr>
        <p:spPr>
          <a:xfrm>
            <a:off x="8366760" y="4251960"/>
            <a:ext cx="457200" cy="457200"/>
          </a:xfrm>
          <a:prstGeom prst="roundRect">
            <a:avLst>
              <a:gd name="adj" fmla="val 10000"/>
            </a:avLst>
          </a:prstGeom>
          <a:solidFill>
            <a:srgbClr val="6FB3AB"/>
          </a:solidFill>
          <a:ln w="12700">
            <a:solidFill>
              <a:srgbClr val="6FB3AB"/>
            </a:solidFill>
            <a:prstDash val="solid"/>
          </a:ln>
        </p:spPr>
      </p:sp>
      <p:sp>
        <p:nvSpPr>
          <p:cNvPr id="42" name="grid-5-1"/>
          <p:cNvSpPr/>
          <p:nvPr/>
        </p:nvSpPr>
        <p:spPr>
          <a:xfrm>
            <a:off x="8933688" y="4251960"/>
            <a:ext cx="457200" cy="457200"/>
          </a:xfrm>
          <a:prstGeom prst="roundRect">
            <a:avLst>
              <a:gd name="adj" fmla="val 10000"/>
            </a:avLst>
          </a:prstGeom>
          <a:solidFill>
            <a:srgbClr val="4E9A93"/>
          </a:solidFill>
          <a:ln w="12700">
            <a:solidFill>
              <a:srgbClr val="4E9A93"/>
            </a:solidFill>
            <a:prstDash val="solid"/>
          </a:ln>
        </p:spPr>
      </p:sp>
      <p:sp>
        <p:nvSpPr>
          <p:cNvPr id="43" name="grid-5-2"/>
          <p:cNvSpPr/>
          <p:nvPr/>
        </p:nvSpPr>
        <p:spPr>
          <a:xfrm>
            <a:off x="9500616" y="4251960"/>
            <a:ext cx="457200" cy="457200"/>
          </a:xfrm>
          <a:prstGeom prst="roundRect">
            <a:avLst>
              <a:gd name="adj" fmla="val 10000"/>
            </a:avLst>
          </a:prstGeom>
          <a:solidFill>
            <a:srgbClr val="D3D9E3"/>
          </a:solidFill>
          <a:ln w="12700">
            <a:solidFill>
              <a:srgbClr val="D3D9E3"/>
            </a:solidFill>
            <a:prstDash val="solid"/>
          </a:ln>
        </p:spPr>
      </p:sp>
      <p:sp>
        <p:nvSpPr>
          <p:cNvPr id="44" name="grid-5-3"/>
          <p:cNvSpPr/>
          <p:nvPr/>
        </p:nvSpPr>
        <p:spPr>
          <a:xfrm>
            <a:off x="10067544" y="4251960"/>
            <a:ext cx="457200" cy="457200"/>
          </a:xfrm>
          <a:prstGeom prst="roundRect">
            <a:avLst>
              <a:gd name="adj" fmla="val 10000"/>
            </a:avLst>
          </a:prstGeom>
          <a:solidFill>
            <a:srgbClr val="6FB3AB"/>
          </a:solidFill>
          <a:ln w="12700">
            <a:solidFill>
              <a:srgbClr val="6FB3AB"/>
            </a:solidFill>
            <a:prstDash val="solid"/>
          </a:ln>
        </p:spPr>
      </p:sp>
      <p:sp>
        <p:nvSpPr>
          <p:cNvPr id="45" name="grid-5-4"/>
          <p:cNvSpPr/>
          <p:nvPr/>
        </p:nvSpPr>
        <p:spPr>
          <a:xfrm>
            <a:off x="10634472" y="4251960"/>
            <a:ext cx="457200" cy="457200"/>
          </a:xfrm>
          <a:prstGeom prst="roundRect">
            <a:avLst>
              <a:gd name="adj" fmla="val 10000"/>
            </a:avLst>
          </a:prstGeom>
          <a:solidFill>
            <a:srgbClr val="4E9A93"/>
          </a:solidFill>
          <a:ln w="12700">
            <a:solidFill>
              <a:srgbClr val="4E9A93"/>
            </a:solidFill>
            <a:prstDash val="solid"/>
          </a:ln>
        </p:spPr>
      </p:sp>
      <p:sp>
        <p:nvSpPr>
          <p:cNvPr id="46" name="grid-5-5"/>
          <p:cNvSpPr/>
          <p:nvPr/>
        </p:nvSpPr>
        <p:spPr>
          <a:xfrm>
            <a:off x="11201400" y="4251960"/>
            <a:ext cx="457200" cy="457200"/>
          </a:xfrm>
          <a:prstGeom prst="roundRect">
            <a:avLst>
              <a:gd name="adj" fmla="val 10000"/>
            </a:avLst>
          </a:prstGeom>
          <a:solidFill>
            <a:srgbClr val="D3D9E3"/>
          </a:solidFill>
          <a:ln w="12700">
            <a:solidFill>
              <a:srgbClr val="D3D9E3"/>
            </a:solidFill>
            <a:prstDash val="solid"/>
          </a:ln>
        </p:spPr>
      </p:sp>
    </p:spTree>
  </p:cSld>
  <p:clrMapOvr>
    <a:masterClrMapping/>
  </p:clrMapOvr>
</p:sld>
</file>

<file path=ppt/theme/theme1.xml><?xml version="1.0" encoding="utf-8"?>
<a:theme xmlns:a="http://schemas.openxmlformats.org/drawingml/2006/main" name="Cache Me If You Can">
  <a:themeElements>
    <a:clrScheme name="Cache Me If You Can">
      <a:dk1>
        <a:srgbClr val="14213D"/>
      </a:dk1>
      <a:lt1>
        <a:srgbClr val="FFFFFF"/>
      </a:lt1>
      <a:dk2>
        <a:srgbClr val="3D4757"/>
      </a:dk2>
      <a:lt2>
        <a:srgbClr val="EFEDE6"/>
      </a:lt2>
      <a:accent1>
        <a:srgbClr val="1D6F6F"/>
      </a:accent1>
      <a:accent2>
        <a:srgbClr val="D9A441"/>
      </a:accent2>
      <a:accent3>
        <a:srgbClr val="1F3157"/>
      </a:accent3>
      <a:accent4>
        <a:srgbClr val="8A5A0B"/>
      </a:accent4>
      <a:accent5>
        <a:srgbClr val="C9D3E0"/>
      </a:accent5>
      <a:accent6>
        <a:srgbClr val="A33A2B"/>
      </a:accent6>
      <a:hlink>
        <a:srgbClr val="1D6F6F"/>
      </a:hlink>
      <a:folHlink>
        <a:srgbClr val="8A5A0B"/>
      </a:folHlink>
    </a:clrScheme>
    <a:fontScheme name="Cache Me If You Ca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BIT Mesra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SOV Intelligence System: Final Presentation</dc:title>
  <dc:subject>PptxGenJS Presentation</dc:subject>
  <dc:creator>Cache Me If You Can</dc:creator>
  <cp:lastModifiedBy>Cache Me If You Can</cp:lastModifiedBy>
  <cp:revision>1</cp:revision>
  <dcterms:created xsi:type="dcterms:W3CDTF">2026-10-03T16:33:18Z</dcterms:created>
  <dcterms:modified xsi:type="dcterms:W3CDTF">2026-10-03T16:33:18Z</dcterms:modified>
</cp:coreProperties>
</file>